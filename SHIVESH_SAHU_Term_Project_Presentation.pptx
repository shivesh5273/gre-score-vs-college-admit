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9" r:id="rId6"/>
    <p:sldId id="261" r:id="rId7"/>
    <p:sldId id="271" r:id="rId8"/>
    <p:sldId id="272" r:id="rId9"/>
    <p:sldId id="260" r:id="rId10"/>
    <p:sldId id="262" r:id="rId11"/>
    <p:sldId id="265" r:id="rId12"/>
    <p:sldId id="263" r:id="rId13"/>
    <p:sldId id="264" r:id="rId14"/>
    <p:sldId id="273" r:id="rId15"/>
    <p:sldId id="266"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37"/>
    <p:restoredTop sz="96327"/>
  </p:normalViewPr>
  <p:slideViewPr>
    <p:cSldViewPr snapToGrid="0">
      <p:cViewPr varScale="1">
        <p:scale>
          <a:sx n="128" d="100"/>
          <a:sy n="128" d="100"/>
        </p:scale>
        <p:origin x="176"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_rels/data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1.svg"/><Relationship Id="rId3" Type="http://schemas.openxmlformats.org/officeDocument/2006/relationships/image" Target="../media/image6.png"/><Relationship Id="rId7" Type="http://schemas.openxmlformats.org/officeDocument/2006/relationships/image" Target="../media/image10.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svg"/><Relationship Id="rId1" Type="http://schemas.openxmlformats.org/officeDocument/2006/relationships/image" Target="../media/image12.png"/><Relationship Id="rId4" Type="http://schemas.openxmlformats.org/officeDocument/2006/relationships/image" Target="../media/image15.svg"/></Relationships>
</file>

<file path=ppt/diagrams/colors1.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bg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BB172E0-9BE4-4018-AAB0-39B68A0E5BA1}"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a:bodyPr/>
        <a:lstStyle/>
        <a:p>
          <a:endParaRPr lang="en-US"/>
        </a:p>
      </dgm:t>
    </dgm:pt>
    <dgm:pt modelId="{BC03F360-D5BB-4032-B794-37B394E37E1D}">
      <dgm:prSet/>
      <dgm:spPr/>
      <dgm:t>
        <a:bodyPr/>
        <a:lstStyle/>
        <a:p>
          <a:r>
            <a:rPr lang="en-US"/>
            <a:t>In the competitive world of graduate school admissions, many universities use a variety of factors to assess the potential of a student to succeed in their program. </a:t>
          </a:r>
        </a:p>
      </dgm:t>
    </dgm:pt>
    <dgm:pt modelId="{7D62EE6A-3F25-41BA-917D-6D4E89D44E8F}" type="parTrans" cxnId="{3F06F75E-4205-4AFC-A873-B5F8C4C2C53E}">
      <dgm:prSet/>
      <dgm:spPr/>
      <dgm:t>
        <a:bodyPr/>
        <a:lstStyle/>
        <a:p>
          <a:endParaRPr lang="en-US"/>
        </a:p>
      </dgm:t>
    </dgm:pt>
    <dgm:pt modelId="{528EA792-BC4A-4858-B214-2EDDF6E82284}" type="sibTrans" cxnId="{3F06F75E-4205-4AFC-A873-B5F8C4C2C53E}">
      <dgm:prSet/>
      <dgm:spPr/>
      <dgm:t>
        <a:bodyPr/>
        <a:lstStyle/>
        <a:p>
          <a:endParaRPr lang="en-US"/>
        </a:p>
      </dgm:t>
    </dgm:pt>
    <dgm:pt modelId="{9F67D28F-4F8A-4B51-BCA7-52B4B8848DF0}">
      <dgm:prSet/>
      <dgm:spPr/>
      <dgm:t>
        <a:bodyPr/>
        <a:lstStyle/>
        <a:p>
          <a:r>
            <a:rPr lang="en-US"/>
            <a:t>One of the key factors considered by many universities is a student's Graduate Record Examinations (GRE) scores. However, it is not always clear how strongly a student's GRE scores are correlated with their likelihood of being admitted. </a:t>
          </a:r>
        </a:p>
      </dgm:t>
    </dgm:pt>
    <dgm:pt modelId="{1EFFDA1A-C36C-4256-9A2E-522D6B199E24}" type="parTrans" cxnId="{70958300-F9D1-4A85-8AE4-9899937FBFE1}">
      <dgm:prSet/>
      <dgm:spPr/>
      <dgm:t>
        <a:bodyPr/>
        <a:lstStyle/>
        <a:p>
          <a:endParaRPr lang="en-US"/>
        </a:p>
      </dgm:t>
    </dgm:pt>
    <dgm:pt modelId="{A6C730CF-51B7-4E79-8EEF-BCEFF843953E}" type="sibTrans" cxnId="{70958300-F9D1-4A85-8AE4-9899937FBFE1}">
      <dgm:prSet/>
      <dgm:spPr/>
      <dgm:t>
        <a:bodyPr/>
        <a:lstStyle/>
        <a:p>
          <a:endParaRPr lang="en-US"/>
        </a:p>
      </dgm:t>
    </dgm:pt>
    <dgm:pt modelId="{3E7D549B-5039-4E65-8DCE-F9EC80D5BC0F}">
      <dgm:prSet/>
      <dgm:spPr/>
      <dgm:t>
        <a:bodyPr/>
        <a:lstStyle/>
        <a:p>
          <a:r>
            <a:rPr lang="en-US"/>
            <a:t>This is where machine learning comes in. By using machine learning algorithms, we can analyze the relationship between a student's GRE scores and their Chance of Admit, which is a measure of the probability of being accepted into a graduate program. </a:t>
          </a:r>
        </a:p>
      </dgm:t>
    </dgm:pt>
    <dgm:pt modelId="{F0751196-4562-499F-AE53-9A8794CA4C18}" type="parTrans" cxnId="{E0C7ED4B-C0A7-4A3E-84E6-6510A6DDC5EF}">
      <dgm:prSet/>
      <dgm:spPr/>
      <dgm:t>
        <a:bodyPr/>
        <a:lstStyle/>
        <a:p>
          <a:endParaRPr lang="en-US"/>
        </a:p>
      </dgm:t>
    </dgm:pt>
    <dgm:pt modelId="{55B8ED49-9853-41D9-ABB3-40FC6A3F437E}" type="sibTrans" cxnId="{E0C7ED4B-C0A7-4A3E-84E6-6510A6DDC5EF}">
      <dgm:prSet/>
      <dgm:spPr/>
      <dgm:t>
        <a:bodyPr/>
        <a:lstStyle/>
        <a:p>
          <a:endParaRPr lang="en-US"/>
        </a:p>
      </dgm:t>
    </dgm:pt>
    <dgm:pt modelId="{94D4BB9B-9C06-4CAB-955C-B27D65C87531}">
      <dgm:prSet/>
      <dgm:spPr/>
      <dgm:t>
        <a:bodyPr/>
        <a:lstStyle/>
        <a:p>
          <a:r>
            <a:rPr lang="en-US"/>
            <a:t>This analysis can help us better understand how important GRE scores are in the admissions process, and can inform universities and students alike about the factors that are most important in determining admissions outcomes</a:t>
          </a:r>
        </a:p>
      </dgm:t>
    </dgm:pt>
    <dgm:pt modelId="{936D6B99-AB7E-41E6-82F4-90ABD12BEB29}" type="parTrans" cxnId="{D115ADC6-CE63-4D94-93DF-6CCBC6AC9E21}">
      <dgm:prSet/>
      <dgm:spPr/>
      <dgm:t>
        <a:bodyPr/>
        <a:lstStyle/>
        <a:p>
          <a:endParaRPr lang="en-US"/>
        </a:p>
      </dgm:t>
    </dgm:pt>
    <dgm:pt modelId="{0034604E-4D7D-440D-A21C-FA6B70F9AFD7}" type="sibTrans" cxnId="{D115ADC6-CE63-4D94-93DF-6CCBC6AC9E21}">
      <dgm:prSet/>
      <dgm:spPr/>
      <dgm:t>
        <a:bodyPr/>
        <a:lstStyle/>
        <a:p>
          <a:endParaRPr lang="en-US"/>
        </a:p>
      </dgm:t>
    </dgm:pt>
    <dgm:pt modelId="{9365B9E4-E64C-4418-8ADC-61DED74C31F9}" type="pres">
      <dgm:prSet presAssocID="{ABB172E0-9BE4-4018-AAB0-39B68A0E5BA1}" presName="root" presStyleCnt="0">
        <dgm:presLayoutVars>
          <dgm:dir/>
          <dgm:resizeHandles val="exact"/>
        </dgm:presLayoutVars>
      </dgm:prSet>
      <dgm:spPr/>
    </dgm:pt>
    <dgm:pt modelId="{5F6F5FC4-B423-49D9-B60D-B16BB01FCBBE}" type="pres">
      <dgm:prSet presAssocID="{ABB172E0-9BE4-4018-AAB0-39B68A0E5BA1}" presName="container" presStyleCnt="0">
        <dgm:presLayoutVars>
          <dgm:dir/>
          <dgm:resizeHandles val="exact"/>
        </dgm:presLayoutVars>
      </dgm:prSet>
      <dgm:spPr/>
    </dgm:pt>
    <dgm:pt modelId="{40DB198C-AC68-453D-9028-333FEB510397}" type="pres">
      <dgm:prSet presAssocID="{BC03F360-D5BB-4032-B794-37B394E37E1D}" presName="compNode" presStyleCnt="0"/>
      <dgm:spPr/>
    </dgm:pt>
    <dgm:pt modelId="{051CF1B3-7F7F-4634-B6DF-718B684418C7}" type="pres">
      <dgm:prSet presAssocID="{BC03F360-D5BB-4032-B794-37B394E37E1D}" presName="iconBgRect" presStyleLbl="bgShp" presStyleIdx="0" presStyleCnt="4"/>
      <dgm:spPr/>
    </dgm:pt>
    <dgm:pt modelId="{097E5A1D-8649-45A1-96BA-B8F0E961B9E0}" type="pres">
      <dgm:prSet presAssocID="{BC03F360-D5BB-4032-B794-37B394E37E1D}"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iploma Roll"/>
        </a:ext>
      </dgm:extLst>
    </dgm:pt>
    <dgm:pt modelId="{C47561C7-5265-4E3A-AF17-8DEDEC51F3A0}" type="pres">
      <dgm:prSet presAssocID="{BC03F360-D5BB-4032-B794-37B394E37E1D}" presName="spaceRect" presStyleCnt="0"/>
      <dgm:spPr/>
    </dgm:pt>
    <dgm:pt modelId="{C05DD830-563B-4F87-A478-831CB54D01E1}" type="pres">
      <dgm:prSet presAssocID="{BC03F360-D5BB-4032-B794-37B394E37E1D}" presName="textRect" presStyleLbl="revTx" presStyleIdx="0" presStyleCnt="4">
        <dgm:presLayoutVars>
          <dgm:chMax val="1"/>
          <dgm:chPref val="1"/>
        </dgm:presLayoutVars>
      </dgm:prSet>
      <dgm:spPr/>
    </dgm:pt>
    <dgm:pt modelId="{690AE709-96EE-4A10-AE75-F64E4A0D3567}" type="pres">
      <dgm:prSet presAssocID="{528EA792-BC4A-4858-B214-2EDDF6E82284}" presName="sibTrans" presStyleLbl="sibTrans2D1" presStyleIdx="0" presStyleCnt="0"/>
      <dgm:spPr/>
    </dgm:pt>
    <dgm:pt modelId="{5A8ED573-ABDA-4FF4-99F9-9B7A8126ECA9}" type="pres">
      <dgm:prSet presAssocID="{9F67D28F-4F8A-4B51-BCA7-52B4B8848DF0}" presName="compNode" presStyleCnt="0"/>
      <dgm:spPr/>
    </dgm:pt>
    <dgm:pt modelId="{E680F116-0129-4A47-AD5B-033209D30F75}" type="pres">
      <dgm:prSet presAssocID="{9F67D28F-4F8A-4B51-BCA7-52B4B8848DF0}" presName="iconBgRect" presStyleLbl="bgShp" presStyleIdx="1" presStyleCnt="4"/>
      <dgm:spPr/>
    </dgm:pt>
    <dgm:pt modelId="{80B655B9-68D0-402C-B65A-08DDB328E8B4}" type="pres">
      <dgm:prSet presAssocID="{9F67D28F-4F8A-4B51-BCA7-52B4B8848DF0}"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4FF70CA9-75ED-445E-BBD2-54CC70493392}" type="pres">
      <dgm:prSet presAssocID="{9F67D28F-4F8A-4B51-BCA7-52B4B8848DF0}" presName="spaceRect" presStyleCnt="0"/>
      <dgm:spPr/>
    </dgm:pt>
    <dgm:pt modelId="{8FFDF801-131C-4689-AE37-A15F621BDC44}" type="pres">
      <dgm:prSet presAssocID="{9F67D28F-4F8A-4B51-BCA7-52B4B8848DF0}" presName="textRect" presStyleLbl="revTx" presStyleIdx="1" presStyleCnt="4">
        <dgm:presLayoutVars>
          <dgm:chMax val="1"/>
          <dgm:chPref val="1"/>
        </dgm:presLayoutVars>
      </dgm:prSet>
      <dgm:spPr/>
    </dgm:pt>
    <dgm:pt modelId="{A901C81D-E14C-489C-AA71-8D9856F96906}" type="pres">
      <dgm:prSet presAssocID="{A6C730CF-51B7-4E79-8EEF-BCEFF843953E}" presName="sibTrans" presStyleLbl="sibTrans2D1" presStyleIdx="0" presStyleCnt="0"/>
      <dgm:spPr/>
    </dgm:pt>
    <dgm:pt modelId="{D39AAFAC-A794-4AF0-AD8C-E014FDFC4B62}" type="pres">
      <dgm:prSet presAssocID="{3E7D549B-5039-4E65-8DCE-F9EC80D5BC0F}" presName="compNode" presStyleCnt="0"/>
      <dgm:spPr/>
    </dgm:pt>
    <dgm:pt modelId="{2CBA5EEB-428C-4A09-8412-0051E0A7E311}" type="pres">
      <dgm:prSet presAssocID="{3E7D549B-5039-4E65-8DCE-F9EC80D5BC0F}" presName="iconBgRect" presStyleLbl="bgShp" presStyleIdx="2" presStyleCnt="4"/>
      <dgm:spPr/>
    </dgm:pt>
    <dgm:pt modelId="{649AA3A0-53C9-4A41-8DA9-9415B51C4C62}" type="pres">
      <dgm:prSet presAssocID="{3E7D549B-5039-4E65-8DCE-F9EC80D5BC0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ead with Gears"/>
        </a:ext>
      </dgm:extLst>
    </dgm:pt>
    <dgm:pt modelId="{94E3E56A-CB04-44EF-B7D8-106098FDA3B5}" type="pres">
      <dgm:prSet presAssocID="{3E7D549B-5039-4E65-8DCE-F9EC80D5BC0F}" presName="spaceRect" presStyleCnt="0"/>
      <dgm:spPr/>
    </dgm:pt>
    <dgm:pt modelId="{9DC6D9E8-9BF4-49EB-A892-D22A8AA389C9}" type="pres">
      <dgm:prSet presAssocID="{3E7D549B-5039-4E65-8DCE-F9EC80D5BC0F}" presName="textRect" presStyleLbl="revTx" presStyleIdx="2" presStyleCnt="4">
        <dgm:presLayoutVars>
          <dgm:chMax val="1"/>
          <dgm:chPref val="1"/>
        </dgm:presLayoutVars>
      </dgm:prSet>
      <dgm:spPr/>
    </dgm:pt>
    <dgm:pt modelId="{2C60553F-E91C-472F-B1D2-C6FEF7E3E509}" type="pres">
      <dgm:prSet presAssocID="{55B8ED49-9853-41D9-ABB3-40FC6A3F437E}" presName="sibTrans" presStyleLbl="sibTrans2D1" presStyleIdx="0" presStyleCnt="0"/>
      <dgm:spPr/>
    </dgm:pt>
    <dgm:pt modelId="{40FD6AFF-EE33-43E8-BFAD-AF52D4D51FA6}" type="pres">
      <dgm:prSet presAssocID="{94D4BB9B-9C06-4CAB-955C-B27D65C87531}" presName="compNode" presStyleCnt="0"/>
      <dgm:spPr/>
    </dgm:pt>
    <dgm:pt modelId="{01E43457-63C3-44DE-A39C-5D47D0E602C6}" type="pres">
      <dgm:prSet presAssocID="{94D4BB9B-9C06-4CAB-955C-B27D65C87531}" presName="iconBgRect" presStyleLbl="bgShp" presStyleIdx="3" presStyleCnt="4"/>
      <dgm:spPr/>
    </dgm:pt>
    <dgm:pt modelId="{5ABE5A58-3D5A-4DC5-A5F0-A0011328BF8E}" type="pres">
      <dgm:prSet presAssocID="{94D4BB9B-9C06-4CAB-955C-B27D65C87531}"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Books"/>
        </a:ext>
      </dgm:extLst>
    </dgm:pt>
    <dgm:pt modelId="{BDC70825-8D15-4EB9-BB19-650E49F12FD6}" type="pres">
      <dgm:prSet presAssocID="{94D4BB9B-9C06-4CAB-955C-B27D65C87531}" presName="spaceRect" presStyleCnt="0"/>
      <dgm:spPr/>
    </dgm:pt>
    <dgm:pt modelId="{9182E79B-B673-4E93-B9B1-B9B57E55BC1F}" type="pres">
      <dgm:prSet presAssocID="{94D4BB9B-9C06-4CAB-955C-B27D65C87531}" presName="textRect" presStyleLbl="revTx" presStyleIdx="3" presStyleCnt="4">
        <dgm:presLayoutVars>
          <dgm:chMax val="1"/>
          <dgm:chPref val="1"/>
        </dgm:presLayoutVars>
      </dgm:prSet>
      <dgm:spPr/>
    </dgm:pt>
  </dgm:ptLst>
  <dgm:cxnLst>
    <dgm:cxn modelId="{70958300-F9D1-4A85-8AE4-9899937FBFE1}" srcId="{ABB172E0-9BE4-4018-AAB0-39B68A0E5BA1}" destId="{9F67D28F-4F8A-4B51-BCA7-52B4B8848DF0}" srcOrd="1" destOrd="0" parTransId="{1EFFDA1A-C36C-4256-9A2E-522D6B199E24}" sibTransId="{A6C730CF-51B7-4E79-8EEF-BCEFF843953E}"/>
    <dgm:cxn modelId="{1B456515-F85D-4753-ACAD-48371231C2FE}" type="presOf" srcId="{55B8ED49-9853-41D9-ABB3-40FC6A3F437E}" destId="{2C60553F-E91C-472F-B1D2-C6FEF7E3E509}" srcOrd="0" destOrd="0" presId="urn:microsoft.com/office/officeart/2018/2/layout/IconCircleList"/>
    <dgm:cxn modelId="{D18B1B18-03E8-44C8-97D6-C084BC6BF96D}" type="presOf" srcId="{528EA792-BC4A-4858-B214-2EDDF6E82284}" destId="{690AE709-96EE-4A10-AE75-F64E4A0D3567}" srcOrd="0" destOrd="0" presId="urn:microsoft.com/office/officeart/2018/2/layout/IconCircleList"/>
    <dgm:cxn modelId="{77A3681D-74DF-4857-9A62-FD246C8D784B}" type="presOf" srcId="{9F67D28F-4F8A-4B51-BCA7-52B4B8848DF0}" destId="{8FFDF801-131C-4689-AE37-A15F621BDC44}" srcOrd="0" destOrd="0" presId="urn:microsoft.com/office/officeart/2018/2/layout/IconCircleList"/>
    <dgm:cxn modelId="{E0C7ED4B-C0A7-4A3E-84E6-6510A6DDC5EF}" srcId="{ABB172E0-9BE4-4018-AAB0-39B68A0E5BA1}" destId="{3E7D549B-5039-4E65-8DCE-F9EC80D5BC0F}" srcOrd="2" destOrd="0" parTransId="{F0751196-4562-499F-AE53-9A8794CA4C18}" sibTransId="{55B8ED49-9853-41D9-ABB3-40FC6A3F437E}"/>
    <dgm:cxn modelId="{A0627D55-B839-413D-AC07-5ADF029D33CA}" type="presOf" srcId="{3E7D549B-5039-4E65-8DCE-F9EC80D5BC0F}" destId="{9DC6D9E8-9BF4-49EB-A892-D22A8AA389C9}" srcOrd="0" destOrd="0" presId="urn:microsoft.com/office/officeart/2018/2/layout/IconCircleList"/>
    <dgm:cxn modelId="{EBBF4D5C-ADBA-4A59-936B-EE25E9B7FD6B}" type="presOf" srcId="{BC03F360-D5BB-4032-B794-37B394E37E1D}" destId="{C05DD830-563B-4F87-A478-831CB54D01E1}" srcOrd="0" destOrd="0" presId="urn:microsoft.com/office/officeart/2018/2/layout/IconCircleList"/>
    <dgm:cxn modelId="{3F06F75E-4205-4AFC-A873-B5F8C4C2C53E}" srcId="{ABB172E0-9BE4-4018-AAB0-39B68A0E5BA1}" destId="{BC03F360-D5BB-4032-B794-37B394E37E1D}" srcOrd="0" destOrd="0" parTransId="{7D62EE6A-3F25-41BA-917D-6D4E89D44E8F}" sibTransId="{528EA792-BC4A-4858-B214-2EDDF6E82284}"/>
    <dgm:cxn modelId="{D115ADC6-CE63-4D94-93DF-6CCBC6AC9E21}" srcId="{ABB172E0-9BE4-4018-AAB0-39B68A0E5BA1}" destId="{94D4BB9B-9C06-4CAB-955C-B27D65C87531}" srcOrd="3" destOrd="0" parTransId="{936D6B99-AB7E-41E6-82F4-90ABD12BEB29}" sibTransId="{0034604E-4D7D-440D-A21C-FA6B70F9AFD7}"/>
    <dgm:cxn modelId="{F02256C7-9331-4FFD-8C93-79DC61CA0ACD}" type="presOf" srcId="{ABB172E0-9BE4-4018-AAB0-39B68A0E5BA1}" destId="{9365B9E4-E64C-4418-8ADC-61DED74C31F9}" srcOrd="0" destOrd="0" presId="urn:microsoft.com/office/officeart/2018/2/layout/IconCircleList"/>
    <dgm:cxn modelId="{0C7606CD-150D-4C98-A831-40E9442E4F2A}" type="presOf" srcId="{94D4BB9B-9C06-4CAB-955C-B27D65C87531}" destId="{9182E79B-B673-4E93-B9B1-B9B57E55BC1F}" srcOrd="0" destOrd="0" presId="urn:microsoft.com/office/officeart/2018/2/layout/IconCircleList"/>
    <dgm:cxn modelId="{14A487D8-1B91-4C99-9510-3E076DEE6DEE}" type="presOf" srcId="{A6C730CF-51B7-4E79-8EEF-BCEFF843953E}" destId="{A901C81D-E14C-489C-AA71-8D9856F96906}" srcOrd="0" destOrd="0" presId="urn:microsoft.com/office/officeart/2018/2/layout/IconCircleList"/>
    <dgm:cxn modelId="{432519C2-9F15-4C18-BCB4-985EAA8318D9}" type="presParOf" srcId="{9365B9E4-E64C-4418-8ADC-61DED74C31F9}" destId="{5F6F5FC4-B423-49D9-B60D-B16BB01FCBBE}" srcOrd="0" destOrd="0" presId="urn:microsoft.com/office/officeart/2018/2/layout/IconCircleList"/>
    <dgm:cxn modelId="{97ACBE7C-13CC-4C54-8489-692FAF458066}" type="presParOf" srcId="{5F6F5FC4-B423-49D9-B60D-B16BB01FCBBE}" destId="{40DB198C-AC68-453D-9028-333FEB510397}" srcOrd="0" destOrd="0" presId="urn:microsoft.com/office/officeart/2018/2/layout/IconCircleList"/>
    <dgm:cxn modelId="{9FD79F7F-383F-4F0B-A140-3C46C09930DB}" type="presParOf" srcId="{40DB198C-AC68-453D-9028-333FEB510397}" destId="{051CF1B3-7F7F-4634-B6DF-718B684418C7}" srcOrd="0" destOrd="0" presId="urn:microsoft.com/office/officeart/2018/2/layout/IconCircleList"/>
    <dgm:cxn modelId="{C7837537-50DC-47F2-B3D4-0C5F52CD2F36}" type="presParOf" srcId="{40DB198C-AC68-453D-9028-333FEB510397}" destId="{097E5A1D-8649-45A1-96BA-B8F0E961B9E0}" srcOrd="1" destOrd="0" presId="urn:microsoft.com/office/officeart/2018/2/layout/IconCircleList"/>
    <dgm:cxn modelId="{53CDAF45-13AD-439C-9B93-9DD854099483}" type="presParOf" srcId="{40DB198C-AC68-453D-9028-333FEB510397}" destId="{C47561C7-5265-4E3A-AF17-8DEDEC51F3A0}" srcOrd="2" destOrd="0" presId="urn:microsoft.com/office/officeart/2018/2/layout/IconCircleList"/>
    <dgm:cxn modelId="{8D4F166C-E8B7-42A5-B030-94C15F85E338}" type="presParOf" srcId="{40DB198C-AC68-453D-9028-333FEB510397}" destId="{C05DD830-563B-4F87-A478-831CB54D01E1}" srcOrd="3" destOrd="0" presId="urn:microsoft.com/office/officeart/2018/2/layout/IconCircleList"/>
    <dgm:cxn modelId="{F738E198-6DC2-410A-A668-714171B5B0F3}" type="presParOf" srcId="{5F6F5FC4-B423-49D9-B60D-B16BB01FCBBE}" destId="{690AE709-96EE-4A10-AE75-F64E4A0D3567}" srcOrd="1" destOrd="0" presId="urn:microsoft.com/office/officeart/2018/2/layout/IconCircleList"/>
    <dgm:cxn modelId="{7A9BB12D-B674-4B74-9945-8696FB5E3E32}" type="presParOf" srcId="{5F6F5FC4-B423-49D9-B60D-B16BB01FCBBE}" destId="{5A8ED573-ABDA-4FF4-99F9-9B7A8126ECA9}" srcOrd="2" destOrd="0" presId="urn:microsoft.com/office/officeart/2018/2/layout/IconCircleList"/>
    <dgm:cxn modelId="{2A3DD262-7508-463D-BAC1-0C645575B1AE}" type="presParOf" srcId="{5A8ED573-ABDA-4FF4-99F9-9B7A8126ECA9}" destId="{E680F116-0129-4A47-AD5B-033209D30F75}" srcOrd="0" destOrd="0" presId="urn:microsoft.com/office/officeart/2018/2/layout/IconCircleList"/>
    <dgm:cxn modelId="{94CF4FCB-A986-4296-A151-C0022D657597}" type="presParOf" srcId="{5A8ED573-ABDA-4FF4-99F9-9B7A8126ECA9}" destId="{80B655B9-68D0-402C-B65A-08DDB328E8B4}" srcOrd="1" destOrd="0" presId="urn:microsoft.com/office/officeart/2018/2/layout/IconCircleList"/>
    <dgm:cxn modelId="{0C60BEEC-1FBC-41B2-A4BC-BAA7C5FB1695}" type="presParOf" srcId="{5A8ED573-ABDA-4FF4-99F9-9B7A8126ECA9}" destId="{4FF70CA9-75ED-445E-BBD2-54CC70493392}" srcOrd="2" destOrd="0" presId="urn:microsoft.com/office/officeart/2018/2/layout/IconCircleList"/>
    <dgm:cxn modelId="{6BD8AF1D-1C00-41B2-A724-043179ADF48F}" type="presParOf" srcId="{5A8ED573-ABDA-4FF4-99F9-9B7A8126ECA9}" destId="{8FFDF801-131C-4689-AE37-A15F621BDC44}" srcOrd="3" destOrd="0" presId="urn:microsoft.com/office/officeart/2018/2/layout/IconCircleList"/>
    <dgm:cxn modelId="{761CE7BC-41A0-4095-9486-655FD134C87C}" type="presParOf" srcId="{5F6F5FC4-B423-49D9-B60D-B16BB01FCBBE}" destId="{A901C81D-E14C-489C-AA71-8D9856F96906}" srcOrd="3" destOrd="0" presId="urn:microsoft.com/office/officeart/2018/2/layout/IconCircleList"/>
    <dgm:cxn modelId="{4665203A-FF26-4183-8C3E-46777FDB6627}" type="presParOf" srcId="{5F6F5FC4-B423-49D9-B60D-B16BB01FCBBE}" destId="{D39AAFAC-A794-4AF0-AD8C-E014FDFC4B62}" srcOrd="4" destOrd="0" presId="urn:microsoft.com/office/officeart/2018/2/layout/IconCircleList"/>
    <dgm:cxn modelId="{24C143FC-D190-401E-9EB7-A0EBD0493CF1}" type="presParOf" srcId="{D39AAFAC-A794-4AF0-AD8C-E014FDFC4B62}" destId="{2CBA5EEB-428C-4A09-8412-0051E0A7E311}" srcOrd="0" destOrd="0" presId="urn:microsoft.com/office/officeart/2018/2/layout/IconCircleList"/>
    <dgm:cxn modelId="{1B84E377-29E2-4CEE-9281-89FD89C02E4B}" type="presParOf" srcId="{D39AAFAC-A794-4AF0-AD8C-E014FDFC4B62}" destId="{649AA3A0-53C9-4A41-8DA9-9415B51C4C62}" srcOrd="1" destOrd="0" presId="urn:microsoft.com/office/officeart/2018/2/layout/IconCircleList"/>
    <dgm:cxn modelId="{E9EB3047-D258-4445-96F4-84CD7097FCAE}" type="presParOf" srcId="{D39AAFAC-A794-4AF0-AD8C-E014FDFC4B62}" destId="{94E3E56A-CB04-44EF-B7D8-106098FDA3B5}" srcOrd="2" destOrd="0" presId="urn:microsoft.com/office/officeart/2018/2/layout/IconCircleList"/>
    <dgm:cxn modelId="{743124C6-1891-4BD1-8122-539601502A8C}" type="presParOf" srcId="{D39AAFAC-A794-4AF0-AD8C-E014FDFC4B62}" destId="{9DC6D9E8-9BF4-49EB-A892-D22A8AA389C9}" srcOrd="3" destOrd="0" presId="urn:microsoft.com/office/officeart/2018/2/layout/IconCircleList"/>
    <dgm:cxn modelId="{733E9601-5CF8-4D59-A4EE-17D4A164CE96}" type="presParOf" srcId="{5F6F5FC4-B423-49D9-B60D-B16BB01FCBBE}" destId="{2C60553F-E91C-472F-B1D2-C6FEF7E3E509}" srcOrd="5" destOrd="0" presId="urn:microsoft.com/office/officeart/2018/2/layout/IconCircleList"/>
    <dgm:cxn modelId="{CDC55FEB-FA34-45A4-80AC-76D7C6211AA0}" type="presParOf" srcId="{5F6F5FC4-B423-49D9-B60D-B16BB01FCBBE}" destId="{40FD6AFF-EE33-43E8-BFAD-AF52D4D51FA6}" srcOrd="6" destOrd="0" presId="urn:microsoft.com/office/officeart/2018/2/layout/IconCircleList"/>
    <dgm:cxn modelId="{6ED0780D-A258-4AE7-954A-4850F83AEA3A}" type="presParOf" srcId="{40FD6AFF-EE33-43E8-BFAD-AF52D4D51FA6}" destId="{01E43457-63C3-44DE-A39C-5D47D0E602C6}" srcOrd="0" destOrd="0" presId="urn:microsoft.com/office/officeart/2018/2/layout/IconCircleList"/>
    <dgm:cxn modelId="{9CC6E2FB-766D-4A75-ADA5-567B35C803CD}" type="presParOf" srcId="{40FD6AFF-EE33-43E8-BFAD-AF52D4D51FA6}" destId="{5ABE5A58-3D5A-4DC5-A5F0-A0011328BF8E}" srcOrd="1" destOrd="0" presId="urn:microsoft.com/office/officeart/2018/2/layout/IconCircleList"/>
    <dgm:cxn modelId="{DF5FDF0D-524E-4398-A9DD-4F7BD01BB786}" type="presParOf" srcId="{40FD6AFF-EE33-43E8-BFAD-AF52D4D51FA6}" destId="{BDC70825-8D15-4EB9-BB19-650E49F12FD6}" srcOrd="2" destOrd="0" presId="urn:microsoft.com/office/officeart/2018/2/layout/IconCircleList"/>
    <dgm:cxn modelId="{9E52FBB3-202E-4941-BF5B-36AD007ED763}" type="presParOf" srcId="{40FD6AFF-EE33-43E8-BFAD-AF52D4D51FA6}" destId="{9182E79B-B673-4E93-B9B1-B9B57E55BC1F}" srcOrd="3" destOrd="0" presId="urn:microsoft.com/office/officeart/2018/2/layout/IconCircle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4F7BEA46-CEAB-4AEF-9414-13087D24FFF4}" type="doc">
      <dgm:prSet loTypeId="urn:microsoft.com/office/officeart/2018/2/layout/IconVerticalSolidList" loCatId="icon" qsTypeId="urn:microsoft.com/office/officeart/2005/8/quickstyle/simple1" qsCatId="simple" csTypeId="urn:microsoft.com/office/officeart/2018/5/colors/Iconchunking_neutralicontext_colorful1" csCatId="colorful" phldr="1"/>
      <dgm:spPr/>
      <dgm:t>
        <a:bodyPr/>
        <a:lstStyle/>
        <a:p>
          <a:endParaRPr lang="en-US"/>
        </a:p>
      </dgm:t>
    </dgm:pt>
    <dgm:pt modelId="{8FEDA1C8-FE43-4CF9-AAF0-289DA206FF11}">
      <dgm:prSet/>
      <dgm:spPr/>
      <dgm:t>
        <a:bodyPr/>
        <a:lstStyle/>
        <a:p>
          <a:r>
            <a:rPr lang="en-US"/>
            <a:t>The F-test method is widely used in machine learning to determine the significance of the relationship between independent and dependent variables in a linear regression model. </a:t>
          </a:r>
        </a:p>
      </dgm:t>
    </dgm:pt>
    <dgm:pt modelId="{78EA9F91-CFE1-4C35-ACF4-584A76C9115E}" type="parTrans" cxnId="{682FFD84-6AF4-4960-969D-941224518A11}">
      <dgm:prSet/>
      <dgm:spPr/>
      <dgm:t>
        <a:bodyPr/>
        <a:lstStyle/>
        <a:p>
          <a:endParaRPr lang="en-US"/>
        </a:p>
      </dgm:t>
    </dgm:pt>
    <dgm:pt modelId="{0BF126C4-7EF4-415A-84BF-0AE4A9985466}" type="sibTrans" cxnId="{682FFD84-6AF4-4960-969D-941224518A11}">
      <dgm:prSet/>
      <dgm:spPr/>
      <dgm:t>
        <a:bodyPr/>
        <a:lstStyle/>
        <a:p>
          <a:endParaRPr lang="en-US"/>
        </a:p>
      </dgm:t>
    </dgm:pt>
    <dgm:pt modelId="{C7C0FFA4-53F1-4328-8F55-10C631D379F0}">
      <dgm:prSet/>
      <dgm:spPr/>
      <dgm:t>
        <a:bodyPr/>
        <a:lstStyle/>
        <a:p>
          <a:r>
            <a:rPr lang="en-US"/>
            <a:t>By using this test, we can determine if the independent variable (in this case, GRE scores) is a significant predictor of the dependent variable (Chance of Admit) in the admissions process.</a:t>
          </a:r>
        </a:p>
      </dgm:t>
    </dgm:pt>
    <dgm:pt modelId="{873118FC-83BB-4BD8-857E-5467CC6E6B70}" type="parTrans" cxnId="{70B5ED23-770E-4E68-82D0-54EB42D7A0C3}">
      <dgm:prSet/>
      <dgm:spPr/>
      <dgm:t>
        <a:bodyPr/>
        <a:lstStyle/>
        <a:p>
          <a:endParaRPr lang="en-US"/>
        </a:p>
      </dgm:t>
    </dgm:pt>
    <dgm:pt modelId="{BCF8C8EB-4066-40E3-8B9A-81F6FAE61C5F}" type="sibTrans" cxnId="{70B5ED23-770E-4E68-82D0-54EB42D7A0C3}">
      <dgm:prSet/>
      <dgm:spPr/>
      <dgm:t>
        <a:bodyPr/>
        <a:lstStyle/>
        <a:p>
          <a:endParaRPr lang="en-US"/>
        </a:p>
      </dgm:t>
    </dgm:pt>
    <dgm:pt modelId="{BCC570E5-DBD6-4471-B88E-4219403AE8D0}" type="pres">
      <dgm:prSet presAssocID="{4F7BEA46-CEAB-4AEF-9414-13087D24FFF4}" presName="root" presStyleCnt="0">
        <dgm:presLayoutVars>
          <dgm:dir/>
          <dgm:resizeHandles val="exact"/>
        </dgm:presLayoutVars>
      </dgm:prSet>
      <dgm:spPr/>
    </dgm:pt>
    <dgm:pt modelId="{9DDEB610-623C-4D04-8309-D5CFF87B7654}" type="pres">
      <dgm:prSet presAssocID="{8FEDA1C8-FE43-4CF9-AAF0-289DA206FF11}" presName="compNode" presStyleCnt="0"/>
      <dgm:spPr/>
    </dgm:pt>
    <dgm:pt modelId="{711AF746-734D-4FA7-A003-DB69245930C8}" type="pres">
      <dgm:prSet presAssocID="{8FEDA1C8-FE43-4CF9-AAF0-289DA206FF11}" presName="bgRect" presStyleLbl="bgShp" presStyleIdx="0" presStyleCnt="2"/>
      <dgm:spPr/>
    </dgm:pt>
    <dgm:pt modelId="{C688348B-2125-4BA8-80F6-2CDD15C7D53F}" type="pres">
      <dgm:prSet presAssocID="{8FEDA1C8-FE43-4CF9-AAF0-289DA206FF11}"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Statistics"/>
        </a:ext>
      </dgm:extLst>
    </dgm:pt>
    <dgm:pt modelId="{0AE42E79-8688-4ABB-B5C8-498801B49508}" type="pres">
      <dgm:prSet presAssocID="{8FEDA1C8-FE43-4CF9-AAF0-289DA206FF11}" presName="spaceRect" presStyleCnt="0"/>
      <dgm:spPr/>
    </dgm:pt>
    <dgm:pt modelId="{E0E59473-61BE-4D79-A41E-35B980238668}" type="pres">
      <dgm:prSet presAssocID="{8FEDA1C8-FE43-4CF9-AAF0-289DA206FF11}" presName="parTx" presStyleLbl="revTx" presStyleIdx="0" presStyleCnt="2">
        <dgm:presLayoutVars>
          <dgm:chMax val="0"/>
          <dgm:chPref val="0"/>
        </dgm:presLayoutVars>
      </dgm:prSet>
      <dgm:spPr/>
    </dgm:pt>
    <dgm:pt modelId="{DD24AF25-7781-4AE4-83E7-82637EABB168}" type="pres">
      <dgm:prSet presAssocID="{0BF126C4-7EF4-415A-84BF-0AE4A9985466}" presName="sibTrans" presStyleCnt="0"/>
      <dgm:spPr/>
    </dgm:pt>
    <dgm:pt modelId="{9A6D5FD2-45B9-43D1-A1E1-2A42D5BB3537}" type="pres">
      <dgm:prSet presAssocID="{C7C0FFA4-53F1-4328-8F55-10C631D379F0}" presName="compNode" presStyleCnt="0"/>
      <dgm:spPr/>
    </dgm:pt>
    <dgm:pt modelId="{7771258D-8FAE-49D5-BF70-4CF4CDD04E12}" type="pres">
      <dgm:prSet presAssocID="{C7C0FFA4-53F1-4328-8F55-10C631D379F0}" presName="bgRect" presStyleLbl="bgShp" presStyleIdx="1" presStyleCnt="2"/>
      <dgm:spPr/>
    </dgm:pt>
    <dgm:pt modelId="{389309E3-4A57-433C-A672-E194849A4C17}" type="pres">
      <dgm:prSet presAssocID="{C7C0FFA4-53F1-4328-8F55-10C631D379F0}"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alculator"/>
        </a:ext>
      </dgm:extLst>
    </dgm:pt>
    <dgm:pt modelId="{7AEE1462-E9A8-4E31-A97A-C13EE82A78DC}" type="pres">
      <dgm:prSet presAssocID="{C7C0FFA4-53F1-4328-8F55-10C631D379F0}" presName="spaceRect" presStyleCnt="0"/>
      <dgm:spPr/>
    </dgm:pt>
    <dgm:pt modelId="{4CECDA73-DDA9-4238-80F1-450B1C9EC3FA}" type="pres">
      <dgm:prSet presAssocID="{C7C0FFA4-53F1-4328-8F55-10C631D379F0}" presName="parTx" presStyleLbl="revTx" presStyleIdx="1" presStyleCnt="2">
        <dgm:presLayoutVars>
          <dgm:chMax val="0"/>
          <dgm:chPref val="0"/>
        </dgm:presLayoutVars>
      </dgm:prSet>
      <dgm:spPr/>
    </dgm:pt>
  </dgm:ptLst>
  <dgm:cxnLst>
    <dgm:cxn modelId="{70B5ED23-770E-4E68-82D0-54EB42D7A0C3}" srcId="{4F7BEA46-CEAB-4AEF-9414-13087D24FFF4}" destId="{C7C0FFA4-53F1-4328-8F55-10C631D379F0}" srcOrd="1" destOrd="0" parTransId="{873118FC-83BB-4BD8-857E-5467CC6E6B70}" sibTransId="{BCF8C8EB-4066-40E3-8B9A-81F6FAE61C5F}"/>
    <dgm:cxn modelId="{673DB57D-EE0E-44C0-A9D5-80F96D2CEED6}" type="presOf" srcId="{4F7BEA46-CEAB-4AEF-9414-13087D24FFF4}" destId="{BCC570E5-DBD6-4471-B88E-4219403AE8D0}" srcOrd="0" destOrd="0" presId="urn:microsoft.com/office/officeart/2018/2/layout/IconVerticalSolidList"/>
    <dgm:cxn modelId="{682FFD84-6AF4-4960-969D-941224518A11}" srcId="{4F7BEA46-CEAB-4AEF-9414-13087D24FFF4}" destId="{8FEDA1C8-FE43-4CF9-AAF0-289DA206FF11}" srcOrd="0" destOrd="0" parTransId="{78EA9F91-CFE1-4C35-ACF4-584A76C9115E}" sibTransId="{0BF126C4-7EF4-415A-84BF-0AE4A9985466}"/>
    <dgm:cxn modelId="{060FA9E6-CEC5-43F5-92C9-0247B0F7693B}" type="presOf" srcId="{8FEDA1C8-FE43-4CF9-AAF0-289DA206FF11}" destId="{E0E59473-61BE-4D79-A41E-35B980238668}" srcOrd="0" destOrd="0" presId="urn:microsoft.com/office/officeart/2018/2/layout/IconVerticalSolidList"/>
    <dgm:cxn modelId="{699545F5-FE8F-47D8-8C2D-CEA9A30F1709}" type="presOf" srcId="{C7C0FFA4-53F1-4328-8F55-10C631D379F0}" destId="{4CECDA73-DDA9-4238-80F1-450B1C9EC3FA}" srcOrd="0" destOrd="0" presId="urn:microsoft.com/office/officeart/2018/2/layout/IconVerticalSolidList"/>
    <dgm:cxn modelId="{C4AA629F-9FA3-4C02-A456-DCF8C4FA53EA}" type="presParOf" srcId="{BCC570E5-DBD6-4471-B88E-4219403AE8D0}" destId="{9DDEB610-623C-4D04-8309-D5CFF87B7654}" srcOrd="0" destOrd="0" presId="urn:microsoft.com/office/officeart/2018/2/layout/IconVerticalSolidList"/>
    <dgm:cxn modelId="{8FCC7837-1477-4CB7-8C57-606ABC1670CE}" type="presParOf" srcId="{9DDEB610-623C-4D04-8309-D5CFF87B7654}" destId="{711AF746-734D-4FA7-A003-DB69245930C8}" srcOrd="0" destOrd="0" presId="urn:microsoft.com/office/officeart/2018/2/layout/IconVerticalSolidList"/>
    <dgm:cxn modelId="{947F7485-F15B-466B-B3CB-A6EA118D4C57}" type="presParOf" srcId="{9DDEB610-623C-4D04-8309-D5CFF87B7654}" destId="{C688348B-2125-4BA8-80F6-2CDD15C7D53F}" srcOrd="1" destOrd="0" presId="urn:microsoft.com/office/officeart/2018/2/layout/IconVerticalSolidList"/>
    <dgm:cxn modelId="{AF6E5A3D-FF62-41E7-AB37-0FE6C58707C2}" type="presParOf" srcId="{9DDEB610-623C-4D04-8309-D5CFF87B7654}" destId="{0AE42E79-8688-4ABB-B5C8-498801B49508}" srcOrd="2" destOrd="0" presId="urn:microsoft.com/office/officeart/2018/2/layout/IconVerticalSolidList"/>
    <dgm:cxn modelId="{38B4004B-42E2-446B-99F9-2366F8E16466}" type="presParOf" srcId="{9DDEB610-623C-4D04-8309-D5CFF87B7654}" destId="{E0E59473-61BE-4D79-A41E-35B980238668}" srcOrd="3" destOrd="0" presId="urn:microsoft.com/office/officeart/2018/2/layout/IconVerticalSolidList"/>
    <dgm:cxn modelId="{D75BDB02-46B0-4AB0-B19B-F03144C46BC9}" type="presParOf" srcId="{BCC570E5-DBD6-4471-B88E-4219403AE8D0}" destId="{DD24AF25-7781-4AE4-83E7-82637EABB168}" srcOrd="1" destOrd="0" presId="urn:microsoft.com/office/officeart/2018/2/layout/IconVerticalSolidList"/>
    <dgm:cxn modelId="{F72F0501-85F1-4CD2-AC51-24871F378A63}" type="presParOf" srcId="{BCC570E5-DBD6-4471-B88E-4219403AE8D0}" destId="{9A6D5FD2-45B9-43D1-A1E1-2A42D5BB3537}" srcOrd="2" destOrd="0" presId="urn:microsoft.com/office/officeart/2018/2/layout/IconVerticalSolidList"/>
    <dgm:cxn modelId="{39CAF696-F932-48AA-8E4F-244988E1777F}" type="presParOf" srcId="{9A6D5FD2-45B9-43D1-A1E1-2A42D5BB3537}" destId="{7771258D-8FAE-49D5-BF70-4CF4CDD04E12}" srcOrd="0" destOrd="0" presId="urn:microsoft.com/office/officeart/2018/2/layout/IconVerticalSolidList"/>
    <dgm:cxn modelId="{49DCA02C-5723-428C-97B9-7B26EA92641C}" type="presParOf" srcId="{9A6D5FD2-45B9-43D1-A1E1-2A42D5BB3537}" destId="{389309E3-4A57-433C-A672-E194849A4C17}" srcOrd="1" destOrd="0" presId="urn:microsoft.com/office/officeart/2018/2/layout/IconVerticalSolidList"/>
    <dgm:cxn modelId="{A4DB434B-6F71-4836-BF5E-20390D05E497}" type="presParOf" srcId="{9A6D5FD2-45B9-43D1-A1E1-2A42D5BB3537}" destId="{7AEE1462-E9A8-4E31-A97A-C13EE82A78DC}" srcOrd="2" destOrd="0" presId="urn:microsoft.com/office/officeart/2018/2/layout/IconVerticalSolidList"/>
    <dgm:cxn modelId="{49C661A4-A5FD-4BC8-B93C-6BC6A28EB4EE}" type="presParOf" srcId="{9A6D5FD2-45B9-43D1-A1E1-2A42D5BB3537}" destId="{4CECDA73-DDA9-4238-80F1-450B1C9EC3FA}" srcOrd="3" destOrd="0" presId="urn:microsoft.com/office/officeart/2018/2/layout/IconVerticalSolidList"/>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C918E65-6F2B-4794-A7F9-92AAA8CE912F}" type="doc">
      <dgm:prSet loTypeId="urn:microsoft.com/office/officeart/2016/7/layout/RepeatingBendingProcessNew" loCatId="process" qsTypeId="urn:microsoft.com/office/officeart/2005/8/quickstyle/simple1" qsCatId="simple" csTypeId="urn:microsoft.com/office/officeart/2005/8/colors/colorful1" csCatId="colorful"/>
      <dgm:spPr/>
      <dgm:t>
        <a:bodyPr/>
        <a:lstStyle/>
        <a:p>
          <a:endParaRPr lang="en-US"/>
        </a:p>
      </dgm:t>
    </dgm:pt>
    <dgm:pt modelId="{A290D8D7-406C-4751-8E28-F61B3EF18525}">
      <dgm:prSet/>
      <dgm:spPr/>
      <dgm:t>
        <a:bodyPr/>
        <a:lstStyle/>
        <a:p>
          <a:r>
            <a:rPr lang="en-US"/>
            <a:t>Setup hypotheses and select alpha level</a:t>
          </a:r>
        </a:p>
      </dgm:t>
    </dgm:pt>
    <dgm:pt modelId="{E219FC85-2E4B-44C8-8BE7-0011717910F1}" type="parTrans" cxnId="{127A56D3-CC33-4880-B1B6-AD033E212E36}">
      <dgm:prSet/>
      <dgm:spPr/>
      <dgm:t>
        <a:bodyPr/>
        <a:lstStyle/>
        <a:p>
          <a:endParaRPr lang="en-US"/>
        </a:p>
      </dgm:t>
    </dgm:pt>
    <dgm:pt modelId="{4D020628-061C-45BC-9AD5-57407E6A6F1C}" type="sibTrans" cxnId="{127A56D3-CC33-4880-B1B6-AD033E212E36}">
      <dgm:prSet/>
      <dgm:spPr/>
      <dgm:t>
        <a:bodyPr/>
        <a:lstStyle/>
        <a:p>
          <a:endParaRPr lang="en-US"/>
        </a:p>
      </dgm:t>
    </dgm:pt>
    <dgm:pt modelId="{D2CE0FD8-9421-41B4-827E-2F551EF8B264}">
      <dgm:prSet/>
      <dgm:spPr/>
      <dgm:t>
        <a:bodyPr/>
        <a:lstStyle/>
        <a:p>
          <a:r>
            <a:rPr lang="en-US"/>
            <a:t>B1 = 0 (there is no linear association) &amp; B1 != 0 (there is a linear association)</a:t>
          </a:r>
        </a:p>
      </dgm:t>
    </dgm:pt>
    <dgm:pt modelId="{411CC9CA-A3DC-45B1-A805-F7B447CE540E}" type="parTrans" cxnId="{F55F50EB-5596-4112-AD3D-E9D86E996CC6}">
      <dgm:prSet/>
      <dgm:spPr/>
      <dgm:t>
        <a:bodyPr/>
        <a:lstStyle/>
        <a:p>
          <a:endParaRPr lang="en-US"/>
        </a:p>
      </dgm:t>
    </dgm:pt>
    <dgm:pt modelId="{C5707F18-5EFD-4870-8584-ECD962110420}" type="sibTrans" cxnId="{F55F50EB-5596-4112-AD3D-E9D86E996CC6}">
      <dgm:prSet/>
      <dgm:spPr/>
      <dgm:t>
        <a:bodyPr/>
        <a:lstStyle/>
        <a:p>
          <a:endParaRPr lang="en-US"/>
        </a:p>
      </dgm:t>
    </dgm:pt>
    <dgm:pt modelId="{E3E6AF2B-6988-4593-B0A1-34497C7AB93F}">
      <dgm:prSet/>
      <dgm:spPr/>
      <dgm:t>
        <a:bodyPr/>
        <a:lstStyle/>
        <a:p>
          <a:r>
            <a:rPr lang="en-US"/>
            <a:t>Alpha level = 0.05</a:t>
          </a:r>
        </a:p>
      </dgm:t>
    </dgm:pt>
    <dgm:pt modelId="{D4137BE7-C273-409B-BA31-057E34DE5017}" type="parTrans" cxnId="{5D210A1C-382E-4935-A58F-02D1094CCCDB}">
      <dgm:prSet/>
      <dgm:spPr/>
      <dgm:t>
        <a:bodyPr/>
        <a:lstStyle/>
        <a:p>
          <a:endParaRPr lang="en-US"/>
        </a:p>
      </dgm:t>
    </dgm:pt>
    <dgm:pt modelId="{AB4EE26A-6B27-4B98-991B-F43271B82A29}" type="sibTrans" cxnId="{5D210A1C-382E-4935-A58F-02D1094CCCDB}">
      <dgm:prSet/>
      <dgm:spPr/>
      <dgm:t>
        <a:bodyPr/>
        <a:lstStyle/>
        <a:p>
          <a:endParaRPr lang="en-US"/>
        </a:p>
      </dgm:t>
    </dgm:pt>
    <dgm:pt modelId="{826F1BFF-D6FC-4D2B-B0A7-CF8C23040190}">
      <dgm:prSet/>
      <dgm:spPr/>
      <dgm:t>
        <a:bodyPr/>
        <a:lstStyle/>
        <a:p>
          <a:r>
            <a:rPr lang="en-US"/>
            <a:t>Select the appropriate test statistic.</a:t>
          </a:r>
        </a:p>
      </dgm:t>
    </dgm:pt>
    <dgm:pt modelId="{3161BC14-52BD-444E-B49C-81C21494A7B6}" type="parTrans" cxnId="{94EC67D6-B152-4F12-97F0-9297790E62F4}">
      <dgm:prSet/>
      <dgm:spPr/>
      <dgm:t>
        <a:bodyPr/>
        <a:lstStyle/>
        <a:p>
          <a:endParaRPr lang="en-US"/>
        </a:p>
      </dgm:t>
    </dgm:pt>
    <dgm:pt modelId="{F21D2DE8-D37F-42B9-B64B-C0CE1D19EF75}" type="sibTrans" cxnId="{94EC67D6-B152-4F12-97F0-9297790E62F4}">
      <dgm:prSet/>
      <dgm:spPr/>
      <dgm:t>
        <a:bodyPr/>
        <a:lstStyle/>
        <a:p>
          <a:endParaRPr lang="en-US"/>
        </a:p>
      </dgm:t>
    </dgm:pt>
    <dgm:pt modelId="{2954A55D-150D-4C2C-A6B2-E4E9855948E8}">
      <dgm:prSet/>
      <dgm:spPr/>
      <dgm:t>
        <a:bodyPr/>
        <a:lstStyle/>
        <a:p>
          <a:r>
            <a:rPr lang="en-US"/>
            <a:t>F=RegMS/ResMSwith1andn-2=398 degreesoffreedom </a:t>
          </a:r>
        </a:p>
      </dgm:t>
    </dgm:pt>
    <dgm:pt modelId="{7E0FBF5C-B472-41F3-80A5-CFF5295D4CE4}" type="parTrans" cxnId="{12D33578-D684-4805-963C-71DF1F77D836}">
      <dgm:prSet/>
      <dgm:spPr/>
      <dgm:t>
        <a:bodyPr/>
        <a:lstStyle/>
        <a:p>
          <a:endParaRPr lang="en-US"/>
        </a:p>
      </dgm:t>
    </dgm:pt>
    <dgm:pt modelId="{F1715C9C-2CAF-4729-A3A7-D616D248C91F}" type="sibTrans" cxnId="{12D33578-D684-4805-963C-71DF1F77D836}">
      <dgm:prSet/>
      <dgm:spPr/>
      <dgm:t>
        <a:bodyPr/>
        <a:lstStyle/>
        <a:p>
          <a:endParaRPr lang="en-US"/>
        </a:p>
      </dgm:t>
    </dgm:pt>
    <dgm:pt modelId="{0D1BD6DA-144E-4FE2-B01B-89991F7813DA}">
      <dgm:prSet/>
      <dgm:spPr/>
      <dgm:t>
        <a:bodyPr/>
        <a:lstStyle/>
        <a:p>
          <a:r>
            <a:rPr lang="en-US"/>
            <a:t>State the decision rule</a:t>
          </a:r>
        </a:p>
      </dgm:t>
    </dgm:pt>
    <dgm:pt modelId="{96298DF7-CC56-4B12-9EC3-DCB8899E4346}" type="parTrans" cxnId="{8E4246B3-19C3-44B1-8E2C-E2998BADA59D}">
      <dgm:prSet/>
      <dgm:spPr/>
      <dgm:t>
        <a:bodyPr/>
        <a:lstStyle/>
        <a:p>
          <a:endParaRPr lang="en-US"/>
        </a:p>
      </dgm:t>
    </dgm:pt>
    <dgm:pt modelId="{5D161BA2-C285-4D5A-AA28-6FF838B065D9}" type="sibTrans" cxnId="{8E4246B3-19C3-44B1-8E2C-E2998BADA59D}">
      <dgm:prSet/>
      <dgm:spPr/>
      <dgm:t>
        <a:bodyPr/>
        <a:lstStyle/>
        <a:p>
          <a:endParaRPr lang="en-US"/>
        </a:p>
      </dgm:t>
    </dgm:pt>
    <dgm:pt modelId="{DC98C136-B02E-4852-8050-E20E62C91DA4}">
      <dgm:prSet/>
      <dgm:spPr/>
      <dgm:t>
        <a:bodyPr/>
        <a:lstStyle/>
        <a:p>
          <a:r>
            <a:rPr lang="en-US"/>
            <a:t>qf(.95,df1=1,df2=398)= 3.864929</a:t>
          </a:r>
        </a:p>
      </dgm:t>
    </dgm:pt>
    <dgm:pt modelId="{34C946B1-C151-4146-9367-9F6F9576AEF1}" type="parTrans" cxnId="{798D51DB-B704-47E7-A116-D113A7A5B907}">
      <dgm:prSet/>
      <dgm:spPr/>
      <dgm:t>
        <a:bodyPr/>
        <a:lstStyle/>
        <a:p>
          <a:endParaRPr lang="en-US"/>
        </a:p>
      </dgm:t>
    </dgm:pt>
    <dgm:pt modelId="{EB774D25-B222-4985-9755-8396C445EAFD}" type="sibTrans" cxnId="{798D51DB-B704-47E7-A116-D113A7A5B907}">
      <dgm:prSet/>
      <dgm:spPr/>
      <dgm:t>
        <a:bodyPr/>
        <a:lstStyle/>
        <a:p>
          <a:endParaRPr lang="en-US"/>
        </a:p>
      </dgm:t>
    </dgm:pt>
    <dgm:pt modelId="{7969798C-5C2B-6C4D-9CFF-728BC1ECBC7F}" type="pres">
      <dgm:prSet presAssocID="{EC918E65-6F2B-4794-A7F9-92AAA8CE912F}" presName="Name0" presStyleCnt="0">
        <dgm:presLayoutVars>
          <dgm:dir/>
          <dgm:resizeHandles val="exact"/>
        </dgm:presLayoutVars>
      </dgm:prSet>
      <dgm:spPr/>
    </dgm:pt>
    <dgm:pt modelId="{A9086019-4C75-A046-B0C0-57C689D22DED}" type="pres">
      <dgm:prSet presAssocID="{A290D8D7-406C-4751-8E28-F61B3EF18525}" presName="node" presStyleLbl="node1" presStyleIdx="0" presStyleCnt="7">
        <dgm:presLayoutVars>
          <dgm:bulletEnabled val="1"/>
        </dgm:presLayoutVars>
      </dgm:prSet>
      <dgm:spPr/>
    </dgm:pt>
    <dgm:pt modelId="{E4EB2043-2D6C-B44F-B3FF-033497CBDF23}" type="pres">
      <dgm:prSet presAssocID="{4D020628-061C-45BC-9AD5-57407E6A6F1C}" presName="sibTrans" presStyleLbl="sibTrans1D1" presStyleIdx="0" presStyleCnt="6"/>
      <dgm:spPr/>
    </dgm:pt>
    <dgm:pt modelId="{34DF66A3-91FF-394F-B6CC-68699D7DA0C1}" type="pres">
      <dgm:prSet presAssocID="{4D020628-061C-45BC-9AD5-57407E6A6F1C}" presName="connectorText" presStyleLbl="sibTrans1D1" presStyleIdx="0" presStyleCnt="6"/>
      <dgm:spPr/>
    </dgm:pt>
    <dgm:pt modelId="{1856D809-3565-0146-B904-5BE9D74EA4AF}" type="pres">
      <dgm:prSet presAssocID="{D2CE0FD8-9421-41B4-827E-2F551EF8B264}" presName="node" presStyleLbl="node1" presStyleIdx="1" presStyleCnt="7">
        <dgm:presLayoutVars>
          <dgm:bulletEnabled val="1"/>
        </dgm:presLayoutVars>
      </dgm:prSet>
      <dgm:spPr/>
    </dgm:pt>
    <dgm:pt modelId="{182F03A8-D268-0545-80CD-8422A7ED92A5}" type="pres">
      <dgm:prSet presAssocID="{C5707F18-5EFD-4870-8584-ECD962110420}" presName="sibTrans" presStyleLbl="sibTrans1D1" presStyleIdx="1" presStyleCnt="6"/>
      <dgm:spPr/>
    </dgm:pt>
    <dgm:pt modelId="{9C03E40C-567D-EC41-9C18-C82F0653E166}" type="pres">
      <dgm:prSet presAssocID="{C5707F18-5EFD-4870-8584-ECD962110420}" presName="connectorText" presStyleLbl="sibTrans1D1" presStyleIdx="1" presStyleCnt="6"/>
      <dgm:spPr/>
    </dgm:pt>
    <dgm:pt modelId="{8BEF472B-2413-CC4F-AB29-CA9CCFB02AC9}" type="pres">
      <dgm:prSet presAssocID="{E3E6AF2B-6988-4593-B0A1-34497C7AB93F}" presName="node" presStyleLbl="node1" presStyleIdx="2" presStyleCnt="7">
        <dgm:presLayoutVars>
          <dgm:bulletEnabled val="1"/>
        </dgm:presLayoutVars>
      </dgm:prSet>
      <dgm:spPr/>
    </dgm:pt>
    <dgm:pt modelId="{87809379-DB53-B24E-B6FC-C4C28D900063}" type="pres">
      <dgm:prSet presAssocID="{AB4EE26A-6B27-4B98-991B-F43271B82A29}" presName="sibTrans" presStyleLbl="sibTrans1D1" presStyleIdx="2" presStyleCnt="6"/>
      <dgm:spPr/>
    </dgm:pt>
    <dgm:pt modelId="{87F9AC15-E01B-CC4C-BC30-4ECF6253CE2C}" type="pres">
      <dgm:prSet presAssocID="{AB4EE26A-6B27-4B98-991B-F43271B82A29}" presName="connectorText" presStyleLbl="sibTrans1D1" presStyleIdx="2" presStyleCnt="6"/>
      <dgm:spPr/>
    </dgm:pt>
    <dgm:pt modelId="{44D3C54A-D74F-E344-A3AE-DFF1E111BD4E}" type="pres">
      <dgm:prSet presAssocID="{826F1BFF-D6FC-4D2B-B0A7-CF8C23040190}" presName="node" presStyleLbl="node1" presStyleIdx="3" presStyleCnt="7">
        <dgm:presLayoutVars>
          <dgm:bulletEnabled val="1"/>
        </dgm:presLayoutVars>
      </dgm:prSet>
      <dgm:spPr/>
    </dgm:pt>
    <dgm:pt modelId="{7ED0F1CF-4B7A-434C-8218-7968BF944826}" type="pres">
      <dgm:prSet presAssocID="{F21D2DE8-D37F-42B9-B64B-C0CE1D19EF75}" presName="sibTrans" presStyleLbl="sibTrans1D1" presStyleIdx="3" presStyleCnt="6"/>
      <dgm:spPr/>
    </dgm:pt>
    <dgm:pt modelId="{19715663-8A1A-3B4F-A332-9E3BBE782240}" type="pres">
      <dgm:prSet presAssocID="{F21D2DE8-D37F-42B9-B64B-C0CE1D19EF75}" presName="connectorText" presStyleLbl="sibTrans1D1" presStyleIdx="3" presStyleCnt="6"/>
      <dgm:spPr/>
    </dgm:pt>
    <dgm:pt modelId="{BCEA3497-4D48-D14D-BA4E-2797D102B1A8}" type="pres">
      <dgm:prSet presAssocID="{2954A55D-150D-4C2C-A6B2-E4E9855948E8}" presName="node" presStyleLbl="node1" presStyleIdx="4" presStyleCnt="7">
        <dgm:presLayoutVars>
          <dgm:bulletEnabled val="1"/>
        </dgm:presLayoutVars>
      </dgm:prSet>
      <dgm:spPr/>
    </dgm:pt>
    <dgm:pt modelId="{6D7E7E61-6731-A74E-85A7-0255DB481F6A}" type="pres">
      <dgm:prSet presAssocID="{F1715C9C-2CAF-4729-A3A7-D616D248C91F}" presName="sibTrans" presStyleLbl="sibTrans1D1" presStyleIdx="4" presStyleCnt="6"/>
      <dgm:spPr/>
    </dgm:pt>
    <dgm:pt modelId="{9714AED8-6800-E541-9E69-7FAB5D4FDCA0}" type="pres">
      <dgm:prSet presAssocID="{F1715C9C-2CAF-4729-A3A7-D616D248C91F}" presName="connectorText" presStyleLbl="sibTrans1D1" presStyleIdx="4" presStyleCnt="6"/>
      <dgm:spPr/>
    </dgm:pt>
    <dgm:pt modelId="{5F0AE688-D8C3-BE4D-89E8-3B2C7433EC3D}" type="pres">
      <dgm:prSet presAssocID="{0D1BD6DA-144E-4FE2-B01B-89991F7813DA}" presName="node" presStyleLbl="node1" presStyleIdx="5" presStyleCnt="7">
        <dgm:presLayoutVars>
          <dgm:bulletEnabled val="1"/>
        </dgm:presLayoutVars>
      </dgm:prSet>
      <dgm:spPr/>
    </dgm:pt>
    <dgm:pt modelId="{7BFC8C86-1BC7-5B44-A872-51F32C929F34}" type="pres">
      <dgm:prSet presAssocID="{5D161BA2-C285-4D5A-AA28-6FF838B065D9}" presName="sibTrans" presStyleLbl="sibTrans1D1" presStyleIdx="5" presStyleCnt="6"/>
      <dgm:spPr/>
    </dgm:pt>
    <dgm:pt modelId="{B8457664-5678-6948-A677-45BD6B0F77EE}" type="pres">
      <dgm:prSet presAssocID="{5D161BA2-C285-4D5A-AA28-6FF838B065D9}" presName="connectorText" presStyleLbl="sibTrans1D1" presStyleIdx="5" presStyleCnt="6"/>
      <dgm:spPr/>
    </dgm:pt>
    <dgm:pt modelId="{98BC201A-77C8-3A4A-A832-1618087C60C2}" type="pres">
      <dgm:prSet presAssocID="{DC98C136-B02E-4852-8050-E20E62C91DA4}" presName="node" presStyleLbl="node1" presStyleIdx="6" presStyleCnt="7">
        <dgm:presLayoutVars>
          <dgm:bulletEnabled val="1"/>
        </dgm:presLayoutVars>
      </dgm:prSet>
      <dgm:spPr/>
    </dgm:pt>
  </dgm:ptLst>
  <dgm:cxnLst>
    <dgm:cxn modelId="{E43B7405-5E22-2248-B78C-BC431CD9293B}" type="presOf" srcId="{0D1BD6DA-144E-4FE2-B01B-89991F7813DA}" destId="{5F0AE688-D8C3-BE4D-89E8-3B2C7433EC3D}" srcOrd="0" destOrd="0" presId="urn:microsoft.com/office/officeart/2016/7/layout/RepeatingBendingProcessNew"/>
    <dgm:cxn modelId="{14816406-C33F-B24A-B05D-57675D6EDBAF}" type="presOf" srcId="{C5707F18-5EFD-4870-8584-ECD962110420}" destId="{182F03A8-D268-0545-80CD-8422A7ED92A5}" srcOrd="0" destOrd="0" presId="urn:microsoft.com/office/officeart/2016/7/layout/RepeatingBendingProcessNew"/>
    <dgm:cxn modelId="{CC35200A-97A4-1E4C-A24C-FBC08D986B14}" type="presOf" srcId="{F21D2DE8-D37F-42B9-B64B-C0CE1D19EF75}" destId="{19715663-8A1A-3B4F-A332-9E3BBE782240}" srcOrd="1" destOrd="0" presId="urn:microsoft.com/office/officeart/2016/7/layout/RepeatingBendingProcessNew"/>
    <dgm:cxn modelId="{A0D4DB10-288D-4E42-A5C2-B26E724C5210}" type="presOf" srcId="{4D020628-061C-45BC-9AD5-57407E6A6F1C}" destId="{E4EB2043-2D6C-B44F-B3FF-033497CBDF23}" srcOrd="0" destOrd="0" presId="urn:microsoft.com/office/officeart/2016/7/layout/RepeatingBendingProcessNew"/>
    <dgm:cxn modelId="{F95DED12-B41A-3540-B0CF-EE34959FE9B7}" type="presOf" srcId="{5D161BA2-C285-4D5A-AA28-6FF838B065D9}" destId="{7BFC8C86-1BC7-5B44-A872-51F32C929F34}" srcOrd="0" destOrd="0" presId="urn:microsoft.com/office/officeart/2016/7/layout/RepeatingBendingProcessNew"/>
    <dgm:cxn modelId="{5D210A1C-382E-4935-A58F-02D1094CCCDB}" srcId="{EC918E65-6F2B-4794-A7F9-92AAA8CE912F}" destId="{E3E6AF2B-6988-4593-B0A1-34497C7AB93F}" srcOrd="2" destOrd="0" parTransId="{D4137BE7-C273-409B-BA31-057E34DE5017}" sibTransId="{AB4EE26A-6B27-4B98-991B-F43271B82A29}"/>
    <dgm:cxn modelId="{C595301C-5B8E-D948-8B09-943CD1F28298}" type="presOf" srcId="{E3E6AF2B-6988-4593-B0A1-34497C7AB93F}" destId="{8BEF472B-2413-CC4F-AB29-CA9CCFB02AC9}" srcOrd="0" destOrd="0" presId="urn:microsoft.com/office/officeart/2016/7/layout/RepeatingBendingProcessNew"/>
    <dgm:cxn modelId="{706A3527-F6D0-1D4A-9584-685A5BA8EE7F}" type="presOf" srcId="{F21D2DE8-D37F-42B9-B64B-C0CE1D19EF75}" destId="{7ED0F1CF-4B7A-434C-8218-7968BF944826}" srcOrd="0" destOrd="0" presId="urn:microsoft.com/office/officeart/2016/7/layout/RepeatingBendingProcessNew"/>
    <dgm:cxn modelId="{E8CF1A2C-19D0-914F-89E7-9138F5472289}" type="presOf" srcId="{5D161BA2-C285-4D5A-AA28-6FF838B065D9}" destId="{B8457664-5678-6948-A677-45BD6B0F77EE}" srcOrd="1" destOrd="0" presId="urn:microsoft.com/office/officeart/2016/7/layout/RepeatingBendingProcessNew"/>
    <dgm:cxn modelId="{9E61DD4C-D7E7-0049-A952-55E785F81E15}" type="presOf" srcId="{A290D8D7-406C-4751-8E28-F61B3EF18525}" destId="{A9086019-4C75-A046-B0C0-57C689D22DED}" srcOrd="0" destOrd="0" presId="urn:microsoft.com/office/officeart/2016/7/layout/RepeatingBendingProcessNew"/>
    <dgm:cxn modelId="{3A63F24C-391D-8A49-BDBC-2652C8C6E088}" type="presOf" srcId="{F1715C9C-2CAF-4729-A3A7-D616D248C91F}" destId="{9714AED8-6800-E541-9E69-7FAB5D4FDCA0}" srcOrd="1" destOrd="0" presId="urn:microsoft.com/office/officeart/2016/7/layout/RepeatingBendingProcessNew"/>
    <dgm:cxn modelId="{88BE856C-142B-3E45-BDD1-908EE0056225}" type="presOf" srcId="{826F1BFF-D6FC-4D2B-B0A7-CF8C23040190}" destId="{44D3C54A-D74F-E344-A3AE-DFF1E111BD4E}" srcOrd="0" destOrd="0" presId="urn:microsoft.com/office/officeart/2016/7/layout/RepeatingBendingProcessNew"/>
    <dgm:cxn modelId="{689AED77-8A15-C745-BA1A-15B7C257848A}" type="presOf" srcId="{D2CE0FD8-9421-41B4-827E-2F551EF8B264}" destId="{1856D809-3565-0146-B904-5BE9D74EA4AF}" srcOrd="0" destOrd="0" presId="urn:microsoft.com/office/officeart/2016/7/layout/RepeatingBendingProcessNew"/>
    <dgm:cxn modelId="{12D33578-D684-4805-963C-71DF1F77D836}" srcId="{EC918E65-6F2B-4794-A7F9-92AAA8CE912F}" destId="{2954A55D-150D-4C2C-A6B2-E4E9855948E8}" srcOrd="4" destOrd="0" parTransId="{7E0FBF5C-B472-41F3-80A5-CFF5295D4CE4}" sibTransId="{F1715C9C-2CAF-4729-A3A7-D616D248C91F}"/>
    <dgm:cxn modelId="{56B15490-6883-2E47-A07A-F259AF36FA6A}" type="presOf" srcId="{AB4EE26A-6B27-4B98-991B-F43271B82A29}" destId="{87F9AC15-E01B-CC4C-BC30-4ECF6253CE2C}" srcOrd="1" destOrd="0" presId="urn:microsoft.com/office/officeart/2016/7/layout/RepeatingBendingProcessNew"/>
    <dgm:cxn modelId="{21A3E798-61B7-A142-A51B-EDA7F37D93A8}" type="presOf" srcId="{F1715C9C-2CAF-4729-A3A7-D616D248C91F}" destId="{6D7E7E61-6731-A74E-85A7-0255DB481F6A}" srcOrd="0" destOrd="0" presId="urn:microsoft.com/office/officeart/2016/7/layout/RepeatingBendingProcessNew"/>
    <dgm:cxn modelId="{6F4FDCA9-8BA5-754A-B342-60ED43C08D66}" type="presOf" srcId="{4D020628-061C-45BC-9AD5-57407E6A6F1C}" destId="{34DF66A3-91FF-394F-B6CC-68699D7DA0C1}" srcOrd="1" destOrd="0" presId="urn:microsoft.com/office/officeart/2016/7/layout/RepeatingBendingProcessNew"/>
    <dgm:cxn modelId="{8E4246B3-19C3-44B1-8E2C-E2998BADA59D}" srcId="{EC918E65-6F2B-4794-A7F9-92AAA8CE912F}" destId="{0D1BD6DA-144E-4FE2-B01B-89991F7813DA}" srcOrd="5" destOrd="0" parTransId="{96298DF7-CC56-4B12-9EC3-DCB8899E4346}" sibTransId="{5D161BA2-C285-4D5A-AA28-6FF838B065D9}"/>
    <dgm:cxn modelId="{E7F608BC-4C1A-3540-9E57-257AC949D6FF}" type="presOf" srcId="{AB4EE26A-6B27-4B98-991B-F43271B82A29}" destId="{87809379-DB53-B24E-B6FC-C4C28D900063}" srcOrd="0" destOrd="0" presId="urn:microsoft.com/office/officeart/2016/7/layout/RepeatingBendingProcessNew"/>
    <dgm:cxn modelId="{14E06FD1-486A-5C47-9812-AF3B50069226}" type="presOf" srcId="{DC98C136-B02E-4852-8050-E20E62C91DA4}" destId="{98BC201A-77C8-3A4A-A832-1618087C60C2}" srcOrd="0" destOrd="0" presId="urn:microsoft.com/office/officeart/2016/7/layout/RepeatingBendingProcessNew"/>
    <dgm:cxn modelId="{127A56D3-CC33-4880-B1B6-AD033E212E36}" srcId="{EC918E65-6F2B-4794-A7F9-92AAA8CE912F}" destId="{A290D8D7-406C-4751-8E28-F61B3EF18525}" srcOrd="0" destOrd="0" parTransId="{E219FC85-2E4B-44C8-8BE7-0011717910F1}" sibTransId="{4D020628-061C-45BC-9AD5-57407E6A6F1C}"/>
    <dgm:cxn modelId="{94EC67D6-B152-4F12-97F0-9297790E62F4}" srcId="{EC918E65-6F2B-4794-A7F9-92AAA8CE912F}" destId="{826F1BFF-D6FC-4D2B-B0A7-CF8C23040190}" srcOrd="3" destOrd="0" parTransId="{3161BC14-52BD-444E-B49C-81C21494A7B6}" sibTransId="{F21D2DE8-D37F-42B9-B64B-C0CE1D19EF75}"/>
    <dgm:cxn modelId="{798D51DB-B704-47E7-A116-D113A7A5B907}" srcId="{EC918E65-6F2B-4794-A7F9-92AAA8CE912F}" destId="{DC98C136-B02E-4852-8050-E20E62C91DA4}" srcOrd="6" destOrd="0" parTransId="{34C946B1-C151-4146-9367-9F6F9576AEF1}" sibTransId="{EB774D25-B222-4985-9755-8396C445EAFD}"/>
    <dgm:cxn modelId="{82CBF3E0-6708-0941-ADC1-716FF04A3272}" type="presOf" srcId="{EC918E65-6F2B-4794-A7F9-92AAA8CE912F}" destId="{7969798C-5C2B-6C4D-9CFF-728BC1ECBC7F}" srcOrd="0" destOrd="0" presId="urn:microsoft.com/office/officeart/2016/7/layout/RepeatingBendingProcessNew"/>
    <dgm:cxn modelId="{8BED35E8-F8CC-F94D-AA6A-A2EB39285318}" type="presOf" srcId="{2954A55D-150D-4C2C-A6B2-E4E9855948E8}" destId="{BCEA3497-4D48-D14D-BA4E-2797D102B1A8}" srcOrd="0" destOrd="0" presId="urn:microsoft.com/office/officeart/2016/7/layout/RepeatingBendingProcessNew"/>
    <dgm:cxn modelId="{F55F50EB-5596-4112-AD3D-E9D86E996CC6}" srcId="{EC918E65-6F2B-4794-A7F9-92AAA8CE912F}" destId="{D2CE0FD8-9421-41B4-827E-2F551EF8B264}" srcOrd="1" destOrd="0" parTransId="{411CC9CA-A3DC-45B1-A805-F7B447CE540E}" sibTransId="{C5707F18-5EFD-4870-8584-ECD962110420}"/>
    <dgm:cxn modelId="{F07BDAF7-973D-D440-B9DD-66758AF5C213}" type="presOf" srcId="{C5707F18-5EFD-4870-8584-ECD962110420}" destId="{9C03E40C-567D-EC41-9C18-C82F0653E166}" srcOrd="1" destOrd="0" presId="urn:microsoft.com/office/officeart/2016/7/layout/RepeatingBendingProcessNew"/>
    <dgm:cxn modelId="{85E7B60C-B527-1F46-BC60-7D3124F4F140}" type="presParOf" srcId="{7969798C-5C2B-6C4D-9CFF-728BC1ECBC7F}" destId="{A9086019-4C75-A046-B0C0-57C689D22DED}" srcOrd="0" destOrd="0" presId="urn:microsoft.com/office/officeart/2016/7/layout/RepeatingBendingProcessNew"/>
    <dgm:cxn modelId="{C5A02CB3-D081-4C41-9831-C132A7302FD1}" type="presParOf" srcId="{7969798C-5C2B-6C4D-9CFF-728BC1ECBC7F}" destId="{E4EB2043-2D6C-B44F-B3FF-033497CBDF23}" srcOrd="1" destOrd="0" presId="urn:microsoft.com/office/officeart/2016/7/layout/RepeatingBendingProcessNew"/>
    <dgm:cxn modelId="{6EE476A3-9BCF-5E4A-A225-E5B2F53FA7EC}" type="presParOf" srcId="{E4EB2043-2D6C-B44F-B3FF-033497CBDF23}" destId="{34DF66A3-91FF-394F-B6CC-68699D7DA0C1}" srcOrd="0" destOrd="0" presId="urn:microsoft.com/office/officeart/2016/7/layout/RepeatingBendingProcessNew"/>
    <dgm:cxn modelId="{6392A099-83F5-4C49-AF39-C4F512A3C510}" type="presParOf" srcId="{7969798C-5C2B-6C4D-9CFF-728BC1ECBC7F}" destId="{1856D809-3565-0146-B904-5BE9D74EA4AF}" srcOrd="2" destOrd="0" presId="urn:microsoft.com/office/officeart/2016/7/layout/RepeatingBendingProcessNew"/>
    <dgm:cxn modelId="{5017202C-034D-3D4E-84A5-BAD9FE02F500}" type="presParOf" srcId="{7969798C-5C2B-6C4D-9CFF-728BC1ECBC7F}" destId="{182F03A8-D268-0545-80CD-8422A7ED92A5}" srcOrd="3" destOrd="0" presId="urn:microsoft.com/office/officeart/2016/7/layout/RepeatingBendingProcessNew"/>
    <dgm:cxn modelId="{657B5C15-5B75-8449-95DC-41E0F65BA88C}" type="presParOf" srcId="{182F03A8-D268-0545-80CD-8422A7ED92A5}" destId="{9C03E40C-567D-EC41-9C18-C82F0653E166}" srcOrd="0" destOrd="0" presId="urn:microsoft.com/office/officeart/2016/7/layout/RepeatingBendingProcessNew"/>
    <dgm:cxn modelId="{21B17AF5-8D15-E14B-9926-0818FB27398B}" type="presParOf" srcId="{7969798C-5C2B-6C4D-9CFF-728BC1ECBC7F}" destId="{8BEF472B-2413-CC4F-AB29-CA9CCFB02AC9}" srcOrd="4" destOrd="0" presId="urn:microsoft.com/office/officeart/2016/7/layout/RepeatingBendingProcessNew"/>
    <dgm:cxn modelId="{600C26A7-B14C-C940-9ACB-575A42041FAE}" type="presParOf" srcId="{7969798C-5C2B-6C4D-9CFF-728BC1ECBC7F}" destId="{87809379-DB53-B24E-B6FC-C4C28D900063}" srcOrd="5" destOrd="0" presId="urn:microsoft.com/office/officeart/2016/7/layout/RepeatingBendingProcessNew"/>
    <dgm:cxn modelId="{A2C22340-4871-7D4F-BF03-BA2FE763CBEE}" type="presParOf" srcId="{87809379-DB53-B24E-B6FC-C4C28D900063}" destId="{87F9AC15-E01B-CC4C-BC30-4ECF6253CE2C}" srcOrd="0" destOrd="0" presId="urn:microsoft.com/office/officeart/2016/7/layout/RepeatingBendingProcessNew"/>
    <dgm:cxn modelId="{FB9B1082-8993-1144-8D75-516B32AB44B1}" type="presParOf" srcId="{7969798C-5C2B-6C4D-9CFF-728BC1ECBC7F}" destId="{44D3C54A-D74F-E344-A3AE-DFF1E111BD4E}" srcOrd="6" destOrd="0" presId="urn:microsoft.com/office/officeart/2016/7/layout/RepeatingBendingProcessNew"/>
    <dgm:cxn modelId="{0FB42E07-7E08-D54A-81A0-62BC9E5BC964}" type="presParOf" srcId="{7969798C-5C2B-6C4D-9CFF-728BC1ECBC7F}" destId="{7ED0F1CF-4B7A-434C-8218-7968BF944826}" srcOrd="7" destOrd="0" presId="urn:microsoft.com/office/officeart/2016/7/layout/RepeatingBendingProcessNew"/>
    <dgm:cxn modelId="{5146E987-A8C5-0847-B00C-B8214159EE03}" type="presParOf" srcId="{7ED0F1CF-4B7A-434C-8218-7968BF944826}" destId="{19715663-8A1A-3B4F-A332-9E3BBE782240}" srcOrd="0" destOrd="0" presId="urn:microsoft.com/office/officeart/2016/7/layout/RepeatingBendingProcessNew"/>
    <dgm:cxn modelId="{B8B226CE-8C45-8442-AB09-01721F7B28BA}" type="presParOf" srcId="{7969798C-5C2B-6C4D-9CFF-728BC1ECBC7F}" destId="{BCEA3497-4D48-D14D-BA4E-2797D102B1A8}" srcOrd="8" destOrd="0" presId="urn:microsoft.com/office/officeart/2016/7/layout/RepeatingBendingProcessNew"/>
    <dgm:cxn modelId="{2C08F19E-6686-6146-8B29-B0243B666AFF}" type="presParOf" srcId="{7969798C-5C2B-6C4D-9CFF-728BC1ECBC7F}" destId="{6D7E7E61-6731-A74E-85A7-0255DB481F6A}" srcOrd="9" destOrd="0" presId="urn:microsoft.com/office/officeart/2016/7/layout/RepeatingBendingProcessNew"/>
    <dgm:cxn modelId="{F1380EB1-73CC-C142-9E58-AF86CB1CE101}" type="presParOf" srcId="{6D7E7E61-6731-A74E-85A7-0255DB481F6A}" destId="{9714AED8-6800-E541-9E69-7FAB5D4FDCA0}" srcOrd="0" destOrd="0" presId="urn:microsoft.com/office/officeart/2016/7/layout/RepeatingBendingProcessNew"/>
    <dgm:cxn modelId="{FEF83420-D0FD-5D4F-B93D-97BF886934AD}" type="presParOf" srcId="{7969798C-5C2B-6C4D-9CFF-728BC1ECBC7F}" destId="{5F0AE688-D8C3-BE4D-89E8-3B2C7433EC3D}" srcOrd="10" destOrd="0" presId="urn:microsoft.com/office/officeart/2016/7/layout/RepeatingBendingProcessNew"/>
    <dgm:cxn modelId="{AC3ACD67-3652-964E-811C-919E16E97CA8}" type="presParOf" srcId="{7969798C-5C2B-6C4D-9CFF-728BC1ECBC7F}" destId="{7BFC8C86-1BC7-5B44-A872-51F32C929F34}" srcOrd="11" destOrd="0" presId="urn:microsoft.com/office/officeart/2016/7/layout/RepeatingBendingProcessNew"/>
    <dgm:cxn modelId="{CC0079FA-E616-6A45-8BBD-A93F72A84790}" type="presParOf" srcId="{7BFC8C86-1BC7-5B44-A872-51F32C929F34}" destId="{B8457664-5678-6948-A677-45BD6B0F77EE}" srcOrd="0" destOrd="0" presId="urn:microsoft.com/office/officeart/2016/7/layout/RepeatingBendingProcessNew"/>
    <dgm:cxn modelId="{CEFD5ADB-808B-574A-A139-3925536D8FA0}" type="presParOf" srcId="{7969798C-5C2B-6C4D-9CFF-728BC1ECBC7F}" destId="{98BC201A-77C8-3A4A-A832-1618087C60C2}" srcOrd="12"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4343396D-790D-482B-AA7E-14DBEC4E3B24}"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32F9F28-51E1-46F4-A24E-A4AF73802F47}">
      <dgm:prSet/>
      <dgm:spPr/>
      <dgm:t>
        <a:bodyPr/>
        <a:lstStyle/>
        <a:p>
          <a:r>
            <a:rPr lang="en-US"/>
            <a:t>The F-statistic is calculated as the ratio of the mean squares for the regression and error terms, which are obtained from the ANOVA table. </a:t>
          </a:r>
        </a:p>
      </dgm:t>
    </dgm:pt>
    <dgm:pt modelId="{27D27FF5-694E-4C69-94E9-6369BE661EE9}" type="parTrans" cxnId="{DE8B8AB8-01B3-494F-A055-99368EEB3D90}">
      <dgm:prSet/>
      <dgm:spPr/>
      <dgm:t>
        <a:bodyPr/>
        <a:lstStyle/>
        <a:p>
          <a:endParaRPr lang="en-US"/>
        </a:p>
      </dgm:t>
    </dgm:pt>
    <dgm:pt modelId="{A6AE1B95-A468-49FF-9A25-A51C70EE9B3C}" type="sibTrans" cxnId="{DE8B8AB8-01B3-494F-A055-99368EEB3D90}">
      <dgm:prSet/>
      <dgm:spPr/>
      <dgm:t>
        <a:bodyPr/>
        <a:lstStyle/>
        <a:p>
          <a:endParaRPr lang="en-US"/>
        </a:p>
      </dgm:t>
    </dgm:pt>
    <dgm:pt modelId="{36D1CA6E-80C2-472E-B3F0-9D6B7906317A}">
      <dgm:prSet/>
      <dgm:spPr/>
      <dgm:t>
        <a:bodyPr/>
        <a:lstStyle/>
        <a:p>
          <a:r>
            <a:rPr lang="en-US"/>
            <a:t>Residual standard error: 0.08517 on 398 degrees of freedom</a:t>
          </a:r>
        </a:p>
      </dgm:t>
    </dgm:pt>
    <dgm:pt modelId="{8EDF071B-8BFF-4A7C-9338-3C471CBB6D9B}" type="parTrans" cxnId="{C396798D-D042-44F3-82FC-32A19CF23F80}">
      <dgm:prSet/>
      <dgm:spPr/>
      <dgm:t>
        <a:bodyPr/>
        <a:lstStyle/>
        <a:p>
          <a:endParaRPr lang="en-US"/>
        </a:p>
      </dgm:t>
    </dgm:pt>
    <dgm:pt modelId="{82E8A6F4-97C8-4D59-BE8D-BC3185EB556B}" type="sibTrans" cxnId="{C396798D-D042-44F3-82FC-32A19CF23F80}">
      <dgm:prSet/>
      <dgm:spPr/>
      <dgm:t>
        <a:bodyPr/>
        <a:lstStyle/>
        <a:p>
          <a:endParaRPr lang="en-US"/>
        </a:p>
      </dgm:t>
    </dgm:pt>
    <dgm:pt modelId="{8EF58339-28D4-41B5-8FA8-ACC127975B5E}">
      <dgm:prSet/>
      <dgm:spPr/>
      <dgm:t>
        <a:bodyPr/>
        <a:lstStyle/>
        <a:p>
          <a:r>
            <a:rPr lang="en-US"/>
            <a:t>Multiple R-squared:  0.6442,	Adjusted R-squared:  0.6433 </a:t>
          </a:r>
        </a:p>
      </dgm:t>
    </dgm:pt>
    <dgm:pt modelId="{1B361E45-DD1B-4F2D-AE7C-5CD300CD9126}" type="parTrans" cxnId="{67F252F9-A357-42BF-AB3C-69E93B27864B}">
      <dgm:prSet/>
      <dgm:spPr/>
      <dgm:t>
        <a:bodyPr/>
        <a:lstStyle/>
        <a:p>
          <a:endParaRPr lang="en-US"/>
        </a:p>
      </dgm:t>
    </dgm:pt>
    <dgm:pt modelId="{BD0B8FE3-C639-4C37-97E5-E73301FFFE93}" type="sibTrans" cxnId="{67F252F9-A357-42BF-AB3C-69E93B27864B}">
      <dgm:prSet/>
      <dgm:spPr/>
      <dgm:t>
        <a:bodyPr/>
        <a:lstStyle/>
        <a:p>
          <a:endParaRPr lang="en-US"/>
        </a:p>
      </dgm:t>
    </dgm:pt>
    <dgm:pt modelId="{C7450BD8-90F0-4B8F-B4DA-2ED8910D28A3}">
      <dgm:prSet/>
      <dgm:spPr/>
      <dgm:t>
        <a:bodyPr/>
        <a:lstStyle/>
        <a:p>
          <a:r>
            <a:rPr lang="en-US"/>
            <a:t>F-statistic: 720.6 on 1 and 398 DF,  p-value: &lt; 2.2e-16</a:t>
          </a:r>
        </a:p>
      </dgm:t>
    </dgm:pt>
    <dgm:pt modelId="{B5C6F235-F7FC-4999-A371-B2718D88FEF3}" type="parTrans" cxnId="{7D7399F5-05AC-4001-8FC8-822D1B0C89DE}">
      <dgm:prSet/>
      <dgm:spPr/>
      <dgm:t>
        <a:bodyPr/>
        <a:lstStyle/>
        <a:p>
          <a:endParaRPr lang="en-US"/>
        </a:p>
      </dgm:t>
    </dgm:pt>
    <dgm:pt modelId="{6BE8FA4F-1306-495C-B1C6-AF325BE793DB}" type="sibTrans" cxnId="{7D7399F5-05AC-4001-8FC8-822D1B0C89DE}">
      <dgm:prSet/>
      <dgm:spPr/>
      <dgm:t>
        <a:bodyPr/>
        <a:lstStyle/>
        <a:p>
          <a:endParaRPr lang="en-US"/>
        </a:p>
      </dgm:t>
    </dgm:pt>
    <dgm:pt modelId="{FA612A3C-1C48-4C4E-A39A-3F928251C6B5}" type="pres">
      <dgm:prSet presAssocID="{4343396D-790D-482B-AA7E-14DBEC4E3B24}" presName="vert0" presStyleCnt="0">
        <dgm:presLayoutVars>
          <dgm:dir/>
          <dgm:animOne val="branch"/>
          <dgm:animLvl val="lvl"/>
        </dgm:presLayoutVars>
      </dgm:prSet>
      <dgm:spPr/>
    </dgm:pt>
    <dgm:pt modelId="{F6151B79-83BB-434C-B110-79D49AE6EB40}" type="pres">
      <dgm:prSet presAssocID="{532F9F28-51E1-46F4-A24E-A4AF73802F47}" presName="thickLine" presStyleLbl="alignNode1" presStyleIdx="0" presStyleCnt="4"/>
      <dgm:spPr/>
    </dgm:pt>
    <dgm:pt modelId="{02914B7A-9726-094E-8826-3D8D718F0EF6}" type="pres">
      <dgm:prSet presAssocID="{532F9F28-51E1-46F4-A24E-A4AF73802F47}" presName="horz1" presStyleCnt="0"/>
      <dgm:spPr/>
    </dgm:pt>
    <dgm:pt modelId="{1397B014-EBD2-5F40-979D-88B12C057901}" type="pres">
      <dgm:prSet presAssocID="{532F9F28-51E1-46F4-A24E-A4AF73802F47}" presName="tx1" presStyleLbl="revTx" presStyleIdx="0" presStyleCnt="4"/>
      <dgm:spPr/>
    </dgm:pt>
    <dgm:pt modelId="{23ABF1B6-69A8-7349-9C43-B70A73DAF499}" type="pres">
      <dgm:prSet presAssocID="{532F9F28-51E1-46F4-A24E-A4AF73802F47}" presName="vert1" presStyleCnt="0"/>
      <dgm:spPr/>
    </dgm:pt>
    <dgm:pt modelId="{8F7D944F-8BA9-1243-BB4B-C312DC99E024}" type="pres">
      <dgm:prSet presAssocID="{36D1CA6E-80C2-472E-B3F0-9D6B7906317A}" presName="thickLine" presStyleLbl="alignNode1" presStyleIdx="1" presStyleCnt="4"/>
      <dgm:spPr/>
    </dgm:pt>
    <dgm:pt modelId="{2CA7FB1E-059C-BA4F-B0E5-D3A36E4D9C73}" type="pres">
      <dgm:prSet presAssocID="{36D1CA6E-80C2-472E-B3F0-9D6B7906317A}" presName="horz1" presStyleCnt="0"/>
      <dgm:spPr/>
    </dgm:pt>
    <dgm:pt modelId="{58649A1B-589E-EB47-8CE8-25D868C13528}" type="pres">
      <dgm:prSet presAssocID="{36D1CA6E-80C2-472E-B3F0-9D6B7906317A}" presName="tx1" presStyleLbl="revTx" presStyleIdx="1" presStyleCnt="4"/>
      <dgm:spPr/>
    </dgm:pt>
    <dgm:pt modelId="{AC54632E-8765-BE4D-B66C-FD1062F96023}" type="pres">
      <dgm:prSet presAssocID="{36D1CA6E-80C2-472E-B3F0-9D6B7906317A}" presName="vert1" presStyleCnt="0"/>
      <dgm:spPr/>
    </dgm:pt>
    <dgm:pt modelId="{0C6164C3-ED9D-F848-BFDA-336A8C85D6D8}" type="pres">
      <dgm:prSet presAssocID="{8EF58339-28D4-41B5-8FA8-ACC127975B5E}" presName="thickLine" presStyleLbl="alignNode1" presStyleIdx="2" presStyleCnt="4"/>
      <dgm:spPr/>
    </dgm:pt>
    <dgm:pt modelId="{696403AA-C25F-5E40-B67E-3AA19B062D2A}" type="pres">
      <dgm:prSet presAssocID="{8EF58339-28D4-41B5-8FA8-ACC127975B5E}" presName="horz1" presStyleCnt="0"/>
      <dgm:spPr/>
    </dgm:pt>
    <dgm:pt modelId="{780A2C2E-FE56-BA48-A5ED-81DCB8B8473F}" type="pres">
      <dgm:prSet presAssocID="{8EF58339-28D4-41B5-8FA8-ACC127975B5E}" presName="tx1" presStyleLbl="revTx" presStyleIdx="2" presStyleCnt="4"/>
      <dgm:spPr/>
    </dgm:pt>
    <dgm:pt modelId="{1883C08C-859F-9742-B4F2-C9FFF69CC2F5}" type="pres">
      <dgm:prSet presAssocID="{8EF58339-28D4-41B5-8FA8-ACC127975B5E}" presName="vert1" presStyleCnt="0"/>
      <dgm:spPr/>
    </dgm:pt>
    <dgm:pt modelId="{15000D4D-E546-ED4C-B7EF-F7C8A9224F88}" type="pres">
      <dgm:prSet presAssocID="{C7450BD8-90F0-4B8F-B4DA-2ED8910D28A3}" presName="thickLine" presStyleLbl="alignNode1" presStyleIdx="3" presStyleCnt="4"/>
      <dgm:spPr/>
    </dgm:pt>
    <dgm:pt modelId="{789E7ABA-A73A-5844-AD4F-FE0F3DAB4597}" type="pres">
      <dgm:prSet presAssocID="{C7450BD8-90F0-4B8F-B4DA-2ED8910D28A3}" presName="horz1" presStyleCnt="0"/>
      <dgm:spPr/>
    </dgm:pt>
    <dgm:pt modelId="{2D1ED998-A58B-C945-81F9-64870A21929B}" type="pres">
      <dgm:prSet presAssocID="{C7450BD8-90F0-4B8F-B4DA-2ED8910D28A3}" presName="tx1" presStyleLbl="revTx" presStyleIdx="3" presStyleCnt="4"/>
      <dgm:spPr/>
    </dgm:pt>
    <dgm:pt modelId="{0F5B049E-2858-9447-92A7-1A8CFEA71B54}" type="pres">
      <dgm:prSet presAssocID="{C7450BD8-90F0-4B8F-B4DA-2ED8910D28A3}" presName="vert1" presStyleCnt="0"/>
      <dgm:spPr/>
    </dgm:pt>
  </dgm:ptLst>
  <dgm:cxnLst>
    <dgm:cxn modelId="{466BE51A-7AFA-F944-8DBC-55592920661E}" type="presOf" srcId="{8EF58339-28D4-41B5-8FA8-ACC127975B5E}" destId="{780A2C2E-FE56-BA48-A5ED-81DCB8B8473F}" srcOrd="0" destOrd="0" presId="urn:microsoft.com/office/officeart/2008/layout/LinedList"/>
    <dgm:cxn modelId="{0A8DAE3F-2660-A046-A550-A7E62E34D579}" type="presOf" srcId="{36D1CA6E-80C2-472E-B3F0-9D6B7906317A}" destId="{58649A1B-589E-EB47-8CE8-25D868C13528}" srcOrd="0" destOrd="0" presId="urn:microsoft.com/office/officeart/2008/layout/LinedList"/>
    <dgm:cxn modelId="{C396798D-D042-44F3-82FC-32A19CF23F80}" srcId="{4343396D-790D-482B-AA7E-14DBEC4E3B24}" destId="{36D1CA6E-80C2-472E-B3F0-9D6B7906317A}" srcOrd="1" destOrd="0" parTransId="{8EDF071B-8BFF-4A7C-9338-3C471CBB6D9B}" sibTransId="{82E8A6F4-97C8-4D59-BE8D-BC3185EB556B}"/>
    <dgm:cxn modelId="{A6E0BBA9-A2F1-0C4C-8EDF-E3B9F6979001}" type="presOf" srcId="{4343396D-790D-482B-AA7E-14DBEC4E3B24}" destId="{FA612A3C-1C48-4C4E-A39A-3F928251C6B5}" srcOrd="0" destOrd="0" presId="urn:microsoft.com/office/officeart/2008/layout/LinedList"/>
    <dgm:cxn modelId="{988DDEB6-FFD6-C54C-A059-29D346281C62}" type="presOf" srcId="{C7450BD8-90F0-4B8F-B4DA-2ED8910D28A3}" destId="{2D1ED998-A58B-C945-81F9-64870A21929B}" srcOrd="0" destOrd="0" presId="urn:microsoft.com/office/officeart/2008/layout/LinedList"/>
    <dgm:cxn modelId="{DE8B8AB8-01B3-494F-A055-99368EEB3D90}" srcId="{4343396D-790D-482B-AA7E-14DBEC4E3B24}" destId="{532F9F28-51E1-46F4-A24E-A4AF73802F47}" srcOrd="0" destOrd="0" parTransId="{27D27FF5-694E-4C69-94E9-6369BE661EE9}" sibTransId="{A6AE1B95-A468-49FF-9A25-A51C70EE9B3C}"/>
    <dgm:cxn modelId="{FC82CED1-1063-6945-A66A-A3966F1E3E18}" type="presOf" srcId="{532F9F28-51E1-46F4-A24E-A4AF73802F47}" destId="{1397B014-EBD2-5F40-979D-88B12C057901}" srcOrd="0" destOrd="0" presId="urn:microsoft.com/office/officeart/2008/layout/LinedList"/>
    <dgm:cxn modelId="{7D7399F5-05AC-4001-8FC8-822D1B0C89DE}" srcId="{4343396D-790D-482B-AA7E-14DBEC4E3B24}" destId="{C7450BD8-90F0-4B8F-B4DA-2ED8910D28A3}" srcOrd="3" destOrd="0" parTransId="{B5C6F235-F7FC-4999-A371-B2718D88FEF3}" sibTransId="{6BE8FA4F-1306-495C-B1C6-AF325BE793DB}"/>
    <dgm:cxn modelId="{67F252F9-A357-42BF-AB3C-69E93B27864B}" srcId="{4343396D-790D-482B-AA7E-14DBEC4E3B24}" destId="{8EF58339-28D4-41B5-8FA8-ACC127975B5E}" srcOrd="2" destOrd="0" parTransId="{1B361E45-DD1B-4F2D-AE7C-5CD300CD9126}" sibTransId="{BD0B8FE3-C639-4C37-97E5-E73301FFFE93}"/>
    <dgm:cxn modelId="{93A8EC30-173F-BC4C-9DC7-B76EED2B5B53}" type="presParOf" srcId="{FA612A3C-1C48-4C4E-A39A-3F928251C6B5}" destId="{F6151B79-83BB-434C-B110-79D49AE6EB40}" srcOrd="0" destOrd="0" presId="urn:microsoft.com/office/officeart/2008/layout/LinedList"/>
    <dgm:cxn modelId="{7C349129-3F83-1743-852B-6B88287DCAF5}" type="presParOf" srcId="{FA612A3C-1C48-4C4E-A39A-3F928251C6B5}" destId="{02914B7A-9726-094E-8826-3D8D718F0EF6}" srcOrd="1" destOrd="0" presId="urn:microsoft.com/office/officeart/2008/layout/LinedList"/>
    <dgm:cxn modelId="{DD066586-88EE-6845-8C11-5712DABCC457}" type="presParOf" srcId="{02914B7A-9726-094E-8826-3D8D718F0EF6}" destId="{1397B014-EBD2-5F40-979D-88B12C057901}" srcOrd="0" destOrd="0" presId="urn:microsoft.com/office/officeart/2008/layout/LinedList"/>
    <dgm:cxn modelId="{E28D1BC8-5DEC-0C4C-A6B6-97876A97DE77}" type="presParOf" srcId="{02914B7A-9726-094E-8826-3D8D718F0EF6}" destId="{23ABF1B6-69A8-7349-9C43-B70A73DAF499}" srcOrd="1" destOrd="0" presId="urn:microsoft.com/office/officeart/2008/layout/LinedList"/>
    <dgm:cxn modelId="{36F08669-4083-714E-B70E-9B88500B950B}" type="presParOf" srcId="{FA612A3C-1C48-4C4E-A39A-3F928251C6B5}" destId="{8F7D944F-8BA9-1243-BB4B-C312DC99E024}" srcOrd="2" destOrd="0" presId="urn:microsoft.com/office/officeart/2008/layout/LinedList"/>
    <dgm:cxn modelId="{8AEB8C75-46A6-C64D-8F84-463575B7C56A}" type="presParOf" srcId="{FA612A3C-1C48-4C4E-A39A-3F928251C6B5}" destId="{2CA7FB1E-059C-BA4F-B0E5-D3A36E4D9C73}" srcOrd="3" destOrd="0" presId="urn:microsoft.com/office/officeart/2008/layout/LinedList"/>
    <dgm:cxn modelId="{9551E4D8-2FB4-2F4E-AB96-E4E76BF3C8A7}" type="presParOf" srcId="{2CA7FB1E-059C-BA4F-B0E5-D3A36E4D9C73}" destId="{58649A1B-589E-EB47-8CE8-25D868C13528}" srcOrd="0" destOrd="0" presId="urn:microsoft.com/office/officeart/2008/layout/LinedList"/>
    <dgm:cxn modelId="{C7EA4D54-E09C-0647-8BC6-8F221DD0285C}" type="presParOf" srcId="{2CA7FB1E-059C-BA4F-B0E5-D3A36E4D9C73}" destId="{AC54632E-8765-BE4D-B66C-FD1062F96023}" srcOrd="1" destOrd="0" presId="urn:microsoft.com/office/officeart/2008/layout/LinedList"/>
    <dgm:cxn modelId="{5C927614-4696-3544-88C9-250E3486368D}" type="presParOf" srcId="{FA612A3C-1C48-4C4E-A39A-3F928251C6B5}" destId="{0C6164C3-ED9D-F848-BFDA-336A8C85D6D8}" srcOrd="4" destOrd="0" presId="urn:microsoft.com/office/officeart/2008/layout/LinedList"/>
    <dgm:cxn modelId="{9631947A-F946-3944-93B5-F30C6E710151}" type="presParOf" srcId="{FA612A3C-1C48-4C4E-A39A-3F928251C6B5}" destId="{696403AA-C25F-5E40-B67E-3AA19B062D2A}" srcOrd="5" destOrd="0" presId="urn:microsoft.com/office/officeart/2008/layout/LinedList"/>
    <dgm:cxn modelId="{BE658F17-A388-2D44-9CB0-488DDE380E19}" type="presParOf" srcId="{696403AA-C25F-5E40-B67E-3AA19B062D2A}" destId="{780A2C2E-FE56-BA48-A5ED-81DCB8B8473F}" srcOrd="0" destOrd="0" presId="urn:microsoft.com/office/officeart/2008/layout/LinedList"/>
    <dgm:cxn modelId="{00735D7D-922A-484A-8F63-6D459016502A}" type="presParOf" srcId="{696403AA-C25F-5E40-B67E-3AA19B062D2A}" destId="{1883C08C-859F-9742-B4F2-C9FFF69CC2F5}" srcOrd="1" destOrd="0" presId="urn:microsoft.com/office/officeart/2008/layout/LinedList"/>
    <dgm:cxn modelId="{3A806501-B2F7-AB4E-A57E-313B736B6BE5}" type="presParOf" srcId="{FA612A3C-1C48-4C4E-A39A-3F928251C6B5}" destId="{15000D4D-E546-ED4C-B7EF-F7C8A9224F88}" srcOrd="6" destOrd="0" presId="urn:microsoft.com/office/officeart/2008/layout/LinedList"/>
    <dgm:cxn modelId="{5DDB8F45-8D55-7541-8D81-CAD32141B45D}" type="presParOf" srcId="{FA612A3C-1C48-4C4E-A39A-3F928251C6B5}" destId="{789E7ABA-A73A-5844-AD4F-FE0F3DAB4597}" srcOrd="7" destOrd="0" presId="urn:microsoft.com/office/officeart/2008/layout/LinedList"/>
    <dgm:cxn modelId="{5FF5B5A5-6F59-024F-A5A1-54F1B30A52FD}" type="presParOf" srcId="{789E7ABA-A73A-5844-AD4F-FE0F3DAB4597}" destId="{2D1ED998-A58B-C945-81F9-64870A21929B}" srcOrd="0" destOrd="0" presId="urn:microsoft.com/office/officeart/2008/layout/LinedList"/>
    <dgm:cxn modelId="{728296E6-723D-324A-8445-10A025DED82C}" type="presParOf" srcId="{789E7ABA-A73A-5844-AD4F-FE0F3DAB4597}" destId="{0F5B049E-2858-9447-92A7-1A8CFEA71B54}"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176F8FBD-34EA-49EA-BC45-8FE8DD9DC895}" type="doc">
      <dgm:prSet loTypeId="urn:microsoft.com/office/officeart/2005/8/layout/bProcess2" loCatId="process" qsTypeId="urn:microsoft.com/office/officeart/2005/8/quickstyle/simple1" qsCatId="simple" csTypeId="urn:microsoft.com/office/officeart/2005/8/colors/colorful1" csCatId="colorful"/>
      <dgm:spPr/>
      <dgm:t>
        <a:bodyPr/>
        <a:lstStyle/>
        <a:p>
          <a:endParaRPr lang="en-US"/>
        </a:p>
      </dgm:t>
    </dgm:pt>
    <dgm:pt modelId="{5E3AA305-93DC-48C4-BB94-F14F1D056C0A}">
      <dgm:prSet/>
      <dgm:spPr/>
      <dgm:t>
        <a:bodyPr/>
        <a:lstStyle/>
        <a:p>
          <a:r>
            <a:rPr lang="en-US"/>
            <a:t>The p-value in machine learning is a statistical measure used to determine the significance of a model's output.</a:t>
          </a:r>
        </a:p>
      </dgm:t>
    </dgm:pt>
    <dgm:pt modelId="{116F0463-CCE2-4024-8EC5-5864D00A748D}" type="parTrans" cxnId="{D7370702-3E77-4B08-BFEE-FEF68CEC4666}">
      <dgm:prSet/>
      <dgm:spPr/>
      <dgm:t>
        <a:bodyPr/>
        <a:lstStyle/>
        <a:p>
          <a:endParaRPr lang="en-US"/>
        </a:p>
      </dgm:t>
    </dgm:pt>
    <dgm:pt modelId="{AFF135C2-24D2-4F47-94AC-36A809A08AF5}" type="sibTrans" cxnId="{D7370702-3E77-4B08-BFEE-FEF68CEC4666}">
      <dgm:prSet/>
      <dgm:spPr/>
      <dgm:t>
        <a:bodyPr/>
        <a:lstStyle/>
        <a:p>
          <a:endParaRPr lang="en-US"/>
        </a:p>
      </dgm:t>
    </dgm:pt>
    <dgm:pt modelId="{2E77F082-3C1E-4767-A3C0-11FB517341B7}">
      <dgm:prSet/>
      <dgm:spPr/>
      <dgm:t>
        <a:bodyPr/>
        <a:lstStyle/>
        <a:p>
          <a:r>
            <a:rPr lang="en-US"/>
            <a:t>In my Mode the p-value: 2.2e-16</a:t>
          </a:r>
        </a:p>
      </dgm:t>
    </dgm:pt>
    <dgm:pt modelId="{7A2B6964-0C3A-4065-810E-E11E6341D7C1}" type="parTrans" cxnId="{77321CD9-AA16-4879-98C3-CC12BC9DCB92}">
      <dgm:prSet/>
      <dgm:spPr/>
      <dgm:t>
        <a:bodyPr/>
        <a:lstStyle/>
        <a:p>
          <a:endParaRPr lang="en-US"/>
        </a:p>
      </dgm:t>
    </dgm:pt>
    <dgm:pt modelId="{F5136F8B-D551-4734-9970-97C44A8C497A}" type="sibTrans" cxnId="{77321CD9-AA16-4879-98C3-CC12BC9DCB92}">
      <dgm:prSet/>
      <dgm:spPr/>
      <dgm:t>
        <a:bodyPr/>
        <a:lstStyle/>
        <a:p>
          <a:endParaRPr lang="en-US"/>
        </a:p>
      </dgm:t>
    </dgm:pt>
    <dgm:pt modelId="{BFEDD4C9-0414-8E48-B809-0C578446448F}" type="pres">
      <dgm:prSet presAssocID="{176F8FBD-34EA-49EA-BC45-8FE8DD9DC895}" presName="diagram" presStyleCnt="0">
        <dgm:presLayoutVars>
          <dgm:dir/>
          <dgm:resizeHandles/>
        </dgm:presLayoutVars>
      </dgm:prSet>
      <dgm:spPr/>
    </dgm:pt>
    <dgm:pt modelId="{06729CBE-71F2-C24D-9703-10C0A654EB41}" type="pres">
      <dgm:prSet presAssocID="{5E3AA305-93DC-48C4-BB94-F14F1D056C0A}" presName="firstNode" presStyleLbl="node1" presStyleIdx="0" presStyleCnt="2">
        <dgm:presLayoutVars>
          <dgm:bulletEnabled val="1"/>
        </dgm:presLayoutVars>
      </dgm:prSet>
      <dgm:spPr/>
    </dgm:pt>
    <dgm:pt modelId="{A405F3B2-3563-AD41-A62E-EB67EB02603C}" type="pres">
      <dgm:prSet presAssocID="{AFF135C2-24D2-4F47-94AC-36A809A08AF5}" presName="sibTrans" presStyleLbl="sibTrans2D1" presStyleIdx="0" presStyleCnt="1"/>
      <dgm:spPr/>
    </dgm:pt>
    <dgm:pt modelId="{E257F452-D4EE-4A43-B5E1-581759F80307}" type="pres">
      <dgm:prSet presAssocID="{2E77F082-3C1E-4767-A3C0-11FB517341B7}" presName="lastNode" presStyleLbl="node1" presStyleIdx="1" presStyleCnt="2">
        <dgm:presLayoutVars>
          <dgm:bulletEnabled val="1"/>
        </dgm:presLayoutVars>
      </dgm:prSet>
      <dgm:spPr/>
    </dgm:pt>
  </dgm:ptLst>
  <dgm:cxnLst>
    <dgm:cxn modelId="{D7370702-3E77-4B08-BFEE-FEF68CEC4666}" srcId="{176F8FBD-34EA-49EA-BC45-8FE8DD9DC895}" destId="{5E3AA305-93DC-48C4-BB94-F14F1D056C0A}" srcOrd="0" destOrd="0" parTransId="{116F0463-CCE2-4024-8EC5-5864D00A748D}" sibTransId="{AFF135C2-24D2-4F47-94AC-36A809A08AF5}"/>
    <dgm:cxn modelId="{9A8CAB23-8FDB-7441-8F1E-E9D5B4ED0A97}" type="presOf" srcId="{2E77F082-3C1E-4767-A3C0-11FB517341B7}" destId="{E257F452-D4EE-4A43-B5E1-581759F80307}" srcOrd="0" destOrd="0" presId="urn:microsoft.com/office/officeart/2005/8/layout/bProcess2"/>
    <dgm:cxn modelId="{F36FD762-E4AD-C647-937F-AAEDB244215A}" type="presOf" srcId="{AFF135C2-24D2-4F47-94AC-36A809A08AF5}" destId="{A405F3B2-3563-AD41-A62E-EB67EB02603C}" srcOrd="0" destOrd="0" presId="urn:microsoft.com/office/officeart/2005/8/layout/bProcess2"/>
    <dgm:cxn modelId="{623A98CE-E24B-9C4D-A476-242B6507C5C7}" type="presOf" srcId="{176F8FBD-34EA-49EA-BC45-8FE8DD9DC895}" destId="{BFEDD4C9-0414-8E48-B809-0C578446448F}" srcOrd="0" destOrd="0" presId="urn:microsoft.com/office/officeart/2005/8/layout/bProcess2"/>
    <dgm:cxn modelId="{77321CD9-AA16-4879-98C3-CC12BC9DCB92}" srcId="{176F8FBD-34EA-49EA-BC45-8FE8DD9DC895}" destId="{2E77F082-3C1E-4767-A3C0-11FB517341B7}" srcOrd="1" destOrd="0" parTransId="{7A2B6964-0C3A-4065-810E-E11E6341D7C1}" sibTransId="{F5136F8B-D551-4734-9970-97C44A8C497A}"/>
    <dgm:cxn modelId="{E79AA8DC-75D3-3347-BA7E-07660103B89E}" type="presOf" srcId="{5E3AA305-93DC-48C4-BB94-F14F1D056C0A}" destId="{06729CBE-71F2-C24D-9703-10C0A654EB41}" srcOrd="0" destOrd="0" presId="urn:microsoft.com/office/officeart/2005/8/layout/bProcess2"/>
    <dgm:cxn modelId="{9E2E7D93-599C-D040-906F-C5F68DC3B0AA}" type="presParOf" srcId="{BFEDD4C9-0414-8E48-B809-0C578446448F}" destId="{06729CBE-71F2-C24D-9703-10C0A654EB41}" srcOrd="0" destOrd="0" presId="urn:microsoft.com/office/officeart/2005/8/layout/bProcess2"/>
    <dgm:cxn modelId="{39D503FF-AFD2-554A-85B4-6102B4DDFFDE}" type="presParOf" srcId="{BFEDD4C9-0414-8E48-B809-0C578446448F}" destId="{A405F3B2-3563-AD41-A62E-EB67EB02603C}" srcOrd="1" destOrd="0" presId="urn:microsoft.com/office/officeart/2005/8/layout/bProcess2"/>
    <dgm:cxn modelId="{8D0FDFA7-52DF-B24D-8ECB-0B5F5EAA7F32}" type="presParOf" srcId="{BFEDD4C9-0414-8E48-B809-0C578446448F}" destId="{E257F452-D4EE-4A43-B5E1-581759F80307}" srcOrd="2" destOrd="0" presId="urn:microsoft.com/office/officeart/2005/8/layout/bProcess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51CF1B3-7F7F-4634-B6DF-718B684418C7}">
      <dsp:nvSpPr>
        <dsp:cNvPr id="0" name=""/>
        <dsp:cNvSpPr/>
      </dsp:nvSpPr>
      <dsp:spPr>
        <a:xfrm>
          <a:off x="410636" y="32370"/>
          <a:ext cx="1232549" cy="1232549"/>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7E5A1D-8649-45A1-96BA-B8F0E961B9E0}">
      <dsp:nvSpPr>
        <dsp:cNvPr id="0" name=""/>
        <dsp:cNvSpPr/>
      </dsp:nvSpPr>
      <dsp:spPr>
        <a:xfrm>
          <a:off x="669471" y="291205"/>
          <a:ext cx="714878" cy="714878"/>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C05DD830-563B-4F87-A478-831CB54D01E1}">
      <dsp:nvSpPr>
        <dsp:cNvPr id="0" name=""/>
        <dsp:cNvSpPr/>
      </dsp:nvSpPr>
      <dsp:spPr>
        <a:xfrm>
          <a:off x="1907303" y="32370"/>
          <a:ext cx="2905295" cy="1232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In the competitive world of graduate school admissions, many universities use a variety of factors to assess the potential of a student to succeed in their program. </a:t>
          </a:r>
        </a:p>
      </dsp:txBody>
      <dsp:txXfrm>
        <a:off x="1907303" y="32370"/>
        <a:ext cx="2905295" cy="1232549"/>
      </dsp:txXfrm>
    </dsp:sp>
    <dsp:sp modelId="{E680F116-0129-4A47-AD5B-033209D30F75}">
      <dsp:nvSpPr>
        <dsp:cNvPr id="0" name=""/>
        <dsp:cNvSpPr/>
      </dsp:nvSpPr>
      <dsp:spPr>
        <a:xfrm>
          <a:off x="5318825" y="32370"/>
          <a:ext cx="1232549" cy="1232549"/>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0B655B9-68D0-402C-B65A-08DDB328E8B4}">
      <dsp:nvSpPr>
        <dsp:cNvPr id="0" name=""/>
        <dsp:cNvSpPr/>
      </dsp:nvSpPr>
      <dsp:spPr>
        <a:xfrm>
          <a:off x="5577660" y="291205"/>
          <a:ext cx="714878" cy="714878"/>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8FFDF801-131C-4689-AE37-A15F621BDC44}">
      <dsp:nvSpPr>
        <dsp:cNvPr id="0" name=""/>
        <dsp:cNvSpPr/>
      </dsp:nvSpPr>
      <dsp:spPr>
        <a:xfrm>
          <a:off x="6815492" y="32370"/>
          <a:ext cx="2905295" cy="1232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One of the key factors considered by many universities is a student's Graduate Record Examinations (GRE) scores. However, it is not always clear how strongly a student's GRE scores are correlated with their likelihood of being admitted. </a:t>
          </a:r>
        </a:p>
      </dsp:txBody>
      <dsp:txXfrm>
        <a:off x="6815492" y="32370"/>
        <a:ext cx="2905295" cy="1232549"/>
      </dsp:txXfrm>
    </dsp:sp>
    <dsp:sp modelId="{2CBA5EEB-428C-4A09-8412-0051E0A7E311}">
      <dsp:nvSpPr>
        <dsp:cNvPr id="0" name=""/>
        <dsp:cNvSpPr/>
      </dsp:nvSpPr>
      <dsp:spPr>
        <a:xfrm>
          <a:off x="410636" y="1783080"/>
          <a:ext cx="1232549" cy="1232549"/>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49AA3A0-53C9-4A41-8DA9-9415B51C4C62}">
      <dsp:nvSpPr>
        <dsp:cNvPr id="0" name=""/>
        <dsp:cNvSpPr/>
      </dsp:nvSpPr>
      <dsp:spPr>
        <a:xfrm>
          <a:off x="669471" y="2041915"/>
          <a:ext cx="714878" cy="714878"/>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DC6D9E8-9BF4-49EB-A892-D22A8AA389C9}">
      <dsp:nvSpPr>
        <dsp:cNvPr id="0" name=""/>
        <dsp:cNvSpPr/>
      </dsp:nvSpPr>
      <dsp:spPr>
        <a:xfrm>
          <a:off x="1907303" y="1783080"/>
          <a:ext cx="2905295" cy="1232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This is where machine learning comes in. By using machine learning algorithms, we can analyze the relationship between a student's GRE scores and their Chance of Admit, which is a measure of the probability of being accepted into a graduate program. </a:t>
          </a:r>
        </a:p>
      </dsp:txBody>
      <dsp:txXfrm>
        <a:off x="1907303" y="1783080"/>
        <a:ext cx="2905295" cy="1232549"/>
      </dsp:txXfrm>
    </dsp:sp>
    <dsp:sp modelId="{01E43457-63C3-44DE-A39C-5D47D0E602C6}">
      <dsp:nvSpPr>
        <dsp:cNvPr id="0" name=""/>
        <dsp:cNvSpPr/>
      </dsp:nvSpPr>
      <dsp:spPr>
        <a:xfrm>
          <a:off x="5318825" y="1783080"/>
          <a:ext cx="1232549" cy="1232549"/>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BE5A58-3D5A-4DC5-A5F0-A0011328BF8E}">
      <dsp:nvSpPr>
        <dsp:cNvPr id="0" name=""/>
        <dsp:cNvSpPr/>
      </dsp:nvSpPr>
      <dsp:spPr>
        <a:xfrm>
          <a:off x="5577660" y="2041915"/>
          <a:ext cx="714878" cy="714878"/>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9182E79B-B673-4E93-B9B1-B9B57E55BC1F}">
      <dsp:nvSpPr>
        <dsp:cNvPr id="0" name=""/>
        <dsp:cNvSpPr/>
      </dsp:nvSpPr>
      <dsp:spPr>
        <a:xfrm>
          <a:off x="6815492" y="1783080"/>
          <a:ext cx="2905295" cy="123254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533400">
            <a:lnSpc>
              <a:spcPct val="90000"/>
            </a:lnSpc>
            <a:spcBef>
              <a:spcPct val="0"/>
            </a:spcBef>
            <a:spcAft>
              <a:spcPct val="35000"/>
            </a:spcAft>
            <a:buNone/>
          </a:pPr>
          <a:r>
            <a:rPr lang="en-US" sz="1200" kern="1200"/>
            <a:t>This analysis can help us better understand how important GRE scores are in the admissions process, and can inform universities and students alike about the factors that are most important in determining admissions outcomes</a:t>
          </a:r>
        </a:p>
      </dsp:txBody>
      <dsp:txXfrm>
        <a:off x="6815492" y="1783080"/>
        <a:ext cx="2905295" cy="1232549"/>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1AF746-734D-4FA7-A003-DB69245930C8}">
      <dsp:nvSpPr>
        <dsp:cNvPr id="0" name=""/>
        <dsp:cNvSpPr/>
      </dsp:nvSpPr>
      <dsp:spPr>
        <a:xfrm>
          <a:off x="0" y="799046"/>
          <a:ext cx="5886291" cy="1475163"/>
        </a:xfrm>
        <a:prstGeom prst="roundRect">
          <a:avLst>
            <a:gd name="adj" fmla="val 10000"/>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688348B-2125-4BA8-80F6-2CDD15C7D53F}">
      <dsp:nvSpPr>
        <dsp:cNvPr id="0" name=""/>
        <dsp:cNvSpPr/>
      </dsp:nvSpPr>
      <dsp:spPr>
        <a:xfrm>
          <a:off x="446236" y="1130958"/>
          <a:ext cx="811339" cy="81133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E0E59473-61BE-4D79-A41E-35B980238668}">
      <dsp:nvSpPr>
        <dsp:cNvPr id="0" name=""/>
        <dsp:cNvSpPr/>
      </dsp:nvSpPr>
      <dsp:spPr>
        <a:xfrm>
          <a:off x="1703813" y="799046"/>
          <a:ext cx="4182477" cy="1475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121" tIns="156121" rIns="156121" bIns="156121" numCol="1" spcCol="1270" anchor="ctr" anchorCtr="0">
          <a:noAutofit/>
        </a:bodyPr>
        <a:lstStyle/>
        <a:p>
          <a:pPr marL="0" lvl="0" indent="0" algn="l" defTabSz="711200">
            <a:lnSpc>
              <a:spcPct val="90000"/>
            </a:lnSpc>
            <a:spcBef>
              <a:spcPct val="0"/>
            </a:spcBef>
            <a:spcAft>
              <a:spcPct val="35000"/>
            </a:spcAft>
            <a:buNone/>
          </a:pPr>
          <a:r>
            <a:rPr lang="en-US" sz="1600" kern="1200"/>
            <a:t>The F-test method is widely used in machine learning to determine the significance of the relationship between independent and dependent variables in a linear regression model. </a:t>
          </a:r>
        </a:p>
      </dsp:txBody>
      <dsp:txXfrm>
        <a:off x="1703813" y="799046"/>
        <a:ext cx="4182477" cy="1475163"/>
      </dsp:txXfrm>
    </dsp:sp>
    <dsp:sp modelId="{7771258D-8FAE-49D5-BF70-4CF4CDD04E12}">
      <dsp:nvSpPr>
        <dsp:cNvPr id="0" name=""/>
        <dsp:cNvSpPr/>
      </dsp:nvSpPr>
      <dsp:spPr>
        <a:xfrm>
          <a:off x="0" y="2643000"/>
          <a:ext cx="5886291" cy="1475163"/>
        </a:xfrm>
        <a:prstGeom prst="roundRect">
          <a:avLst>
            <a:gd name="adj" fmla="val 10000"/>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89309E3-4A57-433C-A672-E194849A4C17}">
      <dsp:nvSpPr>
        <dsp:cNvPr id="0" name=""/>
        <dsp:cNvSpPr/>
      </dsp:nvSpPr>
      <dsp:spPr>
        <a:xfrm>
          <a:off x="446236" y="2974912"/>
          <a:ext cx="811339" cy="81133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rnd" cmpd="sng" algn="ctr">
          <a:noFill/>
          <a:prstDash val="solid"/>
        </a:ln>
        <a:effectLst/>
      </dsp:spPr>
      <dsp:style>
        <a:lnRef idx="2">
          <a:scrgbClr r="0" g="0" b="0"/>
        </a:lnRef>
        <a:fillRef idx="1">
          <a:scrgbClr r="0" g="0" b="0"/>
        </a:fillRef>
        <a:effectRef idx="0">
          <a:scrgbClr r="0" g="0" b="0"/>
        </a:effectRef>
        <a:fontRef idx="minor">
          <a:schemeClr val="lt1"/>
        </a:fontRef>
      </dsp:style>
    </dsp:sp>
    <dsp:sp modelId="{4CECDA73-DDA9-4238-80F1-450B1C9EC3FA}">
      <dsp:nvSpPr>
        <dsp:cNvPr id="0" name=""/>
        <dsp:cNvSpPr/>
      </dsp:nvSpPr>
      <dsp:spPr>
        <a:xfrm>
          <a:off x="1703813" y="2643000"/>
          <a:ext cx="4182477" cy="147516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56121" tIns="156121" rIns="156121" bIns="156121" numCol="1" spcCol="1270" anchor="ctr" anchorCtr="0">
          <a:noAutofit/>
        </a:bodyPr>
        <a:lstStyle/>
        <a:p>
          <a:pPr marL="0" lvl="0" indent="0" algn="l" defTabSz="711200">
            <a:lnSpc>
              <a:spcPct val="90000"/>
            </a:lnSpc>
            <a:spcBef>
              <a:spcPct val="0"/>
            </a:spcBef>
            <a:spcAft>
              <a:spcPct val="35000"/>
            </a:spcAft>
            <a:buNone/>
          </a:pPr>
          <a:r>
            <a:rPr lang="en-US" sz="1600" kern="1200"/>
            <a:t>By using this test, we can determine if the independent variable (in this case, GRE scores) is a significant predictor of the dependent variable (Chance of Admit) in the admissions process.</a:t>
          </a:r>
        </a:p>
      </dsp:txBody>
      <dsp:txXfrm>
        <a:off x="1703813" y="2643000"/>
        <a:ext cx="4182477" cy="147516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4EB2043-2D6C-B44F-B3FF-033497CBDF23}">
      <dsp:nvSpPr>
        <dsp:cNvPr id="0" name=""/>
        <dsp:cNvSpPr/>
      </dsp:nvSpPr>
      <dsp:spPr>
        <a:xfrm>
          <a:off x="2159574" y="750545"/>
          <a:ext cx="466052" cy="91440"/>
        </a:xfrm>
        <a:custGeom>
          <a:avLst/>
          <a:gdLst/>
          <a:ahLst/>
          <a:cxnLst/>
          <a:rect l="0" t="0" r="0" b="0"/>
          <a:pathLst>
            <a:path>
              <a:moveTo>
                <a:pt x="0" y="45720"/>
              </a:moveTo>
              <a:lnTo>
                <a:pt x="466052" y="45720"/>
              </a:lnTo>
            </a:path>
          </a:pathLst>
        </a:custGeom>
        <a:noFill/>
        <a:ln w="9525"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80184" y="793782"/>
        <a:ext cx="24832" cy="4966"/>
      </dsp:txXfrm>
    </dsp:sp>
    <dsp:sp modelId="{A9086019-4C75-A046-B0C0-57C689D22DED}">
      <dsp:nvSpPr>
        <dsp:cNvPr id="0" name=""/>
        <dsp:cNvSpPr/>
      </dsp:nvSpPr>
      <dsp:spPr>
        <a:xfrm>
          <a:off x="2015" y="148457"/>
          <a:ext cx="2159358" cy="1295615"/>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810" tIns="111067" rIns="105810" bIns="111067" numCol="1" spcCol="1270" anchor="ctr" anchorCtr="0">
          <a:noAutofit/>
        </a:bodyPr>
        <a:lstStyle/>
        <a:p>
          <a:pPr marL="0" lvl="0" indent="0" algn="ctr" defTabSz="577850">
            <a:lnSpc>
              <a:spcPct val="90000"/>
            </a:lnSpc>
            <a:spcBef>
              <a:spcPct val="0"/>
            </a:spcBef>
            <a:spcAft>
              <a:spcPct val="35000"/>
            </a:spcAft>
            <a:buNone/>
          </a:pPr>
          <a:r>
            <a:rPr lang="en-US" sz="1300" kern="1200"/>
            <a:t>Setup hypotheses and select alpha level</a:t>
          </a:r>
        </a:p>
      </dsp:txBody>
      <dsp:txXfrm>
        <a:off x="2015" y="148457"/>
        <a:ext cx="2159358" cy="1295615"/>
      </dsp:txXfrm>
    </dsp:sp>
    <dsp:sp modelId="{182F03A8-D268-0545-80CD-8422A7ED92A5}">
      <dsp:nvSpPr>
        <dsp:cNvPr id="0" name=""/>
        <dsp:cNvSpPr/>
      </dsp:nvSpPr>
      <dsp:spPr>
        <a:xfrm>
          <a:off x="4815586" y="750545"/>
          <a:ext cx="466052" cy="91440"/>
        </a:xfrm>
        <a:custGeom>
          <a:avLst/>
          <a:gdLst/>
          <a:ahLst/>
          <a:cxnLst/>
          <a:rect l="0" t="0" r="0" b="0"/>
          <a:pathLst>
            <a:path>
              <a:moveTo>
                <a:pt x="0" y="45720"/>
              </a:moveTo>
              <a:lnTo>
                <a:pt x="466052" y="45720"/>
              </a:lnTo>
            </a:path>
          </a:pathLst>
        </a:custGeom>
        <a:noFill/>
        <a:ln w="9525" cap="rnd" cmpd="sng" algn="ctr">
          <a:solidFill>
            <a:schemeClr val="accent3">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36196" y="793782"/>
        <a:ext cx="24832" cy="4966"/>
      </dsp:txXfrm>
    </dsp:sp>
    <dsp:sp modelId="{1856D809-3565-0146-B904-5BE9D74EA4AF}">
      <dsp:nvSpPr>
        <dsp:cNvPr id="0" name=""/>
        <dsp:cNvSpPr/>
      </dsp:nvSpPr>
      <dsp:spPr>
        <a:xfrm>
          <a:off x="2658027" y="148457"/>
          <a:ext cx="2159358" cy="1295615"/>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810" tIns="111067" rIns="105810" bIns="111067" numCol="1" spcCol="1270" anchor="ctr" anchorCtr="0">
          <a:noAutofit/>
        </a:bodyPr>
        <a:lstStyle/>
        <a:p>
          <a:pPr marL="0" lvl="0" indent="0" algn="ctr" defTabSz="577850">
            <a:lnSpc>
              <a:spcPct val="90000"/>
            </a:lnSpc>
            <a:spcBef>
              <a:spcPct val="0"/>
            </a:spcBef>
            <a:spcAft>
              <a:spcPct val="35000"/>
            </a:spcAft>
            <a:buNone/>
          </a:pPr>
          <a:r>
            <a:rPr lang="en-US" sz="1300" kern="1200"/>
            <a:t>B1 = 0 (there is no linear association) &amp; B1 != 0 (there is a linear association)</a:t>
          </a:r>
        </a:p>
      </dsp:txBody>
      <dsp:txXfrm>
        <a:off x="2658027" y="148457"/>
        <a:ext cx="2159358" cy="1295615"/>
      </dsp:txXfrm>
    </dsp:sp>
    <dsp:sp modelId="{87809379-DB53-B24E-B6FC-C4C28D900063}">
      <dsp:nvSpPr>
        <dsp:cNvPr id="0" name=""/>
        <dsp:cNvSpPr/>
      </dsp:nvSpPr>
      <dsp:spPr>
        <a:xfrm>
          <a:off x="7471597" y="750545"/>
          <a:ext cx="466052" cy="91440"/>
        </a:xfrm>
        <a:custGeom>
          <a:avLst/>
          <a:gdLst/>
          <a:ahLst/>
          <a:cxnLst/>
          <a:rect l="0" t="0" r="0" b="0"/>
          <a:pathLst>
            <a:path>
              <a:moveTo>
                <a:pt x="0" y="45720"/>
              </a:moveTo>
              <a:lnTo>
                <a:pt x="466052" y="45720"/>
              </a:lnTo>
            </a:path>
          </a:pathLst>
        </a:custGeom>
        <a:noFill/>
        <a:ln w="9525" cap="rnd" cmpd="sng" algn="ctr">
          <a:solidFill>
            <a:schemeClr val="accent4">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7692207" y="793782"/>
        <a:ext cx="24832" cy="4966"/>
      </dsp:txXfrm>
    </dsp:sp>
    <dsp:sp modelId="{8BEF472B-2413-CC4F-AB29-CA9CCFB02AC9}">
      <dsp:nvSpPr>
        <dsp:cNvPr id="0" name=""/>
        <dsp:cNvSpPr/>
      </dsp:nvSpPr>
      <dsp:spPr>
        <a:xfrm>
          <a:off x="5314038" y="148457"/>
          <a:ext cx="2159358" cy="1295615"/>
        </a:xfrm>
        <a:prstGeom prst="rect">
          <a:avLst/>
        </a:prstGeom>
        <a:solidFill>
          <a:schemeClr val="accent4">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810" tIns="111067" rIns="105810" bIns="111067" numCol="1" spcCol="1270" anchor="ctr" anchorCtr="0">
          <a:noAutofit/>
        </a:bodyPr>
        <a:lstStyle/>
        <a:p>
          <a:pPr marL="0" lvl="0" indent="0" algn="ctr" defTabSz="577850">
            <a:lnSpc>
              <a:spcPct val="90000"/>
            </a:lnSpc>
            <a:spcBef>
              <a:spcPct val="0"/>
            </a:spcBef>
            <a:spcAft>
              <a:spcPct val="35000"/>
            </a:spcAft>
            <a:buNone/>
          </a:pPr>
          <a:r>
            <a:rPr lang="en-US" sz="1300" kern="1200"/>
            <a:t>Alpha level = 0.05</a:t>
          </a:r>
        </a:p>
      </dsp:txBody>
      <dsp:txXfrm>
        <a:off x="5314038" y="148457"/>
        <a:ext cx="2159358" cy="1295615"/>
      </dsp:txXfrm>
    </dsp:sp>
    <dsp:sp modelId="{7ED0F1CF-4B7A-434C-8218-7968BF944826}">
      <dsp:nvSpPr>
        <dsp:cNvPr id="0" name=""/>
        <dsp:cNvSpPr/>
      </dsp:nvSpPr>
      <dsp:spPr>
        <a:xfrm>
          <a:off x="1081695" y="1442273"/>
          <a:ext cx="7968034" cy="466052"/>
        </a:xfrm>
        <a:custGeom>
          <a:avLst/>
          <a:gdLst/>
          <a:ahLst/>
          <a:cxnLst/>
          <a:rect l="0" t="0" r="0" b="0"/>
          <a:pathLst>
            <a:path>
              <a:moveTo>
                <a:pt x="7968034" y="0"/>
              </a:moveTo>
              <a:lnTo>
                <a:pt x="7968034" y="250126"/>
              </a:lnTo>
              <a:lnTo>
                <a:pt x="0" y="250126"/>
              </a:lnTo>
              <a:lnTo>
                <a:pt x="0" y="466052"/>
              </a:lnTo>
            </a:path>
          </a:pathLst>
        </a:custGeom>
        <a:noFill/>
        <a:ln w="9525" cap="rnd" cmpd="sng" algn="ctr">
          <a:solidFill>
            <a:schemeClr val="accent5">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866125" y="1672816"/>
        <a:ext cx="399174" cy="4966"/>
      </dsp:txXfrm>
    </dsp:sp>
    <dsp:sp modelId="{44D3C54A-D74F-E344-A3AE-DFF1E111BD4E}">
      <dsp:nvSpPr>
        <dsp:cNvPr id="0" name=""/>
        <dsp:cNvSpPr/>
      </dsp:nvSpPr>
      <dsp:spPr>
        <a:xfrm>
          <a:off x="7970050" y="148457"/>
          <a:ext cx="2159358" cy="1295615"/>
        </a:xfrm>
        <a:prstGeom prst="rect">
          <a:avLst/>
        </a:prstGeom>
        <a:solidFill>
          <a:schemeClr val="accent5">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810" tIns="111067" rIns="105810" bIns="111067" numCol="1" spcCol="1270" anchor="ctr" anchorCtr="0">
          <a:noAutofit/>
        </a:bodyPr>
        <a:lstStyle/>
        <a:p>
          <a:pPr marL="0" lvl="0" indent="0" algn="ctr" defTabSz="577850">
            <a:lnSpc>
              <a:spcPct val="90000"/>
            </a:lnSpc>
            <a:spcBef>
              <a:spcPct val="0"/>
            </a:spcBef>
            <a:spcAft>
              <a:spcPct val="35000"/>
            </a:spcAft>
            <a:buNone/>
          </a:pPr>
          <a:r>
            <a:rPr lang="en-US" sz="1300" kern="1200"/>
            <a:t>Select the appropriate test statistic.</a:t>
          </a:r>
        </a:p>
      </dsp:txBody>
      <dsp:txXfrm>
        <a:off x="7970050" y="148457"/>
        <a:ext cx="2159358" cy="1295615"/>
      </dsp:txXfrm>
    </dsp:sp>
    <dsp:sp modelId="{6D7E7E61-6731-A74E-85A7-0255DB481F6A}">
      <dsp:nvSpPr>
        <dsp:cNvPr id="0" name=""/>
        <dsp:cNvSpPr/>
      </dsp:nvSpPr>
      <dsp:spPr>
        <a:xfrm>
          <a:off x="2159574" y="2542813"/>
          <a:ext cx="466052" cy="91440"/>
        </a:xfrm>
        <a:custGeom>
          <a:avLst/>
          <a:gdLst/>
          <a:ahLst/>
          <a:cxnLst/>
          <a:rect l="0" t="0" r="0" b="0"/>
          <a:pathLst>
            <a:path>
              <a:moveTo>
                <a:pt x="0" y="45720"/>
              </a:moveTo>
              <a:lnTo>
                <a:pt x="466052" y="45720"/>
              </a:lnTo>
            </a:path>
          </a:pathLst>
        </a:custGeom>
        <a:noFill/>
        <a:ln w="9525" cap="rnd" cmpd="sng" algn="ctr">
          <a:solidFill>
            <a:schemeClr val="accent6">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380184" y="2586050"/>
        <a:ext cx="24832" cy="4966"/>
      </dsp:txXfrm>
    </dsp:sp>
    <dsp:sp modelId="{BCEA3497-4D48-D14D-BA4E-2797D102B1A8}">
      <dsp:nvSpPr>
        <dsp:cNvPr id="0" name=""/>
        <dsp:cNvSpPr/>
      </dsp:nvSpPr>
      <dsp:spPr>
        <a:xfrm>
          <a:off x="2015" y="1940725"/>
          <a:ext cx="2159358" cy="1295615"/>
        </a:xfrm>
        <a:prstGeom prst="rect">
          <a:avLst/>
        </a:prstGeom>
        <a:solidFill>
          <a:schemeClr val="accent6">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810" tIns="111067" rIns="105810" bIns="111067" numCol="1" spcCol="1270" anchor="ctr" anchorCtr="0">
          <a:noAutofit/>
        </a:bodyPr>
        <a:lstStyle/>
        <a:p>
          <a:pPr marL="0" lvl="0" indent="0" algn="ctr" defTabSz="577850">
            <a:lnSpc>
              <a:spcPct val="90000"/>
            </a:lnSpc>
            <a:spcBef>
              <a:spcPct val="0"/>
            </a:spcBef>
            <a:spcAft>
              <a:spcPct val="35000"/>
            </a:spcAft>
            <a:buNone/>
          </a:pPr>
          <a:r>
            <a:rPr lang="en-US" sz="1300" kern="1200"/>
            <a:t>F=RegMS/ResMSwith1andn-2=398 degreesoffreedom </a:t>
          </a:r>
        </a:p>
      </dsp:txBody>
      <dsp:txXfrm>
        <a:off x="2015" y="1940725"/>
        <a:ext cx="2159358" cy="1295615"/>
      </dsp:txXfrm>
    </dsp:sp>
    <dsp:sp modelId="{7BFC8C86-1BC7-5B44-A872-51F32C929F34}">
      <dsp:nvSpPr>
        <dsp:cNvPr id="0" name=""/>
        <dsp:cNvSpPr/>
      </dsp:nvSpPr>
      <dsp:spPr>
        <a:xfrm>
          <a:off x="4815586" y="2542813"/>
          <a:ext cx="466052" cy="91440"/>
        </a:xfrm>
        <a:custGeom>
          <a:avLst/>
          <a:gdLst/>
          <a:ahLst/>
          <a:cxnLst/>
          <a:rect l="0" t="0" r="0" b="0"/>
          <a:pathLst>
            <a:path>
              <a:moveTo>
                <a:pt x="0" y="45720"/>
              </a:moveTo>
              <a:lnTo>
                <a:pt x="466052" y="45720"/>
              </a:lnTo>
            </a:path>
          </a:pathLst>
        </a:custGeom>
        <a:noFill/>
        <a:ln w="9525" cap="rnd" cmpd="sng" algn="ctr">
          <a:solidFill>
            <a:schemeClr val="accent2">
              <a:hueOff val="0"/>
              <a:satOff val="0"/>
              <a:lumOff val="0"/>
              <a:alphaOff val="0"/>
            </a:schemeClr>
          </a:solidFill>
          <a:prstDash val="solid"/>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036196" y="2586050"/>
        <a:ext cx="24832" cy="4966"/>
      </dsp:txXfrm>
    </dsp:sp>
    <dsp:sp modelId="{5F0AE688-D8C3-BE4D-89E8-3B2C7433EC3D}">
      <dsp:nvSpPr>
        <dsp:cNvPr id="0" name=""/>
        <dsp:cNvSpPr/>
      </dsp:nvSpPr>
      <dsp:spPr>
        <a:xfrm>
          <a:off x="2658027" y="1940725"/>
          <a:ext cx="2159358" cy="1295615"/>
        </a:xfrm>
        <a:prstGeom prst="rect">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810" tIns="111067" rIns="105810" bIns="111067" numCol="1" spcCol="1270" anchor="ctr" anchorCtr="0">
          <a:noAutofit/>
        </a:bodyPr>
        <a:lstStyle/>
        <a:p>
          <a:pPr marL="0" lvl="0" indent="0" algn="ctr" defTabSz="577850">
            <a:lnSpc>
              <a:spcPct val="90000"/>
            </a:lnSpc>
            <a:spcBef>
              <a:spcPct val="0"/>
            </a:spcBef>
            <a:spcAft>
              <a:spcPct val="35000"/>
            </a:spcAft>
            <a:buNone/>
          </a:pPr>
          <a:r>
            <a:rPr lang="en-US" sz="1300" kern="1200"/>
            <a:t>State the decision rule</a:t>
          </a:r>
        </a:p>
      </dsp:txBody>
      <dsp:txXfrm>
        <a:off x="2658027" y="1940725"/>
        <a:ext cx="2159358" cy="1295615"/>
      </dsp:txXfrm>
    </dsp:sp>
    <dsp:sp modelId="{98BC201A-77C8-3A4A-A832-1618087C60C2}">
      <dsp:nvSpPr>
        <dsp:cNvPr id="0" name=""/>
        <dsp:cNvSpPr/>
      </dsp:nvSpPr>
      <dsp:spPr>
        <a:xfrm>
          <a:off x="5314038" y="1940725"/>
          <a:ext cx="2159358" cy="1295615"/>
        </a:xfrm>
        <a:prstGeom prst="rect">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05810" tIns="111067" rIns="105810" bIns="111067" numCol="1" spcCol="1270" anchor="ctr" anchorCtr="0">
          <a:noAutofit/>
        </a:bodyPr>
        <a:lstStyle/>
        <a:p>
          <a:pPr marL="0" lvl="0" indent="0" algn="ctr" defTabSz="577850">
            <a:lnSpc>
              <a:spcPct val="90000"/>
            </a:lnSpc>
            <a:spcBef>
              <a:spcPct val="0"/>
            </a:spcBef>
            <a:spcAft>
              <a:spcPct val="35000"/>
            </a:spcAft>
            <a:buNone/>
          </a:pPr>
          <a:r>
            <a:rPr lang="en-US" sz="1300" kern="1200"/>
            <a:t>qf(.95,df1=1,df2=398)= 3.864929</a:t>
          </a:r>
        </a:p>
      </dsp:txBody>
      <dsp:txXfrm>
        <a:off x="5314038" y="1940725"/>
        <a:ext cx="2159358" cy="1295615"/>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6151B79-83BB-434C-B110-79D49AE6EB40}">
      <dsp:nvSpPr>
        <dsp:cNvPr id="0" name=""/>
        <dsp:cNvSpPr/>
      </dsp:nvSpPr>
      <dsp:spPr>
        <a:xfrm>
          <a:off x="0" y="0"/>
          <a:ext cx="5741533" cy="0"/>
        </a:xfrm>
        <a:prstGeom prst="line">
          <a:avLst/>
        </a:prstGeom>
        <a:solidFill>
          <a:schemeClr val="accent2">
            <a:hueOff val="0"/>
            <a:satOff val="0"/>
            <a:lumOff val="0"/>
            <a:alphaOff val="0"/>
          </a:schemeClr>
        </a:solidFill>
        <a:ln w="19050"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1397B014-EBD2-5F40-979D-88B12C057901}">
      <dsp:nvSpPr>
        <dsp:cNvPr id="0" name=""/>
        <dsp:cNvSpPr/>
      </dsp:nvSpPr>
      <dsp:spPr>
        <a:xfrm>
          <a:off x="0" y="0"/>
          <a:ext cx="5741533" cy="1292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The F-statistic is calculated as the ratio of the mean squares for the regression and error terms, which are obtained from the ANOVA table. </a:t>
          </a:r>
        </a:p>
      </dsp:txBody>
      <dsp:txXfrm>
        <a:off x="0" y="0"/>
        <a:ext cx="5741533" cy="1292745"/>
      </dsp:txXfrm>
    </dsp:sp>
    <dsp:sp modelId="{8F7D944F-8BA9-1243-BB4B-C312DC99E024}">
      <dsp:nvSpPr>
        <dsp:cNvPr id="0" name=""/>
        <dsp:cNvSpPr/>
      </dsp:nvSpPr>
      <dsp:spPr>
        <a:xfrm>
          <a:off x="0" y="1292745"/>
          <a:ext cx="5741533" cy="0"/>
        </a:xfrm>
        <a:prstGeom prst="line">
          <a:avLst/>
        </a:prstGeom>
        <a:solidFill>
          <a:schemeClr val="accent2">
            <a:hueOff val="-1036716"/>
            <a:satOff val="-5484"/>
            <a:lumOff val="-2091"/>
            <a:alphaOff val="0"/>
          </a:schemeClr>
        </a:solidFill>
        <a:ln w="19050" cap="rnd" cmpd="sng" algn="ctr">
          <a:solidFill>
            <a:schemeClr val="accent2">
              <a:hueOff val="-1036716"/>
              <a:satOff val="-5484"/>
              <a:lumOff val="-2091"/>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58649A1B-589E-EB47-8CE8-25D868C13528}">
      <dsp:nvSpPr>
        <dsp:cNvPr id="0" name=""/>
        <dsp:cNvSpPr/>
      </dsp:nvSpPr>
      <dsp:spPr>
        <a:xfrm>
          <a:off x="0" y="1292745"/>
          <a:ext cx="5741533" cy="1292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Residual standard error: 0.08517 on 398 degrees of freedom</a:t>
          </a:r>
        </a:p>
      </dsp:txBody>
      <dsp:txXfrm>
        <a:off x="0" y="1292745"/>
        <a:ext cx="5741533" cy="1292745"/>
      </dsp:txXfrm>
    </dsp:sp>
    <dsp:sp modelId="{0C6164C3-ED9D-F848-BFDA-336A8C85D6D8}">
      <dsp:nvSpPr>
        <dsp:cNvPr id="0" name=""/>
        <dsp:cNvSpPr/>
      </dsp:nvSpPr>
      <dsp:spPr>
        <a:xfrm>
          <a:off x="0" y="2585491"/>
          <a:ext cx="5741533" cy="0"/>
        </a:xfrm>
        <a:prstGeom prst="line">
          <a:avLst/>
        </a:prstGeom>
        <a:solidFill>
          <a:schemeClr val="accent2">
            <a:hueOff val="-2073432"/>
            <a:satOff val="-10969"/>
            <a:lumOff val="-4183"/>
            <a:alphaOff val="0"/>
          </a:schemeClr>
        </a:solidFill>
        <a:ln w="19050" cap="rnd" cmpd="sng" algn="ctr">
          <a:solidFill>
            <a:schemeClr val="accent2">
              <a:hueOff val="-2073432"/>
              <a:satOff val="-10969"/>
              <a:lumOff val="-4183"/>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780A2C2E-FE56-BA48-A5ED-81DCB8B8473F}">
      <dsp:nvSpPr>
        <dsp:cNvPr id="0" name=""/>
        <dsp:cNvSpPr/>
      </dsp:nvSpPr>
      <dsp:spPr>
        <a:xfrm>
          <a:off x="0" y="2585491"/>
          <a:ext cx="5741533" cy="1292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Multiple R-squared:  0.6442,	Adjusted R-squared:  0.6433 </a:t>
          </a:r>
        </a:p>
      </dsp:txBody>
      <dsp:txXfrm>
        <a:off x="0" y="2585491"/>
        <a:ext cx="5741533" cy="1292745"/>
      </dsp:txXfrm>
    </dsp:sp>
    <dsp:sp modelId="{15000D4D-E546-ED4C-B7EF-F7C8A9224F88}">
      <dsp:nvSpPr>
        <dsp:cNvPr id="0" name=""/>
        <dsp:cNvSpPr/>
      </dsp:nvSpPr>
      <dsp:spPr>
        <a:xfrm>
          <a:off x="0" y="3878237"/>
          <a:ext cx="5741533" cy="0"/>
        </a:xfrm>
        <a:prstGeom prst="line">
          <a:avLst/>
        </a:prstGeom>
        <a:solidFill>
          <a:schemeClr val="accent2">
            <a:hueOff val="-3110148"/>
            <a:satOff val="-16453"/>
            <a:lumOff val="-6274"/>
            <a:alphaOff val="0"/>
          </a:schemeClr>
        </a:solidFill>
        <a:ln w="19050" cap="rnd" cmpd="sng" algn="ctr">
          <a:solidFill>
            <a:schemeClr val="accent2">
              <a:hueOff val="-3110148"/>
              <a:satOff val="-16453"/>
              <a:lumOff val="-6274"/>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2D1ED998-A58B-C945-81F9-64870A21929B}">
      <dsp:nvSpPr>
        <dsp:cNvPr id="0" name=""/>
        <dsp:cNvSpPr/>
      </dsp:nvSpPr>
      <dsp:spPr>
        <a:xfrm>
          <a:off x="0" y="3878237"/>
          <a:ext cx="5741533" cy="129274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3820" tIns="83820" rIns="83820" bIns="83820" numCol="1" spcCol="1270" anchor="t" anchorCtr="0">
          <a:noAutofit/>
        </a:bodyPr>
        <a:lstStyle/>
        <a:p>
          <a:pPr marL="0" lvl="0" indent="0" algn="l" defTabSz="977900">
            <a:lnSpc>
              <a:spcPct val="90000"/>
            </a:lnSpc>
            <a:spcBef>
              <a:spcPct val="0"/>
            </a:spcBef>
            <a:spcAft>
              <a:spcPct val="35000"/>
            </a:spcAft>
            <a:buNone/>
          </a:pPr>
          <a:r>
            <a:rPr lang="en-US" sz="2200" kern="1200"/>
            <a:t>F-statistic: 720.6 on 1 and 398 DF,  p-value: &lt; 2.2e-16</a:t>
          </a:r>
        </a:p>
      </dsp:txBody>
      <dsp:txXfrm>
        <a:off x="0" y="3878237"/>
        <a:ext cx="5741533" cy="129274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729CBE-71F2-C24D-9703-10C0A654EB41}">
      <dsp:nvSpPr>
        <dsp:cNvPr id="0" name=""/>
        <dsp:cNvSpPr/>
      </dsp:nvSpPr>
      <dsp:spPr>
        <a:xfrm>
          <a:off x="836040" y="530"/>
          <a:ext cx="3383737" cy="3383737"/>
        </a:xfrm>
        <a:prstGeom prst="ellipse">
          <a:avLst/>
        </a:prstGeom>
        <a:solidFill>
          <a:schemeClr val="accent2">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a:t>The p-value in machine learning is a statistical measure used to determine the significance of a model's output.</a:t>
          </a:r>
        </a:p>
      </dsp:txBody>
      <dsp:txXfrm>
        <a:off x="1331577" y="496067"/>
        <a:ext cx="2392663" cy="2392663"/>
      </dsp:txXfrm>
    </dsp:sp>
    <dsp:sp modelId="{A405F3B2-3563-AD41-A62E-EB67EB02603C}">
      <dsp:nvSpPr>
        <dsp:cNvPr id="0" name=""/>
        <dsp:cNvSpPr/>
      </dsp:nvSpPr>
      <dsp:spPr>
        <a:xfrm rot="5400000">
          <a:off x="4498936" y="1244054"/>
          <a:ext cx="1184308" cy="896690"/>
        </a:xfrm>
        <a:prstGeom prst="triangl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E257F452-D4EE-4A43-B5E1-581759F80307}">
      <dsp:nvSpPr>
        <dsp:cNvPr id="0" name=""/>
        <dsp:cNvSpPr/>
      </dsp:nvSpPr>
      <dsp:spPr>
        <a:xfrm>
          <a:off x="5911646" y="530"/>
          <a:ext cx="3383737" cy="3383737"/>
        </a:xfrm>
        <a:prstGeom prst="ellipse">
          <a:avLst/>
        </a:prstGeom>
        <a:solidFill>
          <a:schemeClr val="accent3">
            <a:hueOff val="0"/>
            <a:satOff val="0"/>
            <a:lumOff val="0"/>
            <a:alphaOff val="0"/>
          </a:schemeClr>
        </a:solidFill>
        <a:ln w="19050" cap="rnd"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9210" tIns="29210" rIns="29210" bIns="29210" numCol="1" spcCol="1270" anchor="ctr" anchorCtr="0">
          <a:noAutofit/>
        </a:bodyPr>
        <a:lstStyle/>
        <a:p>
          <a:pPr marL="0" lvl="0" indent="0" algn="ctr" defTabSz="1022350">
            <a:lnSpc>
              <a:spcPct val="90000"/>
            </a:lnSpc>
            <a:spcBef>
              <a:spcPct val="0"/>
            </a:spcBef>
            <a:spcAft>
              <a:spcPct val="35000"/>
            </a:spcAft>
            <a:buNone/>
          </a:pPr>
          <a:r>
            <a:rPr lang="en-US" sz="2300" kern="1200"/>
            <a:t>In my Mode the p-value: 2.2e-16</a:t>
          </a:r>
        </a:p>
      </dsp:txBody>
      <dsp:txXfrm>
        <a:off x="6407183" y="496067"/>
        <a:ext cx="2392663" cy="2392663"/>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5.xml><?xml version="1.0" encoding="utf-8"?>
<dgm:layoutDef xmlns:dgm="http://schemas.openxmlformats.org/drawingml/2006/diagram" xmlns:a="http://schemas.openxmlformats.org/drawingml/2006/main" uniqueId="urn:microsoft.com/office/officeart/2005/8/layout/bProcess2">
  <dgm:title val=""/>
  <dgm:desc val=""/>
  <dgm:catLst>
    <dgm:cat type="process" pri="24000"/>
  </dgm:catLst>
  <dgm:sampData>
    <dgm:dataModel>
      <dgm:ptLst>
        <dgm:pt modelId="0" type="doc"/>
        <dgm:pt modelId="1">
          <dgm:prSet phldr="1"/>
        </dgm:pt>
        <dgm:pt modelId="2">
          <dgm:prSet phldr="1"/>
        </dgm:pt>
        <dgm:pt modelId="3">
          <dgm:prSet phldr="1"/>
        </dgm:pt>
        <dgm:pt modelId="4">
          <dgm:prSet phldr="1"/>
        </dgm:pt>
        <dgm:pt modelId="5">
          <dgm:prSet phldr="1"/>
        </dgm:pt>
        <dgm:pt modelId="6">
          <dgm:prSet phldr="1"/>
        </dgm:pt>
        <dgm:pt modelId="7">
          <dgm:prSet phldr="1"/>
        </dgm:pt>
        <dgm:pt modelId="8">
          <dgm:prSet phldr="1"/>
        </dgm:pt>
        <dgm:pt modelId="9">
          <dgm:prSet phldr="1"/>
        </dgm:pt>
      </dgm:ptLst>
      <dgm:cxnLst>
        <dgm:cxn modelId="10" srcId="0" destId="1" srcOrd="0" destOrd="0"/>
        <dgm:cxn modelId="11" srcId="0" destId="2" srcOrd="1" destOrd="0"/>
        <dgm:cxn modelId="12" srcId="0" destId="3" srcOrd="2" destOrd="0"/>
        <dgm:cxn modelId="13" srcId="0" destId="4" srcOrd="3" destOrd="0"/>
        <dgm:cxn modelId="14" srcId="0" destId="5" srcOrd="4" destOrd="0"/>
        <dgm:cxn modelId="15" srcId="0" destId="6" srcOrd="5" destOrd="0"/>
        <dgm:cxn modelId="16" srcId="0" destId="7" srcOrd="6" destOrd="0"/>
        <dgm:cxn modelId="17" srcId="0" destId="8" srcOrd="7" destOrd="0"/>
        <dgm:cxn modelId="18" srcId="0" destId="9" srcOrd="8"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dgm:varLst>
    <dgm:choose name="Name0">
      <dgm:if name="Name1" func="var" arg="dir" op="equ" val="norm">
        <dgm:alg type="snake">
          <dgm:param type="grDir" val="tL"/>
          <dgm:param type="flowDir" val="col"/>
          <dgm:param type="contDir" val="revDir"/>
        </dgm:alg>
      </dgm:if>
      <dgm:else name="Name2">
        <dgm:alg type="snake">
          <dgm:param type="grDir" val="tR"/>
          <dgm:param type="flowDir" val="col"/>
          <dgm:param type="contDir" val="revDir"/>
        </dgm:alg>
      </dgm:else>
    </dgm:choose>
    <dgm:shape xmlns:r="http://schemas.openxmlformats.org/officeDocument/2006/relationships" r:blip="">
      <dgm:adjLst/>
    </dgm:shape>
    <dgm:presOf/>
    <dgm:constrLst>
      <dgm:constr type="w" for="ch" forName="firstNode" refType="w"/>
      <dgm:constr type="w" for="ch" forName="lastNode" refType="w" refFor="ch" refForName="firstNode" op="equ"/>
      <dgm:constr type="w" for="ch" forName="middleNode" refType="w" refFor="ch" refForName="firstNode" op="equ"/>
      <dgm:constr type="h" for="ch" ptType="sibTrans" refType="w" refFor="ch" refForName="middleNode" op="equ" fact="0.35"/>
      <dgm:constr type="sp" refType="w" refFor="ch" refForName="middleNode" fact="0.5"/>
      <dgm:constr type="connDist" for="des" ptType="sibTrans" op="equ"/>
      <dgm:constr type="primFontSz" for="ch" forName="firstNode" val="65"/>
      <dgm:constr type="primFontSz" for="ch" forName="lastNode" refType="primFontSz" refFor="ch" refForName="firstNode" op="equ"/>
      <dgm:constr type="primFontSz" for="des" forName="shape" val="65"/>
      <dgm:constr type="primFontSz" for="des" forName="shape" refType="primFontSz" refFor="ch" refForName="firstNode" op="lte"/>
      <dgm:constr type="primFontSz" for="des" forName="shape" refType="primFontSz" refFor="ch" refForName="lastNode" op="lte"/>
    </dgm:constrLst>
    <dgm:ruleLst/>
    <dgm:forEach name="Name3" axis="ch" ptType="node">
      <dgm:choose name="Name4">
        <dgm:if name="Name5" axis="self" ptType="node" func="pos" op="equ" val="1">
          <dgm:layoutNode name="fir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if name="Name6" axis="self" ptType="node" func="revPos" op="equ" val="1">
          <dgm:layoutNode name="lastNod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if>
        <dgm:else name="Name7">
          <dgm:layoutNode name="middleNode">
            <dgm:alg type="composite"/>
            <dgm:shape xmlns:r="http://schemas.openxmlformats.org/officeDocument/2006/relationships" r:blip="">
              <dgm:adjLst/>
            </dgm:shape>
            <dgm:presOf/>
            <dgm:constrLst>
              <dgm:constr type="h" refType="w"/>
              <dgm:constr type="w" for="ch" forName="padding" refType="w"/>
              <dgm:constr type="h" for="ch" forName="padding" refType="h"/>
              <dgm:constr type="w" for="ch" forName="shape" refType="w" fact="0.667"/>
              <dgm:constr type="h" for="ch" forName="shape" refType="h" fact="0.667"/>
              <dgm:constr type="ctrX" for="ch" forName="shape" refType="w" fact="0.5"/>
              <dgm:constr type="ctrY" for="ch" forName="shape" refType="h" fact="0.5"/>
            </dgm:constrLst>
            <dgm:ruleLst/>
            <dgm:layoutNode name="padding">
              <dgm:alg type="sp"/>
              <dgm:shape xmlns:r="http://schemas.openxmlformats.org/officeDocument/2006/relationships" type="ellipse" r:blip="" hideGeom="1">
                <dgm:adjLst/>
              </dgm:shape>
              <dgm:presOf/>
              <dgm:constrLst/>
              <dgm:ruleLst/>
            </dgm:layoutNode>
            <dgm:layoutNode name="shape">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1"/>
                <dgm:constr type="bMarg" refType="primFontSz" fact="0.1"/>
                <dgm:constr type="lMarg" refType="primFontSz" fact="0.1"/>
                <dgm:constr type="rMarg" refType="primFontSz" fact="0.1"/>
              </dgm:constrLst>
              <dgm:ruleLst>
                <dgm:rule type="primFontSz" val="5" fact="NaN" max="NaN"/>
              </dgm:ruleLst>
            </dgm:layoutNode>
          </dgm:layoutNode>
        </dgm:else>
      </dgm:choose>
      <dgm:forEach name="Name8" axis="followSib" ptType="sibTrans" cnt="1">
        <dgm:layoutNode name="sibTrans">
          <dgm:choose name="Name9">
            <dgm:if name="Name10" func="var" arg="dir" op="equ" val="norm">
              <dgm:choose name="Name11">
                <dgm:if name="Name12" axis="self" ptType="sibTrans" func="pos" op="equ" val="1">
                  <dgm:alg type="conn">
                    <dgm:param type="begPts" val="auto"/>
                    <dgm:param type="endPts" val="auto"/>
                    <dgm:param type="srcNode" val="firstNode"/>
                    <dgm:param type="dstNode" val="shape"/>
                  </dgm:alg>
                </dgm:if>
                <dgm:if name="Name13" axis="self" ptType="sibTrans" func="revPos" op="equ" val="1">
                  <dgm:alg type="conn">
                    <dgm:param type="begPts" val="auto"/>
                    <dgm:param type="endPts" val="auto"/>
                    <dgm:param type="srcNode" val="shape"/>
                    <dgm:param type="dstNode" val="lastNode"/>
                  </dgm:alg>
                </dgm:if>
                <dgm:else name="Name14">
                  <dgm:alg type="conn">
                    <dgm:param type="begPts" val="auto"/>
                    <dgm:param type="endPts" val="auto"/>
                    <dgm:param type="srcNode" val="shape"/>
                    <dgm:param type="dstNode" val="shape"/>
                  </dgm:alg>
                </dgm:else>
              </dgm:choose>
            </dgm:if>
            <dgm:else name="Name15">
              <dgm:choose name="Name16">
                <dgm:if name="Name17" axis="self" ptType="sibTrans" func="pos" op="equ" val="1">
                  <dgm:alg type="conn">
                    <dgm:param type="begPts" val="auto"/>
                    <dgm:param type="endPts" val="auto"/>
                    <dgm:param type="srcNode" val="firstNode"/>
                    <dgm:param type="dstNode" val="shape"/>
                  </dgm:alg>
                </dgm:if>
                <dgm:if name="Name18" axis="self" ptType="sibTrans" func="revPos" op="equ" val="1">
                  <dgm:alg type="conn">
                    <dgm:param type="begPts" val="auto"/>
                    <dgm:param type="endPts" val="auto"/>
                    <dgm:param type="srcNode" val="shape"/>
                    <dgm:param type="dstNode" val="lastNode"/>
                  </dgm:alg>
                </dgm:if>
                <dgm:else name="Name19">
                  <dgm:alg type="conn">
                    <dgm:param type="begPts" val="auto"/>
                    <dgm:param type="endPts" val="auto"/>
                    <dgm:param type="srcNode" val="shape"/>
                    <dgm:param type="dstNode" val="shape"/>
                  </dgm:alg>
                </dgm:else>
              </dgm:choose>
            </dgm:else>
          </dgm:choose>
          <dgm:shape xmlns:r="http://schemas.openxmlformats.org/officeDocument/2006/relationships" rot="90" type="triangle" r:blip="">
            <dgm:adjLst/>
          </dgm:shape>
          <dgm:presOf axis="self"/>
          <dgm:constrLst>
            <dgm:constr type="w" refType="h"/>
            <dgm:constr type="connDist"/>
            <dgm:constr type="begPad" refType="connDist" fact="0.25"/>
            <dgm:constr type="endPad" refType="connDist" fact="0.22"/>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4/26/23</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4/26/23</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4/26/23</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3.png"/><Relationship Id="rId7" Type="http://schemas.openxmlformats.org/officeDocument/2006/relationships/diagramColors" Target="../diagrams/colors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2.png"/><Relationship Id="rId7" Type="http://schemas.openxmlformats.org/officeDocument/2006/relationships/diagramColors" Target="../diagrams/colors2.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5.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18.svg"/></Relationships>
</file>

<file path=ppt/slides/_rels/slide15.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20.sv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chemeClr val="bg2">
                <a:tint val="90000"/>
                <a:shade val="96000"/>
                <a:hueMod val="100000"/>
                <a:satMod val="180000"/>
                <a:lumMod val="110000"/>
              </a:schemeClr>
            </a:gs>
            <a:gs pos="100000">
              <a:schemeClr val="bg2">
                <a:shade val="96000"/>
                <a:satMod val="160000"/>
                <a:lumMod val="100000"/>
              </a:schemeClr>
            </a:gs>
          </a:gsLst>
          <a:lin ang="4740000" scaled="1"/>
        </a:gradFill>
        <a:effectLst/>
      </p:bgPr>
    </p:bg>
    <p:spTree>
      <p:nvGrpSpPr>
        <p:cNvPr id="1" name=""/>
        <p:cNvGrpSpPr/>
        <p:nvPr/>
      </p:nvGrpSpPr>
      <p:grpSpPr>
        <a:xfrm>
          <a:off x="0" y="0"/>
          <a:ext cx="0" cy="0"/>
          <a:chOff x="0" y="0"/>
          <a:chExt cx="0" cy="0"/>
        </a:xfrm>
      </p:grpSpPr>
      <p:sp useBgFill="1">
        <p:nvSpPr>
          <p:cNvPr id="18" name="Rectangle 7">
            <a:extLst>
              <a:ext uri="{FF2B5EF4-FFF2-40B4-BE49-F238E27FC236}">
                <a16:creationId xmlns:a16="http://schemas.microsoft.com/office/drawing/2014/main" id="{D5FE3208-9FD8-4883-AB1F-FF214491BB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9" name="Picture 9">
            <a:extLst>
              <a:ext uri="{FF2B5EF4-FFF2-40B4-BE49-F238E27FC236}">
                <a16:creationId xmlns:a16="http://schemas.microsoft.com/office/drawing/2014/main" id="{72E5EC71-6645-4F98-85CD-71B3EA38936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rcRect r="22391" b="24173"/>
          <a:stretch>
            <a:fillRect/>
          </a:stretch>
        </p:blipFill>
        <p:spPr>
          <a:xfrm>
            <a:off x="0" y="0"/>
            <a:ext cx="9579429" cy="5264678"/>
          </a:xfrm>
          <a:custGeom>
            <a:avLst/>
            <a:gdLst>
              <a:gd name="connsiteX0" fmla="*/ 1067284 w 9459686"/>
              <a:gd name="connsiteY0" fmla="*/ 4740916 h 5198870"/>
              <a:gd name="connsiteX1" fmla="*/ 936171 w 9459686"/>
              <a:gd name="connsiteY1" fmla="*/ 4800600 h 5198870"/>
              <a:gd name="connsiteX2" fmla="*/ 925286 w 9459686"/>
              <a:gd name="connsiteY2" fmla="*/ 4855029 h 5198870"/>
              <a:gd name="connsiteX3" fmla="*/ 914400 w 9459686"/>
              <a:gd name="connsiteY3" fmla="*/ 4898571 h 5198870"/>
              <a:gd name="connsiteX4" fmla="*/ 925286 w 9459686"/>
              <a:gd name="connsiteY4" fmla="*/ 4985657 h 5198870"/>
              <a:gd name="connsiteX5" fmla="*/ 914400 w 9459686"/>
              <a:gd name="connsiteY5" fmla="*/ 5029200 h 5198870"/>
              <a:gd name="connsiteX6" fmla="*/ 881743 w 9459686"/>
              <a:gd name="connsiteY6" fmla="*/ 5018314 h 5198870"/>
              <a:gd name="connsiteX7" fmla="*/ 827314 w 9459686"/>
              <a:gd name="connsiteY7" fmla="*/ 4985657 h 5198870"/>
              <a:gd name="connsiteX8" fmla="*/ 794657 w 9459686"/>
              <a:gd name="connsiteY8" fmla="*/ 4963886 h 5198870"/>
              <a:gd name="connsiteX9" fmla="*/ 718457 w 9459686"/>
              <a:gd name="connsiteY9" fmla="*/ 4942114 h 5198870"/>
              <a:gd name="connsiteX10" fmla="*/ 664029 w 9459686"/>
              <a:gd name="connsiteY10" fmla="*/ 4898571 h 5198870"/>
              <a:gd name="connsiteX11" fmla="*/ 653143 w 9459686"/>
              <a:gd name="connsiteY11" fmla="*/ 4865914 h 5198870"/>
              <a:gd name="connsiteX12" fmla="*/ 609600 w 9459686"/>
              <a:gd name="connsiteY12" fmla="*/ 4822371 h 5198870"/>
              <a:gd name="connsiteX13" fmla="*/ 576943 w 9459686"/>
              <a:gd name="connsiteY13" fmla="*/ 4789714 h 5198870"/>
              <a:gd name="connsiteX14" fmla="*/ 337457 w 9459686"/>
              <a:gd name="connsiteY14" fmla="*/ 4800600 h 5198870"/>
              <a:gd name="connsiteX15" fmla="*/ 304800 w 9459686"/>
              <a:gd name="connsiteY15" fmla="*/ 4811486 h 5198870"/>
              <a:gd name="connsiteX16" fmla="*/ 272143 w 9459686"/>
              <a:gd name="connsiteY16" fmla="*/ 4833257 h 5198870"/>
              <a:gd name="connsiteX17" fmla="*/ 261257 w 9459686"/>
              <a:gd name="connsiteY17" fmla="*/ 5040086 h 5198870"/>
              <a:gd name="connsiteX18" fmla="*/ 337457 w 9459686"/>
              <a:gd name="connsiteY18" fmla="*/ 5105400 h 5198870"/>
              <a:gd name="connsiteX19" fmla="*/ 402771 w 9459686"/>
              <a:gd name="connsiteY19" fmla="*/ 5127171 h 5198870"/>
              <a:gd name="connsiteX20" fmla="*/ 1088571 w 9459686"/>
              <a:gd name="connsiteY20" fmla="*/ 5116286 h 5198870"/>
              <a:gd name="connsiteX21" fmla="*/ 1153886 w 9459686"/>
              <a:gd name="connsiteY21" fmla="*/ 5094514 h 5198870"/>
              <a:gd name="connsiteX22" fmla="*/ 1219200 w 9459686"/>
              <a:gd name="connsiteY22" fmla="*/ 5072743 h 5198870"/>
              <a:gd name="connsiteX23" fmla="*/ 1251857 w 9459686"/>
              <a:gd name="connsiteY23" fmla="*/ 5061857 h 5198870"/>
              <a:gd name="connsiteX24" fmla="*/ 1404257 w 9459686"/>
              <a:gd name="connsiteY24" fmla="*/ 5040086 h 5198870"/>
              <a:gd name="connsiteX25" fmla="*/ 1432274 w 9459686"/>
              <a:gd name="connsiteY25" fmla="*/ 5021520 h 5198870"/>
              <a:gd name="connsiteX26" fmla="*/ 1440075 w 9459686"/>
              <a:gd name="connsiteY26" fmla="*/ 5016455 h 5198870"/>
              <a:gd name="connsiteX27" fmla="*/ 1440081 w 9459686"/>
              <a:gd name="connsiteY27" fmla="*/ 5016452 h 5198870"/>
              <a:gd name="connsiteX28" fmla="*/ 1444260 w 9459686"/>
              <a:gd name="connsiteY28" fmla="*/ 5013737 h 5198870"/>
              <a:gd name="connsiteX29" fmla="*/ 1440075 w 9459686"/>
              <a:gd name="connsiteY29" fmla="*/ 5016455 h 5198870"/>
              <a:gd name="connsiteX30" fmla="*/ 1431597 w 9459686"/>
              <a:gd name="connsiteY30" fmla="*/ 5020098 h 5198870"/>
              <a:gd name="connsiteX31" fmla="*/ 1458686 w 9459686"/>
              <a:gd name="connsiteY31" fmla="*/ 4996543 h 5198870"/>
              <a:gd name="connsiteX32" fmla="*/ 1502229 w 9459686"/>
              <a:gd name="connsiteY32" fmla="*/ 4953000 h 5198870"/>
              <a:gd name="connsiteX33" fmla="*/ 1447800 w 9459686"/>
              <a:gd name="connsiteY33" fmla="*/ 4931229 h 5198870"/>
              <a:gd name="connsiteX34" fmla="*/ 1382486 w 9459686"/>
              <a:gd name="connsiteY34" fmla="*/ 4855029 h 5198870"/>
              <a:gd name="connsiteX35" fmla="*/ 1338943 w 9459686"/>
              <a:gd name="connsiteY35" fmla="*/ 4789714 h 5198870"/>
              <a:gd name="connsiteX36" fmla="*/ 1219200 w 9459686"/>
              <a:gd name="connsiteY36" fmla="*/ 4757057 h 5198870"/>
              <a:gd name="connsiteX37" fmla="*/ 1067284 w 9459686"/>
              <a:gd name="connsiteY37" fmla="*/ 4740916 h 5198870"/>
              <a:gd name="connsiteX38" fmla="*/ 1948543 w 9459686"/>
              <a:gd name="connsiteY38" fmla="*/ 4669971 h 5198870"/>
              <a:gd name="connsiteX39" fmla="*/ 1763486 w 9459686"/>
              <a:gd name="connsiteY39" fmla="*/ 4680857 h 5198870"/>
              <a:gd name="connsiteX40" fmla="*/ 1698171 w 9459686"/>
              <a:gd name="connsiteY40" fmla="*/ 4702629 h 5198870"/>
              <a:gd name="connsiteX41" fmla="*/ 1654629 w 9459686"/>
              <a:gd name="connsiteY41" fmla="*/ 4713514 h 5198870"/>
              <a:gd name="connsiteX42" fmla="*/ 1589314 w 9459686"/>
              <a:gd name="connsiteY42" fmla="*/ 4735286 h 5198870"/>
              <a:gd name="connsiteX43" fmla="*/ 1469571 w 9459686"/>
              <a:gd name="connsiteY43" fmla="*/ 4767943 h 5198870"/>
              <a:gd name="connsiteX44" fmla="*/ 1447800 w 9459686"/>
              <a:gd name="connsiteY44" fmla="*/ 4833257 h 5198870"/>
              <a:gd name="connsiteX45" fmla="*/ 1458686 w 9459686"/>
              <a:gd name="connsiteY45" fmla="*/ 4898571 h 5198870"/>
              <a:gd name="connsiteX46" fmla="*/ 1502229 w 9459686"/>
              <a:gd name="connsiteY46" fmla="*/ 4942114 h 5198870"/>
              <a:gd name="connsiteX47" fmla="*/ 1524000 w 9459686"/>
              <a:gd name="connsiteY47" fmla="*/ 4963886 h 5198870"/>
              <a:gd name="connsiteX48" fmla="*/ 1926771 w 9459686"/>
              <a:gd name="connsiteY48" fmla="*/ 5018314 h 5198870"/>
              <a:gd name="connsiteX49" fmla="*/ 2013857 w 9459686"/>
              <a:gd name="connsiteY49" fmla="*/ 5040086 h 5198870"/>
              <a:gd name="connsiteX50" fmla="*/ 2035629 w 9459686"/>
              <a:gd name="connsiteY50" fmla="*/ 5061857 h 5198870"/>
              <a:gd name="connsiteX51" fmla="*/ 2024743 w 9459686"/>
              <a:gd name="connsiteY51" fmla="*/ 4887686 h 5198870"/>
              <a:gd name="connsiteX52" fmla="*/ 2002971 w 9459686"/>
              <a:gd name="connsiteY52" fmla="*/ 4822371 h 5198870"/>
              <a:gd name="connsiteX53" fmla="*/ 1992086 w 9459686"/>
              <a:gd name="connsiteY53" fmla="*/ 4789714 h 5198870"/>
              <a:gd name="connsiteX54" fmla="*/ 1981200 w 9459686"/>
              <a:gd name="connsiteY54" fmla="*/ 4735286 h 5198870"/>
              <a:gd name="connsiteX55" fmla="*/ 1959429 w 9459686"/>
              <a:gd name="connsiteY55" fmla="*/ 4702629 h 5198870"/>
              <a:gd name="connsiteX56" fmla="*/ 1948543 w 9459686"/>
              <a:gd name="connsiteY56" fmla="*/ 4669971 h 5198870"/>
              <a:gd name="connsiteX57" fmla="*/ 0 w 9459686"/>
              <a:gd name="connsiteY57" fmla="*/ 0 h 5198870"/>
              <a:gd name="connsiteX58" fmla="*/ 9459686 w 9459686"/>
              <a:gd name="connsiteY58" fmla="*/ 0 h 5198870"/>
              <a:gd name="connsiteX59" fmla="*/ 9459686 w 9459686"/>
              <a:gd name="connsiteY59" fmla="*/ 5198870 h 5198870"/>
              <a:gd name="connsiteX60" fmla="*/ 4221370 w 9459686"/>
              <a:gd name="connsiteY60" fmla="*/ 5198870 h 5198870"/>
              <a:gd name="connsiteX61" fmla="*/ 4223659 w 9459686"/>
              <a:gd name="connsiteY61" fmla="*/ 5176158 h 5198870"/>
              <a:gd name="connsiteX62" fmla="*/ 3369129 w 9459686"/>
              <a:gd name="connsiteY62" fmla="*/ 4321629 h 5198870"/>
              <a:gd name="connsiteX63" fmla="*/ 2514600 w 9459686"/>
              <a:gd name="connsiteY63" fmla="*/ 5176158 h 5198870"/>
              <a:gd name="connsiteX64" fmla="*/ 2516890 w 9459686"/>
              <a:gd name="connsiteY64" fmla="*/ 5198870 h 5198870"/>
              <a:gd name="connsiteX65" fmla="*/ 0 w 9459686"/>
              <a:gd name="connsiteY65" fmla="*/ 5198870 h 51988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9459686" h="5198870">
                <a:moveTo>
                  <a:pt x="1067284" y="4740916"/>
                </a:moveTo>
                <a:cubicBezTo>
                  <a:pt x="1009733" y="4738469"/>
                  <a:pt x="955649" y="4748660"/>
                  <a:pt x="936171" y="4800600"/>
                </a:cubicBezTo>
                <a:cubicBezTo>
                  <a:pt x="929674" y="4817924"/>
                  <a:pt x="929300" y="4836967"/>
                  <a:pt x="925286" y="4855029"/>
                </a:cubicBezTo>
                <a:cubicBezTo>
                  <a:pt x="922041" y="4869633"/>
                  <a:pt x="918029" y="4884057"/>
                  <a:pt x="914400" y="4898571"/>
                </a:cubicBezTo>
                <a:cubicBezTo>
                  <a:pt x="918029" y="4927600"/>
                  <a:pt x="925286" y="4956402"/>
                  <a:pt x="925286" y="4985657"/>
                </a:cubicBezTo>
                <a:cubicBezTo>
                  <a:pt x="925286" y="5000618"/>
                  <a:pt x="926369" y="5020223"/>
                  <a:pt x="914400" y="5029200"/>
                </a:cubicBezTo>
                <a:cubicBezTo>
                  <a:pt x="905220" y="5036085"/>
                  <a:pt x="892629" y="5021943"/>
                  <a:pt x="881743" y="5018314"/>
                </a:cubicBezTo>
                <a:cubicBezTo>
                  <a:pt x="839217" y="4975790"/>
                  <a:pt x="883839" y="5013920"/>
                  <a:pt x="827314" y="4985657"/>
                </a:cubicBezTo>
                <a:cubicBezTo>
                  <a:pt x="815612" y="4979806"/>
                  <a:pt x="806359" y="4969737"/>
                  <a:pt x="794657" y="4963886"/>
                </a:cubicBezTo>
                <a:cubicBezTo>
                  <a:pt x="779039" y="4956077"/>
                  <a:pt x="732410" y="4945602"/>
                  <a:pt x="718457" y="4942114"/>
                </a:cubicBezTo>
                <a:cubicBezTo>
                  <a:pt x="703622" y="4932224"/>
                  <a:pt x="674371" y="4915808"/>
                  <a:pt x="664029" y="4898571"/>
                </a:cubicBezTo>
                <a:cubicBezTo>
                  <a:pt x="658125" y="4888732"/>
                  <a:pt x="659812" y="4875251"/>
                  <a:pt x="653143" y="4865914"/>
                </a:cubicBezTo>
                <a:cubicBezTo>
                  <a:pt x="641212" y="4849211"/>
                  <a:pt x="624114" y="4836885"/>
                  <a:pt x="609600" y="4822371"/>
                </a:cubicBezTo>
                <a:lnTo>
                  <a:pt x="576943" y="4789714"/>
                </a:lnTo>
                <a:cubicBezTo>
                  <a:pt x="497114" y="4793343"/>
                  <a:pt x="417114" y="4794227"/>
                  <a:pt x="337457" y="4800600"/>
                </a:cubicBezTo>
                <a:cubicBezTo>
                  <a:pt x="326019" y="4801515"/>
                  <a:pt x="315063" y="4806354"/>
                  <a:pt x="304800" y="4811486"/>
                </a:cubicBezTo>
                <a:cubicBezTo>
                  <a:pt x="293098" y="4817337"/>
                  <a:pt x="283029" y="4826000"/>
                  <a:pt x="272143" y="4833257"/>
                </a:cubicBezTo>
                <a:cubicBezTo>
                  <a:pt x="244611" y="4915851"/>
                  <a:pt x="229642" y="4932595"/>
                  <a:pt x="261257" y="5040086"/>
                </a:cubicBezTo>
                <a:cubicBezTo>
                  <a:pt x="265314" y="5053879"/>
                  <a:pt x="318785" y="5097101"/>
                  <a:pt x="337457" y="5105400"/>
                </a:cubicBezTo>
                <a:cubicBezTo>
                  <a:pt x="358428" y="5114720"/>
                  <a:pt x="402771" y="5127171"/>
                  <a:pt x="402771" y="5127171"/>
                </a:cubicBezTo>
                <a:cubicBezTo>
                  <a:pt x="631371" y="5123543"/>
                  <a:pt x="860158" y="5126217"/>
                  <a:pt x="1088571" y="5116286"/>
                </a:cubicBezTo>
                <a:cubicBezTo>
                  <a:pt x="1111499" y="5115289"/>
                  <a:pt x="1132114" y="5101771"/>
                  <a:pt x="1153886" y="5094514"/>
                </a:cubicBezTo>
                <a:lnTo>
                  <a:pt x="1219200" y="5072743"/>
                </a:lnTo>
                <a:cubicBezTo>
                  <a:pt x="1230086" y="5069114"/>
                  <a:pt x="1240605" y="5064107"/>
                  <a:pt x="1251857" y="5061857"/>
                </a:cubicBezTo>
                <a:cubicBezTo>
                  <a:pt x="1338506" y="5044527"/>
                  <a:pt x="1287897" y="5053014"/>
                  <a:pt x="1404257" y="5040086"/>
                </a:cubicBezTo>
                <a:cubicBezTo>
                  <a:pt x="1416822" y="5031710"/>
                  <a:pt x="1425884" y="5025716"/>
                  <a:pt x="1432274" y="5021520"/>
                </a:cubicBezTo>
                <a:lnTo>
                  <a:pt x="1440075" y="5016455"/>
                </a:lnTo>
                <a:lnTo>
                  <a:pt x="1440081" y="5016452"/>
                </a:lnTo>
                <a:cubicBezTo>
                  <a:pt x="1444407" y="5013829"/>
                  <a:pt x="1448015" y="5011361"/>
                  <a:pt x="1444260" y="5013737"/>
                </a:cubicBezTo>
                <a:lnTo>
                  <a:pt x="1440075" y="5016455"/>
                </a:lnTo>
                <a:lnTo>
                  <a:pt x="1431597" y="5020098"/>
                </a:lnTo>
                <a:cubicBezTo>
                  <a:pt x="1432483" y="5018343"/>
                  <a:pt x="1439297" y="5012055"/>
                  <a:pt x="1458686" y="4996543"/>
                </a:cubicBezTo>
                <a:cubicBezTo>
                  <a:pt x="1502472" y="4961514"/>
                  <a:pt x="1482777" y="4991903"/>
                  <a:pt x="1502229" y="4953000"/>
                </a:cubicBezTo>
                <a:lnTo>
                  <a:pt x="1447800" y="4931229"/>
                </a:lnTo>
                <a:cubicBezTo>
                  <a:pt x="1426029" y="4905829"/>
                  <a:pt x="1402883" y="4881545"/>
                  <a:pt x="1382486" y="4855029"/>
                </a:cubicBezTo>
                <a:cubicBezTo>
                  <a:pt x="1366532" y="4834289"/>
                  <a:pt x="1363766" y="4797988"/>
                  <a:pt x="1338943" y="4789714"/>
                </a:cubicBezTo>
                <a:cubicBezTo>
                  <a:pt x="1256076" y="4762092"/>
                  <a:pt x="1296132" y="4772444"/>
                  <a:pt x="1219200" y="4757057"/>
                </a:cubicBezTo>
                <a:cubicBezTo>
                  <a:pt x="1185854" y="4758447"/>
                  <a:pt x="1124836" y="4743362"/>
                  <a:pt x="1067284" y="4740916"/>
                </a:cubicBezTo>
                <a:close/>
                <a:moveTo>
                  <a:pt x="1948543" y="4669971"/>
                </a:moveTo>
                <a:cubicBezTo>
                  <a:pt x="1886857" y="4673600"/>
                  <a:pt x="1824759" y="4672865"/>
                  <a:pt x="1763486" y="4680857"/>
                </a:cubicBezTo>
                <a:cubicBezTo>
                  <a:pt x="1740729" y="4683825"/>
                  <a:pt x="1720435" y="4697063"/>
                  <a:pt x="1698171" y="4702629"/>
                </a:cubicBezTo>
                <a:cubicBezTo>
                  <a:pt x="1683657" y="4706257"/>
                  <a:pt x="1668959" y="4709215"/>
                  <a:pt x="1654629" y="4713514"/>
                </a:cubicBezTo>
                <a:cubicBezTo>
                  <a:pt x="1632647" y="4720108"/>
                  <a:pt x="1611578" y="4729720"/>
                  <a:pt x="1589314" y="4735286"/>
                </a:cubicBezTo>
                <a:cubicBezTo>
                  <a:pt x="1491097" y="4759840"/>
                  <a:pt x="1530615" y="4747595"/>
                  <a:pt x="1469571" y="4767943"/>
                </a:cubicBezTo>
                <a:cubicBezTo>
                  <a:pt x="1462314" y="4789714"/>
                  <a:pt x="1444027" y="4810620"/>
                  <a:pt x="1447800" y="4833257"/>
                </a:cubicBezTo>
                <a:cubicBezTo>
                  <a:pt x="1451429" y="4855028"/>
                  <a:pt x="1448815" y="4878830"/>
                  <a:pt x="1458686" y="4898571"/>
                </a:cubicBezTo>
                <a:cubicBezTo>
                  <a:pt x="1467866" y="4916930"/>
                  <a:pt x="1487715" y="4927600"/>
                  <a:pt x="1502229" y="4942114"/>
                </a:cubicBezTo>
                <a:cubicBezTo>
                  <a:pt x="1509486" y="4949371"/>
                  <a:pt x="1515461" y="4958193"/>
                  <a:pt x="1524000" y="4963886"/>
                </a:cubicBezTo>
                <a:cubicBezTo>
                  <a:pt x="1682956" y="5069858"/>
                  <a:pt x="1563162" y="5006585"/>
                  <a:pt x="1926771" y="5018314"/>
                </a:cubicBezTo>
                <a:cubicBezTo>
                  <a:pt x="1934624" y="5019885"/>
                  <a:pt x="1999510" y="5030522"/>
                  <a:pt x="2013857" y="5040086"/>
                </a:cubicBezTo>
                <a:cubicBezTo>
                  <a:pt x="2016876" y="5042099"/>
                  <a:pt x="2032000" y="5058229"/>
                  <a:pt x="2035629" y="5061857"/>
                </a:cubicBezTo>
                <a:cubicBezTo>
                  <a:pt x="2032000" y="5003800"/>
                  <a:pt x="2032603" y="4945323"/>
                  <a:pt x="2024743" y="4887686"/>
                </a:cubicBezTo>
                <a:cubicBezTo>
                  <a:pt x="2021642" y="4864947"/>
                  <a:pt x="2010228" y="4844143"/>
                  <a:pt x="2002971" y="4822371"/>
                </a:cubicBezTo>
                <a:cubicBezTo>
                  <a:pt x="1999342" y="4811485"/>
                  <a:pt x="1994336" y="4800966"/>
                  <a:pt x="1992086" y="4789714"/>
                </a:cubicBezTo>
                <a:cubicBezTo>
                  <a:pt x="1988457" y="4771571"/>
                  <a:pt x="1987697" y="4752610"/>
                  <a:pt x="1981200" y="4735286"/>
                </a:cubicBezTo>
                <a:cubicBezTo>
                  <a:pt x="1976606" y="4723036"/>
                  <a:pt x="1965280" y="4714331"/>
                  <a:pt x="1959429" y="4702629"/>
                </a:cubicBezTo>
                <a:cubicBezTo>
                  <a:pt x="1954297" y="4692366"/>
                  <a:pt x="1952172" y="4680857"/>
                  <a:pt x="1948543" y="4669971"/>
                </a:cubicBezTo>
                <a:close/>
                <a:moveTo>
                  <a:pt x="0" y="0"/>
                </a:moveTo>
                <a:lnTo>
                  <a:pt x="9459686" y="0"/>
                </a:lnTo>
                <a:lnTo>
                  <a:pt x="9459686" y="5198870"/>
                </a:lnTo>
                <a:lnTo>
                  <a:pt x="4221370" y="5198870"/>
                </a:lnTo>
                <a:lnTo>
                  <a:pt x="4223659" y="5176158"/>
                </a:lnTo>
                <a:cubicBezTo>
                  <a:pt x="4223659" y="4704215"/>
                  <a:pt x="3841072" y="4321629"/>
                  <a:pt x="3369129" y="4321629"/>
                </a:cubicBezTo>
                <a:cubicBezTo>
                  <a:pt x="2897186" y="4321629"/>
                  <a:pt x="2514600" y="4704215"/>
                  <a:pt x="2514600" y="5176158"/>
                </a:cubicBezTo>
                <a:lnTo>
                  <a:pt x="2516890" y="5198870"/>
                </a:lnTo>
                <a:lnTo>
                  <a:pt x="0" y="5198870"/>
                </a:lnTo>
                <a:close/>
              </a:path>
            </a:pathLst>
          </a:custGeom>
        </p:spPr>
      </p:pic>
      <p:sp>
        <p:nvSpPr>
          <p:cNvPr id="2" name="Title 1">
            <a:extLst>
              <a:ext uri="{FF2B5EF4-FFF2-40B4-BE49-F238E27FC236}">
                <a16:creationId xmlns:a16="http://schemas.microsoft.com/office/drawing/2014/main" id="{AD5E54E9-271D-2DFB-DD71-9C3EAE83A48A}"/>
              </a:ext>
            </a:extLst>
          </p:cNvPr>
          <p:cNvSpPr>
            <a:spLocks noGrp="1"/>
          </p:cNvSpPr>
          <p:nvPr>
            <p:ph type="ctrTitle"/>
          </p:nvPr>
        </p:nvSpPr>
        <p:spPr>
          <a:xfrm>
            <a:off x="3516086" y="643467"/>
            <a:ext cx="7644039" cy="3911937"/>
          </a:xfrm>
        </p:spPr>
        <p:txBody>
          <a:bodyPr>
            <a:normAutofit/>
          </a:bodyPr>
          <a:lstStyle/>
          <a:p>
            <a:r>
              <a:rPr lang="en-US" sz="6600"/>
              <a:t>MET CS 555 MACHINE LEARNING</a:t>
            </a:r>
          </a:p>
        </p:txBody>
      </p:sp>
      <p:sp>
        <p:nvSpPr>
          <p:cNvPr id="20" name="Rectangle 11">
            <a:extLst>
              <a:ext uri="{FF2B5EF4-FFF2-40B4-BE49-F238E27FC236}">
                <a16:creationId xmlns:a16="http://schemas.microsoft.com/office/drawing/2014/main" id="{1E6E1A7C-A9E7-4BB0-AD38-5060AA3E19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877138"/>
            <a:ext cx="12192000" cy="198086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Subtitle 2">
            <a:extLst>
              <a:ext uri="{FF2B5EF4-FFF2-40B4-BE49-F238E27FC236}">
                <a16:creationId xmlns:a16="http://schemas.microsoft.com/office/drawing/2014/main" id="{EDAA025E-E383-25AB-4E16-2918EE675FF7}"/>
              </a:ext>
            </a:extLst>
          </p:cNvPr>
          <p:cNvSpPr>
            <a:spLocks noGrp="1"/>
          </p:cNvSpPr>
          <p:nvPr>
            <p:ph type="subTitle" idx="1"/>
          </p:nvPr>
        </p:nvSpPr>
        <p:spPr>
          <a:xfrm>
            <a:off x="1031875" y="5198870"/>
            <a:ext cx="10128250" cy="592330"/>
          </a:xfrm>
        </p:spPr>
        <p:txBody>
          <a:bodyPr>
            <a:normAutofit/>
          </a:bodyPr>
          <a:lstStyle/>
          <a:p>
            <a:pPr>
              <a:lnSpc>
                <a:spcPct val="90000"/>
              </a:lnSpc>
            </a:pPr>
            <a:r>
              <a:rPr lang="en-US" sz="900">
                <a:solidFill>
                  <a:schemeClr val="accent2"/>
                </a:solidFill>
              </a:rPr>
              <a:t>BY: -Shivesh Raj Sahu</a:t>
            </a:r>
          </a:p>
          <a:p>
            <a:pPr>
              <a:lnSpc>
                <a:spcPct val="90000"/>
              </a:lnSpc>
            </a:pPr>
            <a:r>
              <a:rPr lang="en-US" sz="900">
                <a:solidFill>
                  <a:schemeClr val="accent2"/>
                </a:solidFill>
              </a:rPr>
              <a:t>BU ID: -U28571764</a:t>
            </a:r>
          </a:p>
          <a:p>
            <a:pPr>
              <a:lnSpc>
                <a:spcPct val="90000"/>
              </a:lnSpc>
            </a:pPr>
            <a:endParaRPr lang="en-US" sz="900">
              <a:solidFill>
                <a:schemeClr val="accent2"/>
              </a:solidFill>
            </a:endParaRPr>
          </a:p>
        </p:txBody>
      </p:sp>
    </p:spTree>
    <p:extLst>
      <p:ext uri="{BB962C8B-B14F-4D97-AF65-F5344CB8AC3E}">
        <p14:creationId xmlns:p14="http://schemas.microsoft.com/office/powerpoint/2010/main" val="321589242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8">
            <a:extLst>
              <a:ext uri="{FF2B5EF4-FFF2-40B4-BE49-F238E27FC236}">
                <a16:creationId xmlns:a16="http://schemas.microsoft.com/office/drawing/2014/main" id="{CFF5BED3-4EE4-425F-A016-C272586B88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0">
            <a:extLst>
              <a:ext uri="{FF2B5EF4-FFF2-40B4-BE49-F238E27FC236}">
                <a16:creationId xmlns:a16="http://schemas.microsoft.com/office/drawing/2014/main" id="{D856B4CA-4519-432C-ABFD-F2AE5D70E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2284214"/>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19" name="Rectangle 12">
            <a:extLst>
              <a:ext uri="{FF2B5EF4-FFF2-40B4-BE49-F238E27FC236}">
                <a16:creationId xmlns:a16="http://schemas.microsoft.com/office/drawing/2014/main" id="{61D03B64-A2F8-4473-8457-9A6A36B67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84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pic>
        <p:nvPicPr>
          <p:cNvPr id="20" name="Picture 14">
            <a:extLst>
              <a:ext uri="{FF2B5EF4-FFF2-40B4-BE49-F238E27FC236}">
                <a16:creationId xmlns:a16="http://schemas.microsoft.com/office/drawing/2014/main" id="{01C3CE7E-C09F-4DAB-A9B8-00CB40334B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66684"/>
          <a:stretch/>
        </p:blipFill>
        <p:spPr>
          <a:xfrm>
            <a:off x="-3175" y="0"/>
            <a:ext cx="12188825" cy="2284214"/>
          </a:xfrm>
          <a:prstGeom prst="rect">
            <a:avLst/>
          </a:prstGeom>
        </p:spPr>
      </p:pic>
      <p:sp>
        <p:nvSpPr>
          <p:cNvPr id="2" name="Title 1">
            <a:extLst>
              <a:ext uri="{FF2B5EF4-FFF2-40B4-BE49-F238E27FC236}">
                <a16:creationId xmlns:a16="http://schemas.microsoft.com/office/drawing/2014/main" id="{CAFD54C2-3C15-9E4F-54C3-D8051BE3377D}"/>
              </a:ext>
            </a:extLst>
          </p:cNvPr>
          <p:cNvSpPr>
            <a:spLocks noGrp="1"/>
          </p:cNvSpPr>
          <p:nvPr>
            <p:ph type="title"/>
          </p:nvPr>
        </p:nvSpPr>
        <p:spPr>
          <a:xfrm>
            <a:off x="1028700" y="653142"/>
            <a:ext cx="10131425" cy="1219200"/>
          </a:xfrm>
        </p:spPr>
        <p:txBody>
          <a:bodyPr>
            <a:normAutofit/>
          </a:bodyPr>
          <a:lstStyle/>
          <a:p>
            <a:pPr algn="ctr">
              <a:lnSpc>
                <a:spcPct val="90000"/>
              </a:lnSpc>
            </a:pPr>
            <a:r>
              <a:rPr lang="en-US" sz="4100">
                <a:solidFill>
                  <a:srgbClr val="FFFFFF"/>
                </a:solidFill>
                <a:effectLst/>
                <a:latin typeface="Helvetica Neue" panose="02000503000000020004" pitchFamily="2" charset="0"/>
              </a:rPr>
              <a:t> Introduction</a:t>
            </a:r>
            <a:br>
              <a:rPr lang="en-US" sz="4100">
                <a:solidFill>
                  <a:srgbClr val="FFFFFF"/>
                </a:solidFill>
                <a:effectLst/>
                <a:latin typeface="Helvetica Neue" panose="02000503000000020004" pitchFamily="2" charset="0"/>
              </a:rPr>
            </a:br>
            <a:endParaRPr lang="en-US" sz="4100">
              <a:solidFill>
                <a:srgbClr val="FFFFFF"/>
              </a:solidFill>
            </a:endParaRPr>
          </a:p>
        </p:txBody>
      </p:sp>
      <p:graphicFrame>
        <p:nvGraphicFramePr>
          <p:cNvPr id="21" name="Content Placeholder 2">
            <a:extLst>
              <a:ext uri="{FF2B5EF4-FFF2-40B4-BE49-F238E27FC236}">
                <a16:creationId xmlns:a16="http://schemas.microsoft.com/office/drawing/2014/main" id="{219D3358-C14C-6965-EE2F-19C0C5B03EFF}"/>
              </a:ext>
            </a:extLst>
          </p:cNvPr>
          <p:cNvGraphicFramePr>
            <a:graphicFrameLocks noGrp="1"/>
          </p:cNvGraphicFramePr>
          <p:nvPr>
            <p:ph idx="1"/>
            <p:extLst>
              <p:ext uri="{D42A27DB-BD31-4B8C-83A1-F6EECF244321}">
                <p14:modId xmlns:p14="http://schemas.microsoft.com/office/powerpoint/2010/main" val="901311198"/>
              </p:ext>
            </p:extLst>
          </p:nvPr>
        </p:nvGraphicFramePr>
        <p:xfrm>
          <a:off x="1028700" y="2743200"/>
          <a:ext cx="10131425" cy="304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584659848"/>
      </p:ext>
    </p:extLst>
  </p:cSld>
  <p:clrMapOvr>
    <a:overrideClrMapping bg1="lt1" tx1="dk1" bg2="lt2" tx2="dk2" accent1="accent1" accent2="accent2" accent3="accent3" accent4="accent4" accent5="accent5" accent6="accent6" hlink="hlink" folHlink="folHlink"/>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13" name="Rectangle 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083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solidFill>
            <a:schemeClr val="tx2"/>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12" name="Picture 1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25900" b="63148"/>
          <a:stretch/>
        </p:blipFill>
        <p:spPr>
          <a:xfrm>
            <a:off x="4071257" y="1"/>
            <a:ext cx="8117568" cy="227083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2" name="Title 1">
            <a:extLst>
              <a:ext uri="{FF2B5EF4-FFF2-40B4-BE49-F238E27FC236}">
                <a16:creationId xmlns:a16="http://schemas.microsoft.com/office/drawing/2014/main" id="{B2E60B5A-6DDA-2856-618D-DC0948E486DD}"/>
              </a:ext>
            </a:extLst>
          </p:cNvPr>
          <p:cNvSpPr>
            <a:spLocks noGrp="1"/>
          </p:cNvSpPr>
          <p:nvPr>
            <p:ph type="title"/>
          </p:nvPr>
        </p:nvSpPr>
        <p:spPr>
          <a:xfrm>
            <a:off x="1030288" y="609600"/>
            <a:ext cx="10131425" cy="1110343"/>
          </a:xfrm>
        </p:spPr>
        <p:txBody>
          <a:bodyPr>
            <a:normAutofit/>
          </a:bodyPr>
          <a:lstStyle/>
          <a:p>
            <a:pPr algn="ctr">
              <a:lnSpc>
                <a:spcPct val="90000"/>
              </a:lnSpc>
            </a:pPr>
            <a:r>
              <a:rPr lang="en-US">
                <a:solidFill>
                  <a:schemeClr val="bg1"/>
                </a:solidFill>
                <a:effectLst/>
                <a:latin typeface="Helvetica Neue" panose="02000503000000020004" pitchFamily="2" charset="0"/>
              </a:rPr>
              <a:t>Simple Linear Regression</a:t>
            </a:r>
            <a:br>
              <a:rPr lang="en-US">
                <a:solidFill>
                  <a:schemeClr val="bg1"/>
                </a:solidFill>
                <a:effectLst/>
                <a:latin typeface="Helvetica Neue" panose="02000503000000020004" pitchFamily="2" charset="0"/>
              </a:rPr>
            </a:br>
            <a:endParaRPr lang="en-US">
              <a:solidFill>
                <a:schemeClr val="bg1"/>
              </a:solidFill>
            </a:endParaRPr>
          </a:p>
        </p:txBody>
      </p:sp>
      <p:sp>
        <p:nvSpPr>
          <p:cNvPr id="3" name="Content Placeholder 2">
            <a:extLst>
              <a:ext uri="{FF2B5EF4-FFF2-40B4-BE49-F238E27FC236}">
                <a16:creationId xmlns:a16="http://schemas.microsoft.com/office/drawing/2014/main" id="{A05991E3-C02B-F5FD-F158-A06BBD1F48DD}"/>
              </a:ext>
            </a:extLst>
          </p:cNvPr>
          <p:cNvSpPr>
            <a:spLocks noGrp="1"/>
          </p:cNvSpPr>
          <p:nvPr>
            <p:ph idx="1"/>
          </p:nvPr>
        </p:nvSpPr>
        <p:spPr>
          <a:xfrm>
            <a:off x="685801" y="2592572"/>
            <a:ext cx="10820400" cy="3198627"/>
          </a:xfrm>
        </p:spPr>
        <p:txBody>
          <a:bodyPr>
            <a:normAutofit/>
          </a:bodyPr>
          <a:lstStyle/>
          <a:p>
            <a:r>
              <a:rPr lang="en-US" dirty="0">
                <a:effectLst/>
                <a:latin typeface="Helvetica Neue" panose="02000503000000020004" pitchFamily="2" charset="0"/>
              </a:rPr>
              <a:t>Simple linear regression is a statistical method used to model the relationship between two quantitative variables, one of which is considered the independent variable, and the other is considered the dependent variable. </a:t>
            </a:r>
          </a:p>
          <a:p>
            <a:r>
              <a:rPr lang="en-US" dirty="0">
                <a:effectLst/>
                <a:latin typeface="Helvetica Neue" panose="02000503000000020004" pitchFamily="2" charset="0"/>
              </a:rPr>
              <a:t>The objective of simple linear regression is to find the best-fit line that can predict the values of the dependent variable for a given set of values of the independent variable. </a:t>
            </a:r>
          </a:p>
          <a:p>
            <a:r>
              <a:rPr lang="en-US" dirty="0">
                <a:effectLst/>
                <a:latin typeface="Helvetica Neue" panose="02000503000000020004" pitchFamily="2" charset="0"/>
              </a:rPr>
              <a:t>This line is defined by an equation in the form of Y = b0 + b1X, where Y is the dependent variable, X is the independent variable, b0 is the y-intercept of the line, and b1 is the slope of the line. </a:t>
            </a:r>
            <a:endParaRPr lang="en-US" dirty="0"/>
          </a:p>
        </p:txBody>
      </p:sp>
    </p:spTree>
    <p:extLst>
      <p:ext uri="{BB962C8B-B14F-4D97-AF65-F5344CB8AC3E}">
        <p14:creationId xmlns:p14="http://schemas.microsoft.com/office/powerpoint/2010/main" val="1973971563"/>
      </p:ext>
    </p:extLst>
  </p:cSld>
  <p:clrMapOvr>
    <a:overrideClrMapping bg1="lt1" tx1="dk1" bg2="lt2" tx2="dk2" accent1="accent1" accent2="accent2" accent3="accent3" accent4="accent4" accent5="accent5" accent6="accent6" hlink="hlink" folHlink="folHlink"/>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A166780-9337-4437-95D3-5EA9D55AAA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EB3D0F40-BF1F-4120-945D-90C5AAD6E3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175" y="0"/>
            <a:ext cx="4654296" cy="6856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15640A69-3748-450C-8DDB-B2051AC04BC7}"/>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r="61893"/>
          <a:stretch/>
        </p:blipFill>
        <p:spPr>
          <a:xfrm>
            <a:off x="0" y="0"/>
            <a:ext cx="4644770" cy="6856214"/>
          </a:xfrm>
          <a:prstGeom prst="rect">
            <a:avLst/>
          </a:prstGeom>
        </p:spPr>
      </p:pic>
      <p:sp>
        <p:nvSpPr>
          <p:cNvPr id="2" name="Title 1">
            <a:extLst>
              <a:ext uri="{FF2B5EF4-FFF2-40B4-BE49-F238E27FC236}">
                <a16:creationId xmlns:a16="http://schemas.microsoft.com/office/drawing/2014/main" id="{6DC36F14-93A7-6EE5-1B05-E6705F94A424}"/>
              </a:ext>
            </a:extLst>
          </p:cNvPr>
          <p:cNvSpPr>
            <a:spLocks noGrp="1"/>
          </p:cNvSpPr>
          <p:nvPr>
            <p:ph type="title"/>
          </p:nvPr>
        </p:nvSpPr>
        <p:spPr>
          <a:xfrm>
            <a:off x="685801" y="643466"/>
            <a:ext cx="3351530" cy="4995333"/>
          </a:xfrm>
        </p:spPr>
        <p:txBody>
          <a:bodyPr>
            <a:normAutofit/>
          </a:bodyPr>
          <a:lstStyle/>
          <a:p>
            <a:r>
              <a:rPr lang="en-US">
                <a:solidFill>
                  <a:srgbClr val="FFFFFF"/>
                </a:solidFill>
                <a:effectLst/>
                <a:latin typeface="Helvetica Neue" panose="02000503000000020004" pitchFamily="2" charset="0"/>
              </a:rPr>
              <a:t>F-Test Method</a:t>
            </a:r>
            <a:br>
              <a:rPr lang="en-US">
                <a:solidFill>
                  <a:srgbClr val="FFFFFF"/>
                </a:solidFill>
                <a:effectLst/>
                <a:latin typeface="Helvetica Neue" panose="02000503000000020004" pitchFamily="2" charset="0"/>
              </a:rPr>
            </a:br>
            <a:endParaRPr lang="en-US">
              <a:solidFill>
                <a:srgbClr val="FFFFFF"/>
              </a:solidFill>
            </a:endParaRPr>
          </a:p>
        </p:txBody>
      </p:sp>
      <p:sp useBgFill="1">
        <p:nvSpPr>
          <p:cNvPr id="15" name="Rectangle 14">
            <a:extLst>
              <a:ext uri="{FF2B5EF4-FFF2-40B4-BE49-F238E27FC236}">
                <a16:creationId xmlns:a16="http://schemas.microsoft.com/office/drawing/2014/main" id="{66F4F323-644B-4A47-97E9-BFB73840F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651120" y="-2"/>
            <a:ext cx="7537705" cy="685621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50CC442C-D487-992C-3064-13828EC84F2D}"/>
              </a:ext>
            </a:extLst>
          </p:cNvPr>
          <p:cNvGraphicFramePr>
            <a:graphicFrameLocks noGrp="1"/>
          </p:cNvGraphicFramePr>
          <p:nvPr>
            <p:ph idx="1"/>
            <p:extLst>
              <p:ext uri="{D42A27DB-BD31-4B8C-83A1-F6EECF244321}">
                <p14:modId xmlns:p14="http://schemas.microsoft.com/office/powerpoint/2010/main" val="2062519155"/>
              </p:ext>
            </p:extLst>
          </p:nvPr>
        </p:nvGraphicFramePr>
        <p:xfrm>
          <a:off x="5467509" y="804671"/>
          <a:ext cx="5886291" cy="491721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31685393"/>
      </p:ext>
    </p:extLst>
  </p:cSld>
  <p:clrMapOvr>
    <a:overrideClrMapping bg1="lt1" tx1="dk1" bg2="lt2" tx2="dk2" accent1="accent1" accent2="accent2" accent3="accent3" accent4="accent4" accent5="accent5" accent6="accent6" hlink="hlink" folHlink="folHlink"/>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2A1D76-908B-1B5E-95A5-8AC4F32F8FB4}"/>
              </a:ext>
            </a:extLst>
          </p:cNvPr>
          <p:cNvSpPr>
            <a:spLocks noGrp="1"/>
          </p:cNvSpPr>
          <p:nvPr>
            <p:ph idx="1"/>
          </p:nvPr>
        </p:nvSpPr>
        <p:spPr>
          <a:xfrm>
            <a:off x="685801" y="1"/>
            <a:ext cx="10131425" cy="5791200"/>
          </a:xfrm>
        </p:spPr>
        <p:txBody>
          <a:bodyPr>
            <a:normAutofit/>
          </a:bodyPr>
          <a:lstStyle/>
          <a:p>
            <a:r>
              <a:rPr lang="en-US" dirty="0"/>
              <a:t>The F-test is a statistical method used to compare the variances of two or more populations, and the before sample tests were conducted to establish a baseline or background data for the populations being compared using the F-test method.</a:t>
            </a:r>
          </a:p>
          <a:p>
            <a:r>
              <a:rPr lang="en-US" dirty="0"/>
              <a:t>Now, we can find the least squares regression equation which is equal to the following:</a:t>
            </a:r>
          </a:p>
          <a:p>
            <a:r>
              <a:rPr lang="en-US" dirty="0"/>
              <a:t>Y = 0.009975882*(GRE Scores) - 2.436084</a:t>
            </a:r>
          </a:p>
          <a:p>
            <a:r>
              <a:rPr lang="en-US" dirty="0"/>
              <a:t>A Strong Positive Correlation Plot</a:t>
            </a:r>
          </a:p>
          <a:p>
            <a:r>
              <a:rPr lang="en-US" dirty="0"/>
              <a:t>Correlation: 0.8026105</a:t>
            </a:r>
          </a:p>
          <a:p>
            <a:r>
              <a:rPr lang="en-US" dirty="0"/>
              <a:t>Therefore about 80% Correlation</a:t>
            </a:r>
          </a:p>
          <a:p>
            <a:endParaRPr lang="en-US" dirty="0"/>
          </a:p>
        </p:txBody>
      </p:sp>
      <p:pic>
        <p:nvPicPr>
          <p:cNvPr id="6" name="Picture 5">
            <a:extLst>
              <a:ext uri="{FF2B5EF4-FFF2-40B4-BE49-F238E27FC236}">
                <a16:creationId xmlns:a16="http://schemas.microsoft.com/office/drawing/2014/main" id="{79FE1863-083A-BC91-0D17-389AD555BA1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93649" y="2895601"/>
            <a:ext cx="6490970" cy="3573780"/>
          </a:xfrm>
          <a:prstGeom prst="rect">
            <a:avLst/>
          </a:prstGeom>
        </p:spPr>
      </p:pic>
    </p:spTree>
    <p:extLst>
      <p:ext uri="{BB962C8B-B14F-4D97-AF65-F5344CB8AC3E}">
        <p14:creationId xmlns:p14="http://schemas.microsoft.com/office/powerpoint/2010/main" val="528874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CFF5BED3-4EE4-425F-A016-C272586B88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Rectangle 18">
            <a:extLst>
              <a:ext uri="{FF2B5EF4-FFF2-40B4-BE49-F238E27FC236}">
                <a16:creationId xmlns:a16="http://schemas.microsoft.com/office/drawing/2014/main" id="{D856B4CA-4519-432C-ABFD-F2AE5D70E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2284214"/>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61D03B64-A2F8-4473-8457-9A6A36B67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84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pic>
        <p:nvPicPr>
          <p:cNvPr id="23" name="Picture 22">
            <a:extLst>
              <a:ext uri="{FF2B5EF4-FFF2-40B4-BE49-F238E27FC236}">
                <a16:creationId xmlns:a16="http://schemas.microsoft.com/office/drawing/2014/main" id="{01C3CE7E-C09F-4DAB-A9B8-00CB40334B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66684"/>
          <a:stretch/>
        </p:blipFill>
        <p:spPr>
          <a:xfrm>
            <a:off x="-3175" y="0"/>
            <a:ext cx="12188825" cy="2284214"/>
          </a:xfrm>
          <a:prstGeom prst="rect">
            <a:avLst/>
          </a:prstGeom>
        </p:spPr>
      </p:pic>
      <p:sp>
        <p:nvSpPr>
          <p:cNvPr id="2" name="Title 1">
            <a:extLst>
              <a:ext uri="{FF2B5EF4-FFF2-40B4-BE49-F238E27FC236}">
                <a16:creationId xmlns:a16="http://schemas.microsoft.com/office/drawing/2014/main" id="{7711BD16-3CAC-71F2-1A30-86EE5E2A2DAC}"/>
              </a:ext>
            </a:extLst>
          </p:cNvPr>
          <p:cNvSpPr>
            <a:spLocks noGrp="1"/>
          </p:cNvSpPr>
          <p:nvPr>
            <p:ph type="title"/>
          </p:nvPr>
        </p:nvSpPr>
        <p:spPr>
          <a:xfrm>
            <a:off x="1028700" y="653142"/>
            <a:ext cx="10131425" cy="1219200"/>
          </a:xfrm>
        </p:spPr>
        <p:txBody>
          <a:bodyPr>
            <a:normAutofit/>
          </a:bodyPr>
          <a:lstStyle/>
          <a:p>
            <a:pPr algn="ctr">
              <a:lnSpc>
                <a:spcPct val="90000"/>
              </a:lnSpc>
            </a:pPr>
            <a:r>
              <a:rPr lang="en-US" sz="4100">
                <a:solidFill>
                  <a:srgbClr val="FFFFFF"/>
                </a:solidFill>
                <a:effectLst/>
                <a:latin typeface="Helvetica Neue" panose="02000503000000020004" pitchFamily="2" charset="0"/>
              </a:rPr>
              <a:t>ANOVA Table</a:t>
            </a:r>
            <a:br>
              <a:rPr lang="en-US" sz="4100">
                <a:solidFill>
                  <a:srgbClr val="FFFFFF"/>
                </a:solidFill>
                <a:effectLst/>
                <a:latin typeface="Helvetica Neue" panose="02000503000000020004" pitchFamily="2" charset="0"/>
              </a:rPr>
            </a:br>
            <a:endParaRPr lang="en-US" sz="4100">
              <a:solidFill>
                <a:srgbClr val="FFFFFF"/>
              </a:solidFill>
            </a:endParaRPr>
          </a:p>
        </p:txBody>
      </p:sp>
      <p:graphicFrame>
        <p:nvGraphicFramePr>
          <p:cNvPr id="12" name="Content Placeholder 11">
            <a:extLst>
              <a:ext uri="{FF2B5EF4-FFF2-40B4-BE49-F238E27FC236}">
                <a16:creationId xmlns:a16="http://schemas.microsoft.com/office/drawing/2014/main" id="{F2713FC0-6325-B56A-08D0-AAB10C2C8121}"/>
              </a:ext>
            </a:extLst>
          </p:cNvPr>
          <p:cNvGraphicFramePr>
            <a:graphicFrameLocks noGrp="1"/>
          </p:cNvGraphicFramePr>
          <p:nvPr>
            <p:ph idx="1"/>
            <p:extLst>
              <p:ext uri="{D42A27DB-BD31-4B8C-83A1-F6EECF244321}">
                <p14:modId xmlns:p14="http://schemas.microsoft.com/office/powerpoint/2010/main" val="3285121102"/>
              </p:ext>
            </p:extLst>
          </p:nvPr>
        </p:nvGraphicFramePr>
        <p:xfrm>
          <a:off x="1028700" y="2784055"/>
          <a:ext cx="10131427" cy="2966292"/>
        </p:xfrm>
        <a:graphic>
          <a:graphicData uri="http://schemas.openxmlformats.org/drawingml/2006/table">
            <a:tbl>
              <a:tblPr firstRow="1" firstCol="1" bandRow="1">
                <a:tableStyleId>{5C22544A-7EE6-4342-B048-85BDC9FD1C3A}</a:tableStyleId>
              </a:tblPr>
              <a:tblGrid>
                <a:gridCol w="2162391">
                  <a:extLst>
                    <a:ext uri="{9D8B030D-6E8A-4147-A177-3AD203B41FA5}">
                      <a16:colId xmlns:a16="http://schemas.microsoft.com/office/drawing/2014/main" val="3814004950"/>
                    </a:ext>
                  </a:extLst>
                </a:gridCol>
                <a:gridCol w="1093136">
                  <a:extLst>
                    <a:ext uri="{9D8B030D-6E8A-4147-A177-3AD203B41FA5}">
                      <a16:colId xmlns:a16="http://schemas.microsoft.com/office/drawing/2014/main" val="3169371810"/>
                    </a:ext>
                  </a:extLst>
                </a:gridCol>
                <a:gridCol w="1590597">
                  <a:extLst>
                    <a:ext uri="{9D8B030D-6E8A-4147-A177-3AD203B41FA5}">
                      <a16:colId xmlns:a16="http://schemas.microsoft.com/office/drawing/2014/main" val="3211840031"/>
                    </a:ext>
                  </a:extLst>
                </a:gridCol>
                <a:gridCol w="1590597">
                  <a:extLst>
                    <a:ext uri="{9D8B030D-6E8A-4147-A177-3AD203B41FA5}">
                      <a16:colId xmlns:a16="http://schemas.microsoft.com/office/drawing/2014/main" val="3208499326"/>
                    </a:ext>
                  </a:extLst>
                </a:gridCol>
                <a:gridCol w="1677253">
                  <a:extLst>
                    <a:ext uri="{9D8B030D-6E8A-4147-A177-3AD203B41FA5}">
                      <a16:colId xmlns:a16="http://schemas.microsoft.com/office/drawing/2014/main" val="1099318332"/>
                    </a:ext>
                  </a:extLst>
                </a:gridCol>
                <a:gridCol w="2017453">
                  <a:extLst>
                    <a:ext uri="{9D8B030D-6E8A-4147-A177-3AD203B41FA5}">
                      <a16:colId xmlns:a16="http://schemas.microsoft.com/office/drawing/2014/main" val="1606996230"/>
                    </a:ext>
                  </a:extLst>
                </a:gridCol>
              </a:tblGrid>
              <a:tr h="988764">
                <a:tc>
                  <a:txBody>
                    <a:bodyPr/>
                    <a:lstStyle/>
                    <a:p>
                      <a:pPr marL="0" marR="0" indent="0">
                        <a:lnSpc>
                          <a:spcPct val="109000"/>
                        </a:lnSpc>
                        <a:spcBef>
                          <a:spcPts val="0"/>
                        </a:spcBef>
                        <a:spcAft>
                          <a:spcPts val="2160"/>
                        </a:spcAft>
                      </a:pPr>
                      <a:r>
                        <a:rPr lang="en-US" sz="2800">
                          <a:effectLst/>
                        </a:rPr>
                        <a:t> </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DF</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SUM SQ</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MEAN SQ</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F-VALUE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PR(&gt;F)</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extLst>
                  <a:ext uri="{0D108BD9-81ED-4DB2-BD59-A6C34878D82A}">
                    <a16:rowId xmlns:a16="http://schemas.microsoft.com/office/drawing/2014/main" val="4182519937"/>
                  </a:ext>
                </a:extLst>
              </a:tr>
              <a:tr h="988764">
                <a:tc>
                  <a:txBody>
                    <a:bodyPr/>
                    <a:lstStyle/>
                    <a:p>
                      <a:pPr marL="0" marR="0" indent="0">
                        <a:lnSpc>
                          <a:spcPct val="109000"/>
                        </a:lnSpc>
                        <a:spcBef>
                          <a:spcPts val="0"/>
                        </a:spcBef>
                        <a:spcAft>
                          <a:spcPts val="2160"/>
                        </a:spcAft>
                      </a:pPr>
                      <a:r>
                        <a:rPr lang="en-US" sz="2800">
                          <a:effectLst/>
                        </a:rPr>
                        <a:t>GRE SCORE</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1</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5.2273</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5.2273</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720.55</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&lt; 2.2e-16</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extLst>
                  <a:ext uri="{0D108BD9-81ED-4DB2-BD59-A6C34878D82A}">
                    <a16:rowId xmlns:a16="http://schemas.microsoft.com/office/drawing/2014/main" val="744364165"/>
                  </a:ext>
                </a:extLst>
              </a:tr>
              <a:tr h="988764">
                <a:tc>
                  <a:txBody>
                    <a:bodyPr/>
                    <a:lstStyle/>
                    <a:p>
                      <a:pPr marL="0" marR="0" indent="0">
                        <a:lnSpc>
                          <a:spcPct val="109000"/>
                        </a:lnSpc>
                        <a:spcBef>
                          <a:spcPts val="0"/>
                        </a:spcBef>
                        <a:spcAft>
                          <a:spcPts val="2160"/>
                        </a:spcAft>
                      </a:pPr>
                      <a:r>
                        <a:rPr lang="en-US" sz="2800">
                          <a:effectLst/>
                        </a:rPr>
                        <a:t>RESIDUALS</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398</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2.8873</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0.0073</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a:effectLst/>
                        </a:rPr>
                        <a:t> </a:t>
                      </a:r>
                      <a:endParaRPr lang="en-US" sz="240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tc>
                  <a:txBody>
                    <a:bodyPr/>
                    <a:lstStyle/>
                    <a:p>
                      <a:pPr marL="0" marR="0" indent="0">
                        <a:lnSpc>
                          <a:spcPct val="109000"/>
                        </a:lnSpc>
                        <a:spcBef>
                          <a:spcPts val="0"/>
                        </a:spcBef>
                        <a:spcAft>
                          <a:spcPts val="2160"/>
                        </a:spcAft>
                      </a:pPr>
                      <a:r>
                        <a:rPr lang="en-US" sz="2800" dirty="0">
                          <a:effectLst/>
                        </a:rPr>
                        <a:t> </a:t>
                      </a:r>
                      <a:endParaRPr lang="en-US" sz="2400"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endParaRPr>
                    </a:p>
                  </a:txBody>
                  <a:tcPr marL="138648" marR="138648" marT="0" marB="0"/>
                </a:tc>
                <a:extLst>
                  <a:ext uri="{0D108BD9-81ED-4DB2-BD59-A6C34878D82A}">
                    <a16:rowId xmlns:a16="http://schemas.microsoft.com/office/drawing/2014/main" val="3878877539"/>
                  </a:ext>
                </a:extLst>
              </a:tr>
            </a:tbl>
          </a:graphicData>
        </a:graphic>
      </p:graphicFrame>
    </p:spTree>
    <p:extLst>
      <p:ext uri="{BB962C8B-B14F-4D97-AF65-F5344CB8AC3E}">
        <p14:creationId xmlns:p14="http://schemas.microsoft.com/office/powerpoint/2010/main" val="3705258784"/>
      </p:ext>
    </p:extLst>
  </p:cSld>
  <p:clrMapOvr>
    <a:overrideClrMapping bg1="lt1" tx1="dk1" bg2="lt2" tx2="dk2" accent1="accent1" accent2="accent2" accent3="accent3" accent4="accent4" accent5="accent5" accent6="accent6" hlink="hlink" folHlink="folHlink"/>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CFF5BED3-4EE4-425F-A016-C272586B88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Rectangle 26">
            <a:extLst>
              <a:ext uri="{FF2B5EF4-FFF2-40B4-BE49-F238E27FC236}">
                <a16:creationId xmlns:a16="http://schemas.microsoft.com/office/drawing/2014/main" id="{D856B4CA-4519-432C-ABFD-F2AE5D70E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2284214"/>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61D03B64-A2F8-4473-8457-9A6A36B67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84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pic>
        <p:nvPicPr>
          <p:cNvPr id="31" name="Picture 30">
            <a:extLst>
              <a:ext uri="{FF2B5EF4-FFF2-40B4-BE49-F238E27FC236}">
                <a16:creationId xmlns:a16="http://schemas.microsoft.com/office/drawing/2014/main" id="{01C3CE7E-C09F-4DAB-A9B8-00CB40334B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66684"/>
          <a:stretch/>
        </p:blipFill>
        <p:spPr>
          <a:xfrm>
            <a:off x="-3175" y="0"/>
            <a:ext cx="12188825" cy="2284214"/>
          </a:xfrm>
          <a:prstGeom prst="rect">
            <a:avLst/>
          </a:prstGeom>
        </p:spPr>
      </p:pic>
      <p:sp>
        <p:nvSpPr>
          <p:cNvPr id="2" name="Title 1">
            <a:extLst>
              <a:ext uri="{FF2B5EF4-FFF2-40B4-BE49-F238E27FC236}">
                <a16:creationId xmlns:a16="http://schemas.microsoft.com/office/drawing/2014/main" id="{04F993E4-26DA-DACC-8882-63C832BFC397}"/>
              </a:ext>
            </a:extLst>
          </p:cNvPr>
          <p:cNvSpPr>
            <a:spLocks noGrp="1"/>
          </p:cNvSpPr>
          <p:nvPr>
            <p:ph type="title"/>
          </p:nvPr>
        </p:nvSpPr>
        <p:spPr>
          <a:xfrm>
            <a:off x="1028700" y="653142"/>
            <a:ext cx="10131425" cy="1219200"/>
          </a:xfrm>
        </p:spPr>
        <p:txBody>
          <a:bodyPr>
            <a:normAutofit/>
          </a:bodyPr>
          <a:lstStyle/>
          <a:p>
            <a:pPr algn="ctr">
              <a:lnSpc>
                <a:spcPct val="90000"/>
              </a:lnSpc>
            </a:pPr>
            <a:r>
              <a:rPr lang="en-US" sz="4100">
                <a:solidFill>
                  <a:srgbClr val="FFFFFF"/>
                </a:solidFill>
              </a:rPr>
              <a:t>RESIDUALS</a:t>
            </a:r>
            <a:br>
              <a:rPr lang="en-US" sz="4100">
                <a:solidFill>
                  <a:srgbClr val="FFFFFF"/>
                </a:solidFill>
              </a:rPr>
            </a:br>
            <a:endParaRPr lang="en-US" sz="4100">
              <a:solidFill>
                <a:srgbClr val="FFFFFF"/>
              </a:solidFill>
            </a:endParaRPr>
          </a:p>
        </p:txBody>
      </p:sp>
      <p:graphicFrame>
        <p:nvGraphicFramePr>
          <p:cNvPr id="4" name="Content Placeholder 3">
            <a:extLst>
              <a:ext uri="{FF2B5EF4-FFF2-40B4-BE49-F238E27FC236}">
                <a16:creationId xmlns:a16="http://schemas.microsoft.com/office/drawing/2014/main" id="{12E5B8A8-51E1-1DAA-AA84-2004A67631D9}"/>
              </a:ext>
            </a:extLst>
          </p:cNvPr>
          <p:cNvGraphicFramePr>
            <a:graphicFrameLocks noGrp="1"/>
          </p:cNvGraphicFramePr>
          <p:nvPr>
            <p:ph idx="1"/>
            <p:extLst>
              <p:ext uri="{D42A27DB-BD31-4B8C-83A1-F6EECF244321}">
                <p14:modId xmlns:p14="http://schemas.microsoft.com/office/powerpoint/2010/main" val="2305508535"/>
              </p:ext>
            </p:extLst>
          </p:nvPr>
        </p:nvGraphicFramePr>
        <p:xfrm>
          <a:off x="1028700" y="3506585"/>
          <a:ext cx="10131427" cy="1521232"/>
        </p:xfrm>
        <a:graphic>
          <a:graphicData uri="http://schemas.openxmlformats.org/drawingml/2006/table">
            <a:tbl>
              <a:tblPr firstRow="1" firstCol="1" bandRow="1">
                <a:noFill/>
                <a:tableStyleId>{5C22544A-7EE6-4342-B048-85BDC9FD1C3A}</a:tableStyleId>
              </a:tblPr>
              <a:tblGrid>
                <a:gridCol w="2301148">
                  <a:extLst>
                    <a:ext uri="{9D8B030D-6E8A-4147-A177-3AD203B41FA5}">
                      <a16:colId xmlns:a16="http://schemas.microsoft.com/office/drawing/2014/main" val="1836488112"/>
                    </a:ext>
                  </a:extLst>
                </a:gridCol>
                <a:gridCol w="1884053">
                  <a:extLst>
                    <a:ext uri="{9D8B030D-6E8A-4147-A177-3AD203B41FA5}">
                      <a16:colId xmlns:a16="http://schemas.microsoft.com/office/drawing/2014/main" val="804585252"/>
                    </a:ext>
                  </a:extLst>
                </a:gridCol>
                <a:gridCol w="1935064">
                  <a:extLst>
                    <a:ext uri="{9D8B030D-6E8A-4147-A177-3AD203B41FA5}">
                      <a16:colId xmlns:a16="http://schemas.microsoft.com/office/drawing/2014/main" val="2661427833"/>
                    </a:ext>
                  </a:extLst>
                </a:gridCol>
                <a:gridCol w="1625994">
                  <a:extLst>
                    <a:ext uri="{9D8B030D-6E8A-4147-A177-3AD203B41FA5}">
                      <a16:colId xmlns:a16="http://schemas.microsoft.com/office/drawing/2014/main" val="791348989"/>
                    </a:ext>
                  </a:extLst>
                </a:gridCol>
                <a:gridCol w="2385168">
                  <a:extLst>
                    <a:ext uri="{9D8B030D-6E8A-4147-A177-3AD203B41FA5}">
                      <a16:colId xmlns:a16="http://schemas.microsoft.com/office/drawing/2014/main" val="3448098863"/>
                    </a:ext>
                  </a:extLst>
                </a:gridCol>
              </a:tblGrid>
              <a:tr h="817389">
                <a:tc>
                  <a:txBody>
                    <a:bodyPr/>
                    <a:lstStyle/>
                    <a:p>
                      <a:pPr marL="0" marR="0" indent="0">
                        <a:lnSpc>
                          <a:spcPct val="103000"/>
                        </a:lnSpc>
                        <a:spcBef>
                          <a:spcPts val="0"/>
                        </a:spcBef>
                        <a:spcAft>
                          <a:spcPts val="245"/>
                        </a:spcAft>
                      </a:pPr>
                      <a:r>
                        <a:rPr lang="en-US" sz="3000" b="1" cap="none" spc="0">
                          <a:solidFill>
                            <a:schemeClr val="tx1"/>
                          </a:solidFill>
                          <a:effectLst/>
                        </a:rPr>
                        <a:t>Minimum</a:t>
                      </a:r>
                      <a:endParaRPr lang="en-US" sz="30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988" marR="274121" marT="34568" marB="259260" anchor="b">
                    <a:lnL w="12700" cmpd="sng">
                      <a:noFill/>
                    </a:lnL>
                    <a:lnR w="12700" cmpd="sng">
                      <a:noFill/>
                    </a:lnR>
                    <a:lnT w="9525" cap="flat" cmpd="sng" algn="ctr">
                      <a:noFill/>
                      <a:prstDash val="solid"/>
                    </a:lnT>
                    <a:lnB w="38100" cmpd="sng">
                      <a:noFill/>
                    </a:lnB>
                    <a:noFill/>
                  </a:tcPr>
                </a:tc>
                <a:tc>
                  <a:txBody>
                    <a:bodyPr/>
                    <a:lstStyle/>
                    <a:p>
                      <a:pPr marL="0" marR="0" indent="0">
                        <a:lnSpc>
                          <a:spcPct val="103000"/>
                        </a:lnSpc>
                        <a:spcBef>
                          <a:spcPts val="0"/>
                        </a:spcBef>
                        <a:spcAft>
                          <a:spcPts val="245"/>
                        </a:spcAft>
                      </a:pPr>
                      <a:r>
                        <a:rPr lang="en-US" sz="3000" b="1" cap="none" spc="0">
                          <a:solidFill>
                            <a:schemeClr val="tx1"/>
                          </a:solidFill>
                          <a:effectLst/>
                        </a:rPr>
                        <a:t>Q1</a:t>
                      </a:r>
                      <a:endParaRPr lang="en-US" sz="30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988" marR="274121" marT="34568" marB="259260" anchor="b">
                    <a:lnL w="12700" cmpd="sng">
                      <a:noFill/>
                    </a:lnL>
                    <a:lnR w="12700" cmpd="sng">
                      <a:noFill/>
                    </a:lnR>
                    <a:lnT w="9525" cap="flat" cmpd="sng" algn="ctr">
                      <a:noFill/>
                      <a:prstDash val="solid"/>
                    </a:lnT>
                    <a:lnB w="38100" cmpd="sng">
                      <a:noFill/>
                    </a:lnB>
                    <a:noFill/>
                  </a:tcPr>
                </a:tc>
                <a:tc>
                  <a:txBody>
                    <a:bodyPr/>
                    <a:lstStyle/>
                    <a:p>
                      <a:pPr marL="0" marR="0" indent="0">
                        <a:lnSpc>
                          <a:spcPct val="103000"/>
                        </a:lnSpc>
                        <a:spcBef>
                          <a:spcPts val="0"/>
                        </a:spcBef>
                        <a:spcAft>
                          <a:spcPts val="245"/>
                        </a:spcAft>
                      </a:pPr>
                      <a:r>
                        <a:rPr lang="en-US" sz="3000" b="1" cap="none" spc="0">
                          <a:solidFill>
                            <a:schemeClr val="tx1"/>
                          </a:solidFill>
                          <a:effectLst/>
                        </a:rPr>
                        <a:t>Median</a:t>
                      </a:r>
                      <a:endParaRPr lang="en-US" sz="30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988" marR="274121" marT="34568" marB="259260" anchor="b">
                    <a:lnL w="12700" cmpd="sng">
                      <a:noFill/>
                    </a:lnL>
                    <a:lnR w="12700" cmpd="sng">
                      <a:noFill/>
                    </a:lnR>
                    <a:lnT w="9525" cap="flat" cmpd="sng" algn="ctr">
                      <a:noFill/>
                      <a:prstDash val="solid"/>
                    </a:lnT>
                    <a:lnB w="38100" cmpd="sng">
                      <a:noFill/>
                    </a:lnB>
                    <a:noFill/>
                  </a:tcPr>
                </a:tc>
                <a:tc>
                  <a:txBody>
                    <a:bodyPr/>
                    <a:lstStyle/>
                    <a:p>
                      <a:pPr marL="0" marR="0" indent="0">
                        <a:lnSpc>
                          <a:spcPct val="103000"/>
                        </a:lnSpc>
                        <a:spcBef>
                          <a:spcPts val="0"/>
                        </a:spcBef>
                        <a:spcAft>
                          <a:spcPts val="245"/>
                        </a:spcAft>
                      </a:pPr>
                      <a:r>
                        <a:rPr lang="en-US" sz="3000" b="1" cap="none" spc="0">
                          <a:solidFill>
                            <a:schemeClr val="tx1"/>
                          </a:solidFill>
                          <a:effectLst/>
                        </a:rPr>
                        <a:t>Q3</a:t>
                      </a:r>
                      <a:endParaRPr lang="en-US" sz="30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988" marR="274121" marT="34568" marB="259260" anchor="b">
                    <a:lnL w="12700" cmpd="sng">
                      <a:noFill/>
                    </a:lnL>
                    <a:lnR w="12700" cmpd="sng">
                      <a:noFill/>
                    </a:lnR>
                    <a:lnT w="9525" cap="flat" cmpd="sng" algn="ctr">
                      <a:noFill/>
                      <a:prstDash val="solid"/>
                    </a:lnT>
                    <a:lnB w="38100" cmpd="sng">
                      <a:noFill/>
                    </a:lnB>
                    <a:noFill/>
                  </a:tcPr>
                </a:tc>
                <a:tc>
                  <a:txBody>
                    <a:bodyPr/>
                    <a:lstStyle/>
                    <a:p>
                      <a:pPr marL="0" marR="0" indent="0">
                        <a:lnSpc>
                          <a:spcPct val="103000"/>
                        </a:lnSpc>
                        <a:spcBef>
                          <a:spcPts val="0"/>
                        </a:spcBef>
                        <a:spcAft>
                          <a:spcPts val="245"/>
                        </a:spcAft>
                      </a:pPr>
                      <a:r>
                        <a:rPr lang="en-US" sz="3000" b="1" cap="none" spc="0">
                          <a:solidFill>
                            <a:schemeClr val="tx1"/>
                          </a:solidFill>
                          <a:effectLst/>
                        </a:rPr>
                        <a:t>Maximum</a:t>
                      </a:r>
                      <a:endParaRPr lang="en-US" sz="3000" b="1"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988" marR="274121" marT="34568" marB="259260" anchor="b">
                    <a:lnL w="12700" cmpd="sng">
                      <a:noFill/>
                    </a:lnL>
                    <a:lnR w="12700" cmpd="sng">
                      <a:noFill/>
                    </a:lnR>
                    <a:lnT w="9525" cap="flat" cmpd="sng" algn="ctr">
                      <a:noFill/>
                      <a:prstDash val="solid"/>
                    </a:lnT>
                    <a:lnB w="38100" cmpd="sng">
                      <a:noFill/>
                    </a:lnB>
                    <a:noFill/>
                  </a:tcPr>
                </a:tc>
                <a:extLst>
                  <a:ext uri="{0D108BD9-81ED-4DB2-BD59-A6C34878D82A}">
                    <a16:rowId xmlns:a16="http://schemas.microsoft.com/office/drawing/2014/main" val="636032867"/>
                  </a:ext>
                </a:extLst>
              </a:tr>
              <a:tr h="703843">
                <a:tc>
                  <a:txBody>
                    <a:bodyPr/>
                    <a:lstStyle/>
                    <a:p>
                      <a:pPr marL="0" marR="0" indent="0">
                        <a:lnSpc>
                          <a:spcPct val="103000"/>
                        </a:lnSpc>
                        <a:spcBef>
                          <a:spcPts val="0"/>
                        </a:spcBef>
                        <a:spcAft>
                          <a:spcPts val="245"/>
                        </a:spcAft>
                      </a:pPr>
                      <a:r>
                        <a:rPr lang="en-US" sz="2300" b="1" cap="none" spc="0" dirty="0">
                          <a:solidFill>
                            <a:schemeClr val="tx1"/>
                          </a:solidFill>
                          <a:effectLst/>
                        </a:rPr>
                        <a:t>-</a:t>
                      </a:r>
                      <a:r>
                        <a:rPr lang="en-US" sz="2300" b="0" cap="none" spc="0" dirty="0">
                          <a:solidFill>
                            <a:schemeClr val="tx1"/>
                          </a:solidFill>
                          <a:effectLst/>
                        </a:rPr>
                        <a:t>0.33613</a:t>
                      </a:r>
                      <a:endParaRPr lang="en-US" sz="2300" b="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988" marR="274121" marT="34568" marB="259260">
                    <a:lnL w="9525" cap="flat" cmpd="sng" algn="ctr">
                      <a:solidFill>
                        <a:schemeClr val="tx1"/>
                      </a:solidFill>
                      <a:prstDash val="solid"/>
                    </a:lnL>
                    <a:lnR w="12700" cmpd="sng">
                      <a:noFill/>
                      <a:prstDash val="solid"/>
                    </a:lnR>
                    <a:lnT w="38100" cmpd="sng">
                      <a:noFill/>
                    </a:lnT>
                    <a:lnB w="12700" cmpd="sng">
                      <a:noFill/>
                      <a:prstDash val="solid"/>
                    </a:lnB>
                    <a:noFill/>
                  </a:tcPr>
                </a:tc>
                <a:tc>
                  <a:txBody>
                    <a:bodyPr/>
                    <a:lstStyle/>
                    <a:p>
                      <a:pPr marL="0" marR="0" indent="0">
                        <a:lnSpc>
                          <a:spcPct val="103000"/>
                        </a:lnSpc>
                        <a:spcBef>
                          <a:spcPts val="0"/>
                        </a:spcBef>
                        <a:spcAft>
                          <a:spcPts val="245"/>
                        </a:spcAft>
                      </a:pPr>
                      <a:r>
                        <a:rPr lang="en-US" sz="2300" cap="none" spc="0">
                          <a:solidFill>
                            <a:schemeClr val="tx1"/>
                          </a:solidFill>
                          <a:effectLst/>
                        </a:rPr>
                        <a:t>-0.04604  </a:t>
                      </a:r>
                      <a:endParaRPr lang="en-US" sz="23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988" marR="274121" marT="34568" marB="259260">
                    <a:lnL w="12700" cmpd="sng">
                      <a:noFill/>
                      <a:prstDash val="solid"/>
                    </a:lnL>
                    <a:lnR w="12700" cmpd="sng">
                      <a:noFill/>
                      <a:prstDash val="solid"/>
                    </a:lnR>
                    <a:lnT w="38100" cmpd="sng">
                      <a:noFill/>
                    </a:lnT>
                    <a:lnB w="12700" cmpd="sng">
                      <a:noFill/>
                      <a:prstDash val="solid"/>
                    </a:lnB>
                    <a:noFill/>
                  </a:tcPr>
                </a:tc>
                <a:tc>
                  <a:txBody>
                    <a:bodyPr/>
                    <a:lstStyle/>
                    <a:p>
                      <a:pPr marL="0" marR="0" indent="0">
                        <a:lnSpc>
                          <a:spcPct val="103000"/>
                        </a:lnSpc>
                        <a:spcBef>
                          <a:spcPts val="0"/>
                        </a:spcBef>
                        <a:spcAft>
                          <a:spcPts val="245"/>
                        </a:spcAft>
                      </a:pPr>
                      <a:r>
                        <a:rPr lang="en-US" sz="2300" cap="none" spc="0">
                          <a:solidFill>
                            <a:schemeClr val="tx1"/>
                          </a:solidFill>
                          <a:effectLst/>
                        </a:rPr>
                        <a:t>0.00408</a:t>
                      </a:r>
                      <a:endParaRPr lang="en-US" sz="23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988" marR="274121" marT="34568" marB="259260">
                    <a:lnL w="12700" cmpd="sng">
                      <a:noFill/>
                      <a:prstDash val="solid"/>
                    </a:lnL>
                    <a:lnR w="12700" cmpd="sng">
                      <a:noFill/>
                      <a:prstDash val="solid"/>
                    </a:lnR>
                    <a:lnT w="38100" cmpd="sng">
                      <a:noFill/>
                    </a:lnT>
                    <a:lnB w="12700" cmpd="sng">
                      <a:noFill/>
                      <a:prstDash val="solid"/>
                    </a:lnB>
                    <a:noFill/>
                  </a:tcPr>
                </a:tc>
                <a:tc>
                  <a:txBody>
                    <a:bodyPr/>
                    <a:lstStyle/>
                    <a:p>
                      <a:pPr marL="0" marR="0" indent="0">
                        <a:lnSpc>
                          <a:spcPct val="103000"/>
                        </a:lnSpc>
                        <a:spcBef>
                          <a:spcPts val="0"/>
                        </a:spcBef>
                        <a:spcAft>
                          <a:spcPts val="245"/>
                        </a:spcAft>
                      </a:pPr>
                      <a:r>
                        <a:rPr lang="en-US" sz="2300" cap="none" spc="0">
                          <a:solidFill>
                            <a:schemeClr val="tx1"/>
                          </a:solidFill>
                          <a:effectLst/>
                        </a:rPr>
                        <a:t>0.05644</a:t>
                      </a:r>
                      <a:endParaRPr lang="en-US" sz="2300" cap="none" spc="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988" marR="274121" marT="34568" marB="259260">
                    <a:lnL w="12700" cmpd="sng">
                      <a:noFill/>
                      <a:prstDash val="solid"/>
                    </a:lnL>
                    <a:lnR w="12700" cmpd="sng">
                      <a:noFill/>
                      <a:prstDash val="solid"/>
                    </a:lnR>
                    <a:lnT w="38100" cmpd="sng">
                      <a:noFill/>
                    </a:lnT>
                    <a:lnB w="12700" cmpd="sng">
                      <a:noFill/>
                      <a:prstDash val="solid"/>
                    </a:lnB>
                    <a:noFill/>
                  </a:tcPr>
                </a:tc>
                <a:tc>
                  <a:txBody>
                    <a:bodyPr/>
                    <a:lstStyle/>
                    <a:p>
                      <a:pPr marL="0" marR="0" indent="0">
                        <a:lnSpc>
                          <a:spcPct val="103000"/>
                        </a:lnSpc>
                        <a:spcBef>
                          <a:spcPts val="0"/>
                        </a:spcBef>
                        <a:spcAft>
                          <a:spcPts val="245"/>
                        </a:spcAft>
                      </a:pPr>
                      <a:r>
                        <a:rPr lang="en-US" sz="2300" cap="none" spc="0" dirty="0">
                          <a:solidFill>
                            <a:schemeClr val="tx1"/>
                          </a:solidFill>
                          <a:effectLst/>
                        </a:rPr>
                        <a:t>0.18339</a:t>
                      </a:r>
                      <a:endParaRPr lang="en-US" sz="2300" cap="none" spc="0" dirty="0">
                        <a:solidFill>
                          <a:schemeClr val="tx1"/>
                        </a:solidFill>
                        <a:effectLst/>
                        <a:latin typeface="Calibri" panose="020F0502020204030204" pitchFamily="34" charset="0"/>
                        <a:ea typeface="Calibri" panose="020F0502020204030204" pitchFamily="34" charset="0"/>
                        <a:cs typeface="Times New Roman" panose="02020603050405020304" pitchFamily="18" charset="0"/>
                      </a:endParaRPr>
                    </a:p>
                  </a:txBody>
                  <a:tcPr marL="120988" marR="274121" marT="34568" marB="259260">
                    <a:lnL w="12700" cmpd="sng">
                      <a:noFill/>
                      <a:prstDash val="solid"/>
                    </a:lnL>
                    <a:lnR w="12700" cmpd="sng">
                      <a:noFill/>
                      <a:prstDash val="solid"/>
                    </a:lnR>
                    <a:lnT w="38100" cmpd="sng">
                      <a:noFill/>
                    </a:lnT>
                    <a:lnB w="12700" cmpd="sng">
                      <a:noFill/>
                      <a:prstDash val="solid"/>
                    </a:lnB>
                    <a:noFill/>
                  </a:tcPr>
                </a:tc>
                <a:extLst>
                  <a:ext uri="{0D108BD9-81ED-4DB2-BD59-A6C34878D82A}">
                    <a16:rowId xmlns:a16="http://schemas.microsoft.com/office/drawing/2014/main" val="3474875063"/>
                  </a:ext>
                </a:extLst>
              </a:tr>
            </a:tbl>
          </a:graphicData>
        </a:graphic>
      </p:graphicFrame>
    </p:spTree>
    <p:extLst>
      <p:ext uri="{BB962C8B-B14F-4D97-AF65-F5344CB8AC3E}">
        <p14:creationId xmlns:p14="http://schemas.microsoft.com/office/powerpoint/2010/main" val="1096475525"/>
      </p:ext>
    </p:extLst>
  </p:cSld>
  <p:clrMapOvr>
    <a:overrideClrMapping bg1="lt1" tx1="dk1" bg2="lt2" tx2="dk2" accent1="accent1" accent2="accent2" accent3="accent3" accent4="accent4" accent5="accent5" accent6="accent6" hlink="hlink" folHlink="folHlink"/>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CFF5BED3-4EE4-425F-A016-C272586B88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1" name="Rectangle 10">
            <a:extLst>
              <a:ext uri="{FF2B5EF4-FFF2-40B4-BE49-F238E27FC236}">
                <a16:creationId xmlns:a16="http://schemas.microsoft.com/office/drawing/2014/main" id="{D856B4CA-4519-432C-ABFD-F2AE5D70E09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825" cy="2284214"/>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61D03B64-A2F8-4473-8457-9A6A36B67B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84214"/>
          </a:xfrm>
          <a:prstGeom prst="rect">
            <a:avLst/>
          </a:prstGeom>
          <a:blipFill dpi="0" rotWithShape="1">
            <a:blip r:embed="rId2"/>
            <a:srcRect/>
            <a:tile tx="0" ty="0" sx="100000" sy="100000" flip="none" algn="tl"/>
          </a:blip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pic>
        <p:nvPicPr>
          <p:cNvPr id="15" name="Picture 14">
            <a:extLst>
              <a:ext uri="{FF2B5EF4-FFF2-40B4-BE49-F238E27FC236}">
                <a16:creationId xmlns:a16="http://schemas.microsoft.com/office/drawing/2014/main" id="{01C3CE7E-C09F-4DAB-A9B8-00CB40334B33}"/>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3">
            <a:extLst>
              <a:ext uri="{28A0092B-C50C-407E-A947-70E740481C1C}">
                <a14:useLocalDpi xmlns:a14="http://schemas.microsoft.com/office/drawing/2010/main" val="0"/>
              </a:ext>
            </a:extLst>
          </a:blip>
          <a:srcRect b="66684"/>
          <a:stretch/>
        </p:blipFill>
        <p:spPr>
          <a:xfrm>
            <a:off x="-3175" y="0"/>
            <a:ext cx="12188825" cy="2284214"/>
          </a:xfrm>
          <a:prstGeom prst="rect">
            <a:avLst/>
          </a:prstGeom>
        </p:spPr>
      </p:pic>
      <p:sp>
        <p:nvSpPr>
          <p:cNvPr id="2" name="Title 1">
            <a:extLst>
              <a:ext uri="{FF2B5EF4-FFF2-40B4-BE49-F238E27FC236}">
                <a16:creationId xmlns:a16="http://schemas.microsoft.com/office/drawing/2014/main" id="{A4F5DA0B-9516-EABD-4C9C-0D8FA3A16C1B}"/>
              </a:ext>
            </a:extLst>
          </p:cNvPr>
          <p:cNvSpPr>
            <a:spLocks noGrp="1"/>
          </p:cNvSpPr>
          <p:nvPr>
            <p:ph type="title"/>
          </p:nvPr>
        </p:nvSpPr>
        <p:spPr>
          <a:xfrm>
            <a:off x="1028700" y="653142"/>
            <a:ext cx="10131425" cy="1219200"/>
          </a:xfrm>
        </p:spPr>
        <p:txBody>
          <a:bodyPr>
            <a:normAutofit/>
          </a:bodyPr>
          <a:lstStyle/>
          <a:p>
            <a:pPr algn="ctr">
              <a:lnSpc>
                <a:spcPct val="90000"/>
              </a:lnSpc>
            </a:pPr>
            <a:r>
              <a:rPr lang="en-US" sz="4100">
                <a:solidFill>
                  <a:srgbClr val="FFFFFF"/>
                </a:solidFill>
              </a:rPr>
              <a:t>COEFFICIENTS</a:t>
            </a:r>
            <a:br>
              <a:rPr lang="en-US" sz="4100">
                <a:solidFill>
                  <a:srgbClr val="FFFFFF"/>
                </a:solidFill>
              </a:rPr>
            </a:br>
            <a:endParaRPr lang="en-US" sz="4100">
              <a:solidFill>
                <a:srgbClr val="FFFFFF"/>
              </a:solidFill>
            </a:endParaRPr>
          </a:p>
        </p:txBody>
      </p:sp>
      <p:graphicFrame>
        <p:nvGraphicFramePr>
          <p:cNvPr id="4" name="Content Placeholder 3">
            <a:extLst>
              <a:ext uri="{FF2B5EF4-FFF2-40B4-BE49-F238E27FC236}">
                <a16:creationId xmlns:a16="http://schemas.microsoft.com/office/drawing/2014/main" id="{EF22B384-2214-D75C-09A2-DB9280E0323C}"/>
              </a:ext>
            </a:extLst>
          </p:cNvPr>
          <p:cNvGraphicFramePr>
            <a:graphicFrameLocks noGrp="1"/>
          </p:cNvGraphicFramePr>
          <p:nvPr>
            <p:ph idx="1"/>
            <p:extLst>
              <p:ext uri="{D42A27DB-BD31-4B8C-83A1-F6EECF244321}">
                <p14:modId xmlns:p14="http://schemas.microsoft.com/office/powerpoint/2010/main" val="1700186890"/>
              </p:ext>
            </p:extLst>
          </p:nvPr>
        </p:nvGraphicFramePr>
        <p:xfrm>
          <a:off x="1028700" y="3040572"/>
          <a:ext cx="10131427" cy="2453258"/>
        </p:xfrm>
        <a:graphic>
          <a:graphicData uri="http://schemas.openxmlformats.org/drawingml/2006/table">
            <a:tbl>
              <a:tblPr firstRow="1" firstCol="1" bandRow="1">
                <a:noFill/>
                <a:tableStyleId>{5C22544A-7EE6-4342-B048-85BDC9FD1C3A}</a:tableStyleId>
              </a:tblPr>
              <a:tblGrid>
                <a:gridCol w="2025719">
                  <a:extLst>
                    <a:ext uri="{9D8B030D-6E8A-4147-A177-3AD203B41FA5}">
                      <a16:colId xmlns:a16="http://schemas.microsoft.com/office/drawing/2014/main" val="4121852933"/>
                    </a:ext>
                  </a:extLst>
                </a:gridCol>
                <a:gridCol w="2025719">
                  <a:extLst>
                    <a:ext uri="{9D8B030D-6E8A-4147-A177-3AD203B41FA5}">
                      <a16:colId xmlns:a16="http://schemas.microsoft.com/office/drawing/2014/main" val="1178095370"/>
                    </a:ext>
                  </a:extLst>
                </a:gridCol>
                <a:gridCol w="2026663">
                  <a:extLst>
                    <a:ext uri="{9D8B030D-6E8A-4147-A177-3AD203B41FA5}">
                      <a16:colId xmlns:a16="http://schemas.microsoft.com/office/drawing/2014/main" val="1944806894"/>
                    </a:ext>
                  </a:extLst>
                </a:gridCol>
                <a:gridCol w="2026663">
                  <a:extLst>
                    <a:ext uri="{9D8B030D-6E8A-4147-A177-3AD203B41FA5}">
                      <a16:colId xmlns:a16="http://schemas.microsoft.com/office/drawing/2014/main" val="685130182"/>
                    </a:ext>
                  </a:extLst>
                </a:gridCol>
                <a:gridCol w="2026663">
                  <a:extLst>
                    <a:ext uri="{9D8B030D-6E8A-4147-A177-3AD203B41FA5}">
                      <a16:colId xmlns:a16="http://schemas.microsoft.com/office/drawing/2014/main" val="3063398682"/>
                    </a:ext>
                  </a:extLst>
                </a:gridCol>
              </a:tblGrid>
              <a:tr h="1192284">
                <a:tc>
                  <a:txBody>
                    <a:bodyPr/>
                    <a:lstStyle/>
                    <a:p>
                      <a:pPr marL="0" marR="0" indent="0">
                        <a:lnSpc>
                          <a:spcPct val="109000"/>
                        </a:lnSpc>
                        <a:spcBef>
                          <a:spcPts val="0"/>
                        </a:spcBef>
                        <a:spcAft>
                          <a:spcPts val="2160"/>
                        </a:spcAft>
                      </a:pPr>
                      <a:r>
                        <a:rPr lang="en-US" sz="2700" b="1">
                          <a:solidFill>
                            <a:schemeClr val="tx1">
                              <a:lumMod val="75000"/>
                              <a:lumOff val="25000"/>
                            </a:schemeClr>
                          </a:solidFill>
                          <a:effectLst/>
                        </a:rPr>
                        <a:t> </a:t>
                      </a:r>
                      <a:endParaRPr lang="en-US" sz="2700" b="1">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marL="0" marR="0" indent="0">
                        <a:lnSpc>
                          <a:spcPct val="109000"/>
                        </a:lnSpc>
                        <a:spcBef>
                          <a:spcPts val="0"/>
                        </a:spcBef>
                        <a:spcAft>
                          <a:spcPts val="2160"/>
                        </a:spcAft>
                      </a:pPr>
                      <a:r>
                        <a:rPr lang="en-US" sz="2700" b="1">
                          <a:solidFill>
                            <a:schemeClr val="tx1">
                              <a:lumMod val="75000"/>
                              <a:lumOff val="25000"/>
                            </a:schemeClr>
                          </a:solidFill>
                          <a:effectLst/>
                        </a:rPr>
                        <a:t>Estimate</a:t>
                      </a:r>
                      <a:endParaRPr lang="en-US" sz="2700" b="1">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marL="0" marR="0" indent="0">
                        <a:lnSpc>
                          <a:spcPct val="109000"/>
                        </a:lnSpc>
                        <a:spcBef>
                          <a:spcPts val="0"/>
                        </a:spcBef>
                        <a:spcAft>
                          <a:spcPts val="2160"/>
                        </a:spcAft>
                      </a:pPr>
                      <a:r>
                        <a:rPr lang="en-US" sz="2700" b="1">
                          <a:solidFill>
                            <a:schemeClr val="tx1">
                              <a:lumMod val="75000"/>
                              <a:lumOff val="25000"/>
                            </a:schemeClr>
                          </a:solidFill>
                          <a:effectLst/>
                        </a:rPr>
                        <a:t>Std. Error</a:t>
                      </a:r>
                      <a:endParaRPr lang="en-US" sz="2700" b="1">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marL="0" marR="0" indent="0">
                        <a:lnSpc>
                          <a:spcPct val="109000"/>
                        </a:lnSpc>
                        <a:spcBef>
                          <a:spcPts val="0"/>
                        </a:spcBef>
                        <a:spcAft>
                          <a:spcPts val="2160"/>
                        </a:spcAft>
                      </a:pPr>
                      <a:r>
                        <a:rPr lang="en-US" sz="2700" b="1">
                          <a:solidFill>
                            <a:schemeClr val="tx1">
                              <a:lumMod val="75000"/>
                              <a:lumOff val="25000"/>
                            </a:schemeClr>
                          </a:solidFill>
                          <a:effectLst/>
                        </a:rPr>
                        <a:t>t value</a:t>
                      </a:r>
                      <a:endParaRPr lang="en-US" sz="2700" b="1">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tc>
                  <a:txBody>
                    <a:bodyPr/>
                    <a:lstStyle/>
                    <a:p>
                      <a:pPr marL="0" marR="0" indent="0">
                        <a:lnSpc>
                          <a:spcPct val="109000"/>
                        </a:lnSpc>
                        <a:spcBef>
                          <a:spcPts val="0"/>
                        </a:spcBef>
                        <a:spcAft>
                          <a:spcPts val="2160"/>
                        </a:spcAft>
                      </a:pPr>
                      <a:r>
                        <a:rPr lang="en-US" sz="2700" b="1">
                          <a:solidFill>
                            <a:schemeClr val="tx1">
                              <a:lumMod val="75000"/>
                              <a:lumOff val="25000"/>
                            </a:schemeClr>
                          </a:solidFill>
                          <a:effectLst/>
                        </a:rPr>
                        <a:t>PR(&gt;|t|)</a:t>
                      </a:r>
                      <a:endParaRPr lang="en-US" sz="2700" b="1">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12700" cmpd="sng">
                      <a:noFill/>
                      <a:prstDash val="solid"/>
                    </a:lnL>
                    <a:lnR w="12700" cmpd="sng">
                      <a:noFill/>
                      <a:prstDash val="solid"/>
                    </a:lnR>
                    <a:lnT w="9525" cap="flat" cmpd="sng" algn="ctr">
                      <a:noFill/>
                      <a:prstDash val="solid"/>
                    </a:lnT>
                    <a:lnB w="9525" cap="flat" cmpd="sng" algn="ctr">
                      <a:solidFill>
                        <a:srgbClr val="C7C6C1"/>
                      </a:solidFill>
                      <a:prstDash val="solid"/>
                    </a:lnB>
                    <a:noFill/>
                  </a:tcPr>
                </a:tc>
                <a:extLst>
                  <a:ext uri="{0D108BD9-81ED-4DB2-BD59-A6C34878D82A}">
                    <a16:rowId xmlns:a16="http://schemas.microsoft.com/office/drawing/2014/main" val="3685931893"/>
                  </a:ext>
                </a:extLst>
              </a:tr>
              <a:tr h="630487">
                <a:tc>
                  <a:txBody>
                    <a:bodyPr/>
                    <a:lstStyle/>
                    <a:p>
                      <a:pPr marL="0" marR="0" indent="0">
                        <a:lnSpc>
                          <a:spcPct val="109000"/>
                        </a:lnSpc>
                        <a:spcBef>
                          <a:spcPts val="0"/>
                        </a:spcBef>
                        <a:spcAft>
                          <a:spcPts val="2160"/>
                        </a:spcAft>
                      </a:pPr>
                      <a:r>
                        <a:rPr lang="en-US" sz="1900" b="1">
                          <a:solidFill>
                            <a:schemeClr val="tx1">
                              <a:lumMod val="75000"/>
                              <a:lumOff val="25000"/>
                            </a:schemeClr>
                          </a:solidFill>
                          <a:effectLst/>
                        </a:rPr>
                        <a:t>(Intercept)</a:t>
                      </a:r>
                      <a:endParaRPr lang="en-US" sz="1900" b="1">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19050" cap="flat" cmpd="sng" algn="ctr">
                      <a:noFill/>
                      <a:prstDash val="solid"/>
                    </a:lnL>
                    <a:lnR w="9525" cap="flat" cmpd="sng" algn="ctr">
                      <a:solidFill>
                        <a:srgbClr val="C7C6C1"/>
                      </a:solidFill>
                      <a:prstDash val="solid"/>
                    </a:lnR>
                    <a:lnT w="9525" cap="flat" cmpd="sng" algn="ctr">
                      <a:solidFill>
                        <a:srgbClr val="C7C6C1"/>
                      </a:solidFill>
                      <a:prstDash val="solid"/>
                    </a:lnT>
                    <a:lnB w="12700" cmpd="sng">
                      <a:noFill/>
                      <a:prstDash val="solid"/>
                    </a:lnB>
                    <a:noFill/>
                  </a:tcPr>
                </a:tc>
                <a:tc>
                  <a:txBody>
                    <a:bodyPr/>
                    <a:lstStyle/>
                    <a:p>
                      <a:pPr marL="0" marR="0" indent="0">
                        <a:lnSpc>
                          <a:spcPct val="109000"/>
                        </a:lnSpc>
                        <a:spcBef>
                          <a:spcPts val="0"/>
                        </a:spcBef>
                        <a:spcAft>
                          <a:spcPts val="2160"/>
                        </a:spcAft>
                      </a:pPr>
                      <a:r>
                        <a:rPr lang="en-US" sz="1900">
                          <a:solidFill>
                            <a:schemeClr val="tx1">
                              <a:lumMod val="75000"/>
                              <a:lumOff val="25000"/>
                            </a:schemeClr>
                          </a:solidFill>
                          <a:effectLst/>
                        </a:rPr>
                        <a:t>-2.4360842</a:t>
                      </a:r>
                      <a:endParaRPr lang="en-US" sz="190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9525" cap="flat" cmpd="sng" algn="ctr">
                      <a:solidFill>
                        <a:srgbClr val="C7C6C1"/>
                      </a:solid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marL="0" marR="0" indent="0">
                        <a:lnSpc>
                          <a:spcPct val="109000"/>
                        </a:lnSpc>
                        <a:spcBef>
                          <a:spcPts val="0"/>
                        </a:spcBef>
                        <a:spcAft>
                          <a:spcPts val="2160"/>
                        </a:spcAft>
                      </a:pPr>
                      <a:r>
                        <a:rPr lang="en-US" sz="1900">
                          <a:solidFill>
                            <a:schemeClr val="tx1">
                              <a:lumMod val="75000"/>
                              <a:lumOff val="25000"/>
                            </a:schemeClr>
                          </a:solidFill>
                          <a:effectLst/>
                        </a:rPr>
                        <a:t>0.1178141</a:t>
                      </a:r>
                      <a:endParaRPr lang="en-US" sz="190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marL="0" marR="0" indent="0">
                        <a:lnSpc>
                          <a:spcPct val="109000"/>
                        </a:lnSpc>
                        <a:spcBef>
                          <a:spcPts val="0"/>
                        </a:spcBef>
                        <a:spcAft>
                          <a:spcPts val="2160"/>
                        </a:spcAft>
                      </a:pPr>
                      <a:r>
                        <a:rPr lang="en-US" sz="1900">
                          <a:solidFill>
                            <a:schemeClr val="tx1">
                              <a:lumMod val="75000"/>
                              <a:lumOff val="25000"/>
                            </a:schemeClr>
                          </a:solidFill>
                          <a:effectLst/>
                        </a:rPr>
                        <a:t>-20.68</a:t>
                      </a:r>
                      <a:endParaRPr lang="en-US" sz="190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marL="0" marR="0" indent="0">
                        <a:lnSpc>
                          <a:spcPct val="109000"/>
                        </a:lnSpc>
                        <a:spcBef>
                          <a:spcPts val="0"/>
                        </a:spcBef>
                        <a:spcAft>
                          <a:spcPts val="2160"/>
                        </a:spcAft>
                      </a:pPr>
                      <a:r>
                        <a:rPr lang="en-US" sz="1900">
                          <a:solidFill>
                            <a:schemeClr val="tx1">
                              <a:lumMod val="75000"/>
                              <a:lumOff val="25000"/>
                            </a:schemeClr>
                          </a:solidFill>
                          <a:effectLst/>
                        </a:rPr>
                        <a:t>&lt;2e-16</a:t>
                      </a:r>
                      <a:endParaRPr lang="en-US" sz="190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1064779188"/>
                  </a:ext>
                </a:extLst>
              </a:tr>
              <a:tr h="630487">
                <a:tc>
                  <a:txBody>
                    <a:bodyPr/>
                    <a:lstStyle/>
                    <a:p>
                      <a:pPr marL="0" marR="0" indent="0">
                        <a:lnSpc>
                          <a:spcPct val="109000"/>
                        </a:lnSpc>
                        <a:spcBef>
                          <a:spcPts val="0"/>
                        </a:spcBef>
                        <a:spcAft>
                          <a:spcPts val="2160"/>
                        </a:spcAft>
                      </a:pPr>
                      <a:r>
                        <a:rPr lang="en-US" sz="1900" b="1">
                          <a:solidFill>
                            <a:schemeClr val="tx1">
                              <a:lumMod val="75000"/>
                              <a:lumOff val="25000"/>
                            </a:schemeClr>
                          </a:solidFill>
                          <a:effectLst/>
                        </a:rPr>
                        <a:t>GRE.Score</a:t>
                      </a:r>
                      <a:endParaRPr lang="en-US" sz="1900" b="1">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19050" cap="flat" cmpd="sng" algn="ctr">
                      <a:noFill/>
                      <a:prstDash val="solid"/>
                    </a:lnL>
                    <a:lnR w="9525" cap="flat" cmpd="sng" algn="ctr">
                      <a:solidFill>
                        <a:srgbClr val="C7C6C1"/>
                      </a:solidFill>
                      <a:prstDash val="solid"/>
                    </a:lnR>
                    <a:lnT w="12700" cmpd="sng">
                      <a:noFill/>
                      <a:prstDash val="solid"/>
                    </a:lnT>
                    <a:lnB w="12700" cmpd="sng">
                      <a:noFill/>
                      <a:prstDash val="solid"/>
                    </a:lnB>
                    <a:noFill/>
                  </a:tcPr>
                </a:tc>
                <a:tc>
                  <a:txBody>
                    <a:bodyPr/>
                    <a:lstStyle/>
                    <a:p>
                      <a:pPr marL="0" marR="0" indent="0">
                        <a:lnSpc>
                          <a:spcPct val="109000"/>
                        </a:lnSpc>
                        <a:spcBef>
                          <a:spcPts val="0"/>
                        </a:spcBef>
                        <a:spcAft>
                          <a:spcPts val="2160"/>
                        </a:spcAft>
                      </a:pPr>
                      <a:r>
                        <a:rPr lang="en-US" sz="1900">
                          <a:solidFill>
                            <a:schemeClr val="tx1">
                              <a:lumMod val="75000"/>
                              <a:lumOff val="25000"/>
                            </a:schemeClr>
                          </a:solidFill>
                          <a:effectLst/>
                        </a:rPr>
                        <a:t>0.0099759</a:t>
                      </a:r>
                      <a:endParaRPr lang="en-US" sz="190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9525" cap="flat" cmpd="sng" algn="ctr">
                      <a:solidFill>
                        <a:srgbClr val="C7C6C1"/>
                      </a:solid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marL="0" marR="0" indent="0">
                        <a:lnSpc>
                          <a:spcPct val="109000"/>
                        </a:lnSpc>
                        <a:spcBef>
                          <a:spcPts val="0"/>
                        </a:spcBef>
                        <a:spcAft>
                          <a:spcPts val="2160"/>
                        </a:spcAft>
                      </a:pPr>
                      <a:r>
                        <a:rPr lang="en-US" sz="1900">
                          <a:solidFill>
                            <a:schemeClr val="tx1">
                              <a:lumMod val="75000"/>
                              <a:lumOff val="25000"/>
                            </a:schemeClr>
                          </a:solidFill>
                          <a:effectLst/>
                        </a:rPr>
                        <a:t>0.0003716</a:t>
                      </a:r>
                      <a:endParaRPr lang="en-US" sz="190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marL="0" marR="0" indent="0">
                        <a:lnSpc>
                          <a:spcPct val="109000"/>
                        </a:lnSpc>
                        <a:spcBef>
                          <a:spcPts val="0"/>
                        </a:spcBef>
                        <a:spcAft>
                          <a:spcPts val="2160"/>
                        </a:spcAft>
                      </a:pPr>
                      <a:r>
                        <a:rPr lang="en-US" sz="1900">
                          <a:solidFill>
                            <a:schemeClr val="tx1">
                              <a:lumMod val="75000"/>
                              <a:lumOff val="25000"/>
                            </a:schemeClr>
                          </a:solidFill>
                          <a:effectLst/>
                        </a:rPr>
                        <a:t>26.84</a:t>
                      </a:r>
                      <a:endParaRPr lang="en-US" sz="190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tc>
                  <a:txBody>
                    <a:bodyPr/>
                    <a:lstStyle/>
                    <a:p>
                      <a:pPr marL="0" marR="0" indent="0">
                        <a:lnSpc>
                          <a:spcPct val="109000"/>
                        </a:lnSpc>
                        <a:spcBef>
                          <a:spcPts val="0"/>
                        </a:spcBef>
                        <a:spcAft>
                          <a:spcPts val="2160"/>
                        </a:spcAft>
                      </a:pPr>
                      <a:r>
                        <a:rPr lang="en-US" sz="1900">
                          <a:solidFill>
                            <a:schemeClr val="tx1">
                              <a:lumMod val="75000"/>
                              <a:lumOff val="25000"/>
                            </a:schemeClr>
                          </a:solidFill>
                          <a:effectLst/>
                        </a:rPr>
                        <a:t>&lt;2e-16</a:t>
                      </a:r>
                      <a:endParaRPr lang="en-US" sz="1900">
                        <a:solidFill>
                          <a:schemeClr val="tx1">
                            <a:lumMod val="75000"/>
                            <a:lumOff val="25000"/>
                          </a:schemeClr>
                        </a:solidFill>
                        <a:effectLst/>
                        <a:latin typeface="Calibri" panose="020F0502020204030204" pitchFamily="34" charset="0"/>
                        <a:ea typeface="Calibri" panose="020F0502020204030204" pitchFamily="34" charset="0"/>
                        <a:cs typeface="Times New Roman" panose="02020603050405020304" pitchFamily="18" charset="0"/>
                      </a:endParaRPr>
                    </a:p>
                  </a:txBody>
                  <a:tcPr marL="272111" marR="204084" marT="136056" marB="136056">
                    <a:lnL w="12700" cmpd="sng">
                      <a:noFill/>
                      <a:prstDash val="solid"/>
                    </a:lnL>
                    <a:lnR w="12700" cmpd="sng">
                      <a:noFill/>
                      <a:prstDash val="solid"/>
                    </a:lnR>
                    <a:lnT w="9525" cap="flat" cmpd="sng" algn="ctr">
                      <a:solidFill>
                        <a:srgbClr val="C7C6C1"/>
                      </a:solidFill>
                      <a:prstDash val="solid"/>
                    </a:lnT>
                    <a:lnB w="9525" cap="flat" cmpd="sng" algn="ctr">
                      <a:solidFill>
                        <a:srgbClr val="C7C6C1"/>
                      </a:solidFill>
                      <a:prstDash val="solid"/>
                    </a:lnB>
                    <a:noFill/>
                  </a:tcPr>
                </a:tc>
                <a:extLst>
                  <a:ext uri="{0D108BD9-81ED-4DB2-BD59-A6C34878D82A}">
                    <a16:rowId xmlns:a16="http://schemas.microsoft.com/office/drawing/2014/main" val="347909010"/>
                  </a:ext>
                </a:extLst>
              </a:tr>
            </a:tbl>
          </a:graphicData>
        </a:graphic>
      </p:graphicFrame>
    </p:spTree>
    <p:extLst>
      <p:ext uri="{BB962C8B-B14F-4D97-AF65-F5344CB8AC3E}">
        <p14:creationId xmlns:p14="http://schemas.microsoft.com/office/powerpoint/2010/main" val="2345914546"/>
      </p:ext>
    </p:extLst>
  </p:cSld>
  <p:clrMapOvr>
    <a:overrideClrMapping bg1="lt1" tx1="dk1" bg2="lt2" tx2="dk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5A1331-ADE5-19B4-7A8D-752F674941F8}"/>
              </a:ext>
            </a:extLst>
          </p:cNvPr>
          <p:cNvSpPr>
            <a:spLocks noGrp="1"/>
          </p:cNvSpPr>
          <p:nvPr>
            <p:ph type="title"/>
          </p:nvPr>
        </p:nvSpPr>
        <p:spPr>
          <a:xfrm>
            <a:off x="685801" y="609600"/>
            <a:ext cx="10131425" cy="1456267"/>
          </a:xfrm>
        </p:spPr>
        <p:txBody>
          <a:bodyPr>
            <a:normAutofit/>
          </a:bodyPr>
          <a:lstStyle/>
          <a:p>
            <a:r>
              <a:rPr lang="en-US" dirty="0">
                <a:effectLst/>
                <a:latin typeface="Helvetica Neue" panose="02000503000000020004" pitchFamily="2" charset="0"/>
              </a:rPr>
              <a:t>Hypotheses</a:t>
            </a:r>
            <a:br>
              <a:rPr lang="en-US" dirty="0">
                <a:effectLst/>
                <a:latin typeface="Helvetica Neue" panose="02000503000000020004" pitchFamily="2" charset="0"/>
              </a:rPr>
            </a:br>
            <a:endParaRPr lang="en-US" dirty="0"/>
          </a:p>
        </p:txBody>
      </p:sp>
      <p:graphicFrame>
        <p:nvGraphicFramePr>
          <p:cNvPr id="5" name="Content Placeholder 2">
            <a:extLst>
              <a:ext uri="{FF2B5EF4-FFF2-40B4-BE49-F238E27FC236}">
                <a16:creationId xmlns:a16="http://schemas.microsoft.com/office/drawing/2014/main" id="{D018453C-657F-FA2C-4282-69BF8C847278}"/>
              </a:ext>
            </a:extLst>
          </p:cNvPr>
          <p:cNvGraphicFramePr>
            <a:graphicFrameLocks noGrp="1"/>
          </p:cNvGraphicFramePr>
          <p:nvPr>
            <p:ph idx="1"/>
            <p:extLst>
              <p:ext uri="{D42A27DB-BD31-4B8C-83A1-F6EECF244321}">
                <p14:modId xmlns:p14="http://schemas.microsoft.com/office/powerpoint/2010/main" val="263838374"/>
              </p:ext>
            </p:extLst>
          </p:nvPr>
        </p:nvGraphicFramePr>
        <p:xfrm>
          <a:off x="685800" y="2406400"/>
          <a:ext cx="10131425" cy="3384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8060089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4117F0C1-BCBB-40C7-99D6-F703E7A4B5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lt2"/>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D1A5D8BC-B41A-4E96-91C4-D60F51622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003">
            <a:schemeClr val="dk2"/>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0D321D5F-FA18-4271-9EAA-0BEA14116BB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a:extLst>
              <a:ext uri="{FF2B5EF4-FFF2-40B4-BE49-F238E27FC236}">
                <a16:creationId xmlns:a16="http://schemas.microsoft.com/office/drawing/2014/main" id="{F09D44FC-DE8F-A07B-AE01-87C83B761211}"/>
              </a:ext>
            </a:extLst>
          </p:cNvPr>
          <p:cNvSpPr>
            <a:spLocks noGrp="1"/>
          </p:cNvSpPr>
          <p:nvPr>
            <p:ph type="title"/>
          </p:nvPr>
        </p:nvSpPr>
        <p:spPr>
          <a:xfrm>
            <a:off x="718457" y="531278"/>
            <a:ext cx="3211517" cy="5292579"/>
          </a:xfrm>
        </p:spPr>
        <p:txBody>
          <a:bodyPr>
            <a:normAutofit/>
          </a:bodyPr>
          <a:lstStyle/>
          <a:p>
            <a:r>
              <a:rPr lang="en-US">
                <a:solidFill>
                  <a:srgbClr val="FFFFFF"/>
                </a:solidFill>
                <a:effectLst/>
                <a:latin typeface="Helvetica Neue" panose="02000503000000020004" pitchFamily="2" charset="0"/>
              </a:rPr>
              <a:t>F-Statistic</a:t>
            </a:r>
            <a:br>
              <a:rPr lang="en-US">
                <a:solidFill>
                  <a:srgbClr val="FFFFFF"/>
                </a:solidFill>
                <a:effectLst/>
                <a:latin typeface="Helvetica Neue" panose="02000503000000020004" pitchFamily="2" charset="0"/>
              </a:rPr>
            </a:br>
            <a:endParaRPr lang="en-US">
              <a:solidFill>
                <a:srgbClr val="FFFFFF"/>
              </a:solidFill>
            </a:endParaRPr>
          </a:p>
        </p:txBody>
      </p:sp>
      <p:sp useBgFill="1">
        <p:nvSpPr>
          <p:cNvPr id="15" name="Freeform: Shape 14">
            <a:extLst>
              <a:ext uri="{FF2B5EF4-FFF2-40B4-BE49-F238E27FC236}">
                <a16:creationId xmlns:a16="http://schemas.microsoft.com/office/drawing/2014/main" id="{51287385-D3EA-47A8-A127-6061791ADB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4422108" y="0"/>
            <a:ext cx="7769892" cy="6858000"/>
          </a:xfrm>
          <a:custGeom>
            <a:avLst/>
            <a:gdLst>
              <a:gd name="connsiteX0" fmla="*/ 1779516 w 7769892"/>
              <a:gd name="connsiteY0" fmla="*/ 0 h 6837536"/>
              <a:gd name="connsiteX1" fmla="*/ 6454848 w 7769892"/>
              <a:gd name="connsiteY1" fmla="*/ 0 h 6837536"/>
              <a:gd name="connsiteX2" fmla="*/ 6511730 w 7769892"/>
              <a:gd name="connsiteY2" fmla="*/ 37905 h 6837536"/>
              <a:gd name="connsiteX3" fmla="*/ 7769892 w 7769892"/>
              <a:gd name="connsiteY3" fmla="*/ 1486041 h 6837536"/>
              <a:gd name="connsiteX4" fmla="*/ 7769892 w 7769892"/>
              <a:gd name="connsiteY4" fmla="*/ 5281056 h 6837536"/>
              <a:gd name="connsiteX5" fmla="*/ 6353475 w 7769892"/>
              <a:gd name="connsiteY5" fmla="*/ 6837536 h 6837536"/>
              <a:gd name="connsiteX6" fmla="*/ 1882727 w 7769892"/>
              <a:gd name="connsiteY6" fmla="*/ 6837536 h 6837536"/>
              <a:gd name="connsiteX7" fmla="*/ 0 w 7769892"/>
              <a:gd name="connsiteY7" fmla="*/ 3386463 h 6837536"/>
              <a:gd name="connsiteX8" fmla="*/ 1655292 w 7769892"/>
              <a:gd name="connsiteY8" fmla="*/ 88307 h 6837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7769892" h="6837536">
                <a:moveTo>
                  <a:pt x="1779516" y="0"/>
                </a:moveTo>
                <a:lnTo>
                  <a:pt x="6454848" y="0"/>
                </a:lnTo>
                <a:lnTo>
                  <a:pt x="6511730" y="37905"/>
                </a:lnTo>
                <a:cubicBezTo>
                  <a:pt x="7036410" y="413592"/>
                  <a:pt x="7468976" y="909648"/>
                  <a:pt x="7769892" y="1486041"/>
                </a:cubicBezTo>
                <a:cubicBezTo>
                  <a:pt x="7769892" y="1486041"/>
                  <a:pt x="7769892" y="1486041"/>
                  <a:pt x="7769892" y="5281056"/>
                </a:cubicBezTo>
                <a:cubicBezTo>
                  <a:pt x="7437646" y="5916473"/>
                  <a:pt x="6953850" y="6452788"/>
                  <a:pt x="6353475" y="6837536"/>
                </a:cubicBezTo>
                <a:cubicBezTo>
                  <a:pt x="6353475" y="6837536"/>
                  <a:pt x="6353475" y="6837536"/>
                  <a:pt x="1882727" y="6837536"/>
                </a:cubicBezTo>
                <a:cubicBezTo>
                  <a:pt x="751925" y="6103017"/>
                  <a:pt x="0" y="4832183"/>
                  <a:pt x="0" y="3386463"/>
                </a:cubicBezTo>
                <a:cubicBezTo>
                  <a:pt x="0" y="2036566"/>
                  <a:pt x="651406" y="838748"/>
                  <a:pt x="1655292" y="88307"/>
                </a:cubicBezTo>
                <a:close/>
              </a:path>
            </a:pathLst>
          </a:custGeom>
          <a:ln w="50800" cap="sq" cmpd="dbl">
            <a:noFill/>
            <a:miter lim="800000"/>
          </a:ln>
          <a:effectLst>
            <a:outerShdw blurRad="254000" algn="tl" rotWithShape="0">
              <a:srgbClr val="000000">
                <a:alpha val="43000"/>
              </a:srgbClr>
            </a:outerShdw>
          </a:effectLst>
        </p:spPr>
        <p:txBody>
          <a:bodyPr vert="horz" wrap="square" lIns="91440" tIns="45720" rIns="91440" bIns="45720" rtlCol="0" anchor="t">
            <a:noAutofit/>
          </a:bodyPr>
          <a:lstStyle/>
          <a:p>
            <a:pPr algn="ctr">
              <a:spcAft>
                <a:spcPts val="1000"/>
              </a:spcAft>
              <a:buClr>
                <a:schemeClr val="tx1"/>
              </a:buClr>
              <a:buSzPct val="100000"/>
              <a:buFont typeface="Arial"/>
              <a:buNone/>
            </a:pPr>
            <a:endParaRPr lang="en-US" sz="1600" cap="all"/>
          </a:p>
        </p:txBody>
      </p:sp>
      <p:graphicFrame>
        <p:nvGraphicFramePr>
          <p:cNvPr id="5" name="Content Placeholder 2">
            <a:extLst>
              <a:ext uri="{FF2B5EF4-FFF2-40B4-BE49-F238E27FC236}">
                <a16:creationId xmlns:a16="http://schemas.microsoft.com/office/drawing/2014/main" id="{AD505330-40A1-25E2-A4A2-62E89CD0EE78}"/>
              </a:ext>
            </a:extLst>
          </p:cNvPr>
          <p:cNvGraphicFramePr>
            <a:graphicFrameLocks noGrp="1"/>
          </p:cNvGraphicFramePr>
          <p:nvPr>
            <p:ph idx="1"/>
            <p:extLst>
              <p:ext uri="{D42A27DB-BD31-4B8C-83A1-F6EECF244321}">
                <p14:modId xmlns:p14="http://schemas.microsoft.com/office/powerpoint/2010/main" val="2047726292"/>
              </p:ext>
            </p:extLst>
          </p:nvPr>
        </p:nvGraphicFramePr>
        <p:xfrm>
          <a:off x="5617029" y="793820"/>
          <a:ext cx="5741534" cy="51709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67317563"/>
      </p:ext>
    </p:extLst>
  </p:cSld>
  <p:clrMapOvr>
    <a:overrideClrMapping bg1="lt1" tx1="dk1" bg2="lt2" tx2="dk2" accent1="accent1" accent2="accent2" accent3="accent3" accent4="accent4" accent5="accent5" accent6="accent6" hlink="hlink" folHlink="folHlink"/>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a:blip r:embed="rId2"/>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04494A-603A-89EB-1082-3ACA19A3C1FD}"/>
              </a:ext>
            </a:extLst>
          </p:cNvPr>
          <p:cNvSpPr>
            <a:spLocks noGrp="1"/>
          </p:cNvSpPr>
          <p:nvPr>
            <p:ph type="title"/>
          </p:nvPr>
        </p:nvSpPr>
        <p:spPr>
          <a:xfrm>
            <a:off x="685801" y="609600"/>
            <a:ext cx="10131425" cy="1456267"/>
          </a:xfrm>
        </p:spPr>
        <p:txBody>
          <a:bodyPr>
            <a:normAutofit/>
          </a:bodyPr>
          <a:lstStyle/>
          <a:p>
            <a:r>
              <a:rPr lang="en-US" dirty="0">
                <a:effectLst/>
                <a:latin typeface="Helvetica Neue" panose="02000503000000020004" pitchFamily="2" charset="0"/>
              </a:rPr>
              <a:t>P-Value</a:t>
            </a:r>
            <a:br>
              <a:rPr lang="en-US" dirty="0">
                <a:effectLst/>
                <a:latin typeface="Helvetica Neue" panose="02000503000000020004" pitchFamily="2" charset="0"/>
              </a:rPr>
            </a:br>
            <a:endParaRPr lang="en-US" dirty="0"/>
          </a:p>
        </p:txBody>
      </p:sp>
      <p:graphicFrame>
        <p:nvGraphicFramePr>
          <p:cNvPr id="5" name="Content Placeholder 2">
            <a:extLst>
              <a:ext uri="{FF2B5EF4-FFF2-40B4-BE49-F238E27FC236}">
                <a16:creationId xmlns:a16="http://schemas.microsoft.com/office/drawing/2014/main" id="{EF1D6E22-629B-4BD8-AEFA-E98A1E244E5E}"/>
              </a:ext>
            </a:extLst>
          </p:cNvPr>
          <p:cNvGraphicFramePr>
            <a:graphicFrameLocks noGrp="1"/>
          </p:cNvGraphicFramePr>
          <p:nvPr>
            <p:ph idx="1"/>
            <p:extLst>
              <p:ext uri="{D42A27DB-BD31-4B8C-83A1-F6EECF244321}">
                <p14:modId xmlns:p14="http://schemas.microsoft.com/office/powerpoint/2010/main" val="2464376001"/>
              </p:ext>
            </p:extLst>
          </p:nvPr>
        </p:nvGraphicFramePr>
        <p:xfrm>
          <a:off x="685800" y="2406400"/>
          <a:ext cx="10131425" cy="3384799"/>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144157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083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solidFill>
            <a:schemeClr val="tx2"/>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12" name="Picture 1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25900" b="63148"/>
          <a:stretch/>
        </p:blipFill>
        <p:spPr>
          <a:xfrm>
            <a:off x="4071257" y="1"/>
            <a:ext cx="8117568" cy="227083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2" name="Title 1">
            <a:extLst>
              <a:ext uri="{FF2B5EF4-FFF2-40B4-BE49-F238E27FC236}">
                <a16:creationId xmlns:a16="http://schemas.microsoft.com/office/drawing/2014/main" id="{7DC1FBE6-9F3E-10C1-82CE-B0D7D3914C2C}"/>
              </a:ext>
            </a:extLst>
          </p:cNvPr>
          <p:cNvSpPr>
            <a:spLocks noGrp="1"/>
          </p:cNvSpPr>
          <p:nvPr>
            <p:ph type="title"/>
          </p:nvPr>
        </p:nvSpPr>
        <p:spPr>
          <a:xfrm>
            <a:off x="1030288" y="609600"/>
            <a:ext cx="10131425" cy="1110343"/>
          </a:xfrm>
        </p:spPr>
        <p:txBody>
          <a:bodyPr>
            <a:normAutofit/>
          </a:bodyPr>
          <a:lstStyle/>
          <a:p>
            <a:pPr algn="ctr">
              <a:lnSpc>
                <a:spcPct val="90000"/>
              </a:lnSpc>
            </a:pPr>
            <a:r>
              <a:rPr lang="en-US">
                <a:solidFill>
                  <a:schemeClr val="bg1"/>
                </a:solidFill>
                <a:effectLst/>
                <a:latin typeface="Helvetica Neue" panose="02000503000000020004" pitchFamily="2" charset="0"/>
              </a:rPr>
              <a:t>Interpretation</a:t>
            </a:r>
            <a:br>
              <a:rPr lang="en-US">
                <a:solidFill>
                  <a:schemeClr val="bg1"/>
                </a:solidFill>
                <a:effectLst/>
                <a:latin typeface="Helvetica Neue" panose="02000503000000020004" pitchFamily="2" charset="0"/>
              </a:rPr>
            </a:br>
            <a:endParaRPr lang="en-US">
              <a:solidFill>
                <a:schemeClr val="bg1"/>
              </a:solidFill>
            </a:endParaRPr>
          </a:p>
        </p:txBody>
      </p:sp>
      <p:sp>
        <p:nvSpPr>
          <p:cNvPr id="3" name="Content Placeholder 2">
            <a:extLst>
              <a:ext uri="{FF2B5EF4-FFF2-40B4-BE49-F238E27FC236}">
                <a16:creationId xmlns:a16="http://schemas.microsoft.com/office/drawing/2014/main" id="{1E84F8CA-E4D6-FBD3-0006-63F87953DE9A}"/>
              </a:ext>
            </a:extLst>
          </p:cNvPr>
          <p:cNvSpPr>
            <a:spLocks noGrp="1"/>
          </p:cNvSpPr>
          <p:nvPr>
            <p:ph idx="1"/>
          </p:nvPr>
        </p:nvSpPr>
        <p:spPr>
          <a:xfrm>
            <a:off x="685801" y="2592572"/>
            <a:ext cx="10820400" cy="3198627"/>
          </a:xfrm>
        </p:spPr>
        <p:txBody>
          <a:bodyPr>
            <a:normAutofit/>
          </a:bodyPr>
          <a:lstStyle/>
          <a:p>
            <a:r>
              <a:rPr lang="en-US" b="0" i="0" u="none" strike="noStrike">
                <a:effectLst/>
                <a:latin typeface="Söhne"/>
              </a:rPr>
              <a:t>F-statistic and p-value obtained from the F-test method help us to interpret the significance of the relationship between the independent and dependent variables, and they provide valuable insights into the usefulness of GRE scores as a predictor of graduate school admissions.</a:t>
            </a:r>
          </a:p>
          <a:p>
            <a:r>
              <a:rPr lang="en-US" dirty="0" err="1"/>
              <a:t>F_Statistic</a:t>
            </a:r>
            <a:r>
              <a:rPr lang="en-US" dirty="0"/>
              <a:t> &lt;- 5.2273/0.0073 = 720.6</a:t>
            </a:r>
          </a:p>
          <a:p>
            <a:r>
              <a:rPr lang="en-US" dirty="0"/>
              <a:t>p-value: 2.2e-16</a:t>
            </a:r>
          </a:p>
          <a:p>
            <a:r>
              <a:rPr lang="en-US" dirty="0"/>
              <a:t>In this Model we Reject Null Hypothesis.</a:t>
            </a:r>
          </a:p>
          <a:p>
            <a:r>
              <a:rPr lang="en-US" dirty="0"/>
              <a:t> We have significant evidence at the </a:t>
            </a:r>
            <a:r>
              <a:rPr lang="el-GR" dirty="0"/>
              <a:t>α=0.05 </a:t>
            </a:r>
            <a:r>
              <a:rPr lang="en-US" dirty="0"/>
              <a:t>level that </a:t>
            </a:r>
            <a:r>
              <a:rPr lang="el-GR" dirty="0"/>
              <a:t>β_1 != 0. </a:t>
            </a:r>
          </a:p>
          <a:p>
            <a:r>
              <a:rPr lang="en-US" dirty="0"/>
              <a:t>There is evidence of a significant linear association between GRE Scores and Chance of Admit.</a:t>
            </a:r>
          </a:p>
          <a:p>
            <a:pPr marL="0" indent="0">
              <a:buNone/>
            </a:pPr>
            <a:endParaRPr lang="en-US" dirty="0"/>
          </a:p>
        </p:txBody>
      </p:sp>
    </p:spTree>
    <p:extLst>
      <p:ext uri="{BB962C8B-B14F-4D97-AF65-F5344CB8AC3E}">
        <p14:creationId xmlns:p14="http://schemas.microsoft.com/office/powerpoint/2010/main" val="2459664239"/>
      </p:ext>
    </p:extLst>
  </p:cSld>
  <p:clrMapOvr>
    <a:overrideClrMapping bg1="lt1" tx1="dk1" bg2="lt2" tx2="dk2" accent1="accent1" accent2="accent2" accent3="accent3" accent4="accent4" accent5="accent5" accent6="accent6" hlink="hlink" folHlink="folHlink"/>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1EB41F2-E181-4D4D-9131-A30F6B0AE5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Freeform: Shape 9">
            <a:extLst>
              <a:ext uri="{FF2B5EF4-FFF2-40B4-BE49-F238E27FC236}">
                <a16:creationId xmlns:a16="http://schemas.microsoft.com/office/drawing/2014/main" id="{3D63CC92-C517-4C71-9222-4579252CD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270839"/>
          </a:xfrm>
          <a:custGeom>
            <a:avLst/>
            <a:gdLst>
              <a:gd name="connsiteX0" fmla="*/ 0 w 12192000"/>
              <a:gd name="connsiteY0" fmla="*/ 0 h 2270839"/>
              <a:gd name="connsiteX1" fmla="*/ 12192000 w 12192000"/>
              <a:gd name="connsiteY1" fmla="*/ 0 h 2270839"/>
              <a:gd name="connsiteX2" fmla="*/ 12192000 w 12192000"/>
              <a:gd name="connsiteY2" fmla="*/ 213719 h 2270839"/>
              <a:gd name="connsiteX3" fmla="*/ 12192000 w 12192000"/>
              <a:gd name="connsiteY3" fmla="*/ 471948 h 2270839"/>
              <a:gd name="connsiteX4" fmla="*/ 12192000 w 12192000"/>
              <a:gd name="connsiteY4" fmla="*/ 519830 h 2270839"/>
              <a:gd name="connsiteX5" fmla="*/ 12192000 w 12192000"/>
              <a:gd name="connsiteY5" fmla="*/ 744793 h 2270839"/>
              <a:gd name="connsiteX6" fmla="*/ 12192000 w 12192000"/>
              <a:gd name="connsiteY6" fmla="*/ 1754021 h 2270839"/>
              <a:gd name="connsiteX7" fmla="*/ 11957522 w 12192000"/>
              <a:gd name="connsiteY7" fmla="*/ 1797923 h 2270839"/>
              <a:gd name="connsiteX8" fmla="*/ 11679973 w 12192000"/>
              <a:gd name="connsiteY8" fmla="*/ 1847667 h 2270839"/>
              <a:gd name="connsiteX9" fmla="*/ 11401197 w 12192000"/>
              <a:gd name="connsiteY9" fmla="*/ 1896360 h 2270839"/>
              <a:gd name="connsiteX10" fmla="*/ 11121192 w 12192000"/>
              <a:gd name="connsiteY10" fmla="*/ 1938046 h 2270839"/>
              <a:gd name="connsiteX11" fmla="*/ 10842416 w 12192000"/>
              <a:gd name="connsiteY11" fmla="*/ 1980083 h 2270839"/>
              <a:gd name="connsiteX12" fmla="*/ 10562411 w 12192000"/>
              <a:gd name="connsiteY12" fmla="*/ 2019318 h 2270839"/>
              <a:gd name="connsiteX13" fmla="*/ 10286091 w 12192000"/>
              <a:gd name="connsiteY13" fmla="*/ 2052947 h 2270839"/>
              <a:gd name="connsiteX14" fmla="*/ 10006086 w 12192000"/>
              <a:gd name="connsiteY14" fmla="*/ 2084825 h 2270839"/>
              <a:gd name="connsiteX15" fmla="*/ 9727310 w 12192000"/>
              <a:gd name="connsiteY15" fmla="*/ 2113901 h 2270839"/>
              <a:gd name="connsiteX16" fmla="*/ 9453445 w 12192000"/>
              <a:gd name="connsiteY16" fmla="*/ 2139123 h 2270839"/>
              <a:gd name="connsiteX17" fmla="*/ 9175897 w 12192000"/>
              <a:gd name="connsiteY17" fmla="*/ 2164345 h 2270839"/>
              <a:gd name="connsiteX18" fmla="*/ 8902033 w 12192000"/>
              <a:gd name="connsiteY18" fmla="*/ 2185364 h 2270839"/>
              <a:gd name="connsiteX19" fmla="*/ 8628169 w 12192000"/>
              <a:gd name="connsiteY19" fmla="*/ 2201828 h 2270839"/>
              <a:gd name="connsiteX20" fmla="*/ 8355533 w 12192000"/>
              <a:gd name="connsiteY20" fmla="*/ 2218994 h 2270839"/>
              <a:gd name="connsiteX21" fmla="*/ 8085353 w 12192000"/>
              <a:gd name="connsiteY21" fmla="*/ 2233356 h 2270839"/>
              <a:gd name="connsiteX22" fmla="*/ 7817629 w 12192000"/>
              <a:gd name="connsiteY22" fmla="*/ 2243515 h 2270839"/>
              <a:gd name="connsiteX23" fmla="*/ 7549905 w 12192000"/>
              <a:gd name="connsiteY23" fmla="*/ 2252273 h 2270839"/>
              <a:gd name="connsiteX24" fmla="*/ 7284638 w 12192000"/>
              <a:gd name="connsiteY24" fmla="*/ 2260680 h 2270839"/>
              <a:gd name="connsiteX25" fmla="*/ 7023055 w 12192000"/>
              <a:gd name="connsiteY25" fmla="*/ 2264534 h 2270839"/>
              <a:gd name="connsiteX26" fmla="*/ 6761472 w 12192000"/>
              <a:gd name="connsiteY26" fmla="*/ 2268737 h 2270839"/>
              <a:gd name="connsiteX27" fmla="*/ 6503573 w 12192000"/>
              <a:gd name="connsiteY27" fmla="*/ 2270839 h 2270839"/>
              <a:gd name="connsiteX28" fmla="*/ 6248130 w 12192000"/>
              <a:gd name="connsiteY28" fmla="*/ 2268737 h 2270839"/>
              <a:gd name="connsiteX29" fmla="*/ 5995144 w 12192000"/>
              <a:gd name="connsiteY29" fmla="*/ 2268737 h 2270839"/>
              <a:gd name="connsiteX30" fmla="*/ 5744613 w 12192000"/>
              <a:gd name="connsiteY30" fmla="*/ 2264534 h 2270839"/>
              <a:gd name="connsiteX31" fmla="*/ 5498995 w 12192000"/>
              <a:gd name="connsiteY31" fmla="*/ 2258228 h 2270839"/>
              <a:gd name="connsiteX32" fmla="*/ 5255834 w 12192000"/>
              <a:gd name="connsiteY32" fmla="*/ 2252273 h 2270839"/>
              <a:gd name="connsiteX33" fmla="*/ 5017584 w 12192000"/>
              <a:gd name="connsiteY33" fmla="*/ 2245617 h 2270839"/>
              <a:gd name="connsiteX34" fmla="*/ 4780562 w 12192000"/>
              <a:gd name="connsiteY34" fmla="*/ 2235458 h 2270839"/>
              <a:gd name="connsiteX35" fmla="*/ 4547227 w 12192000"/>
              <a:gd name="connsiteY35" fmla="*/ 2224598 h 2270839"/>
              <a:gd name="connsiteX36" fmla="*/ 4318800 w 12192000"/>
              <a:gd name="connsiteY36" fmla="*/ 2214790 h 2270839"/>
              <a:gd name="connsiteX37" fmla="*/ 3873004 w 12192000"/>
              <a:gd name="connsiteY37" fmla="*/ 2187115 h 2270839"/>
              <a:gd name="connsiteX38" fmla="*/ 3445628 w 12192000"/>
              <a:gd name="connsiteY38" fmla="*/ 2157690 h 2270839"/>
              <a:gd name="connsiteX39" fmla="*/ 3035446 w 12192000"/>
              <a:gd name="connsiteY39" fmla="*/ 2126862 h 2270839"/>
              <a:gd name="connsiteX40" fmla="*/ 2647370 w 12192000"/>
              <a:gd name="connsiteY40" fmla="*/ 2092883 h 2270839"/>
              <a:gd name="connsiteX41" fmla="*/ 2276487 w 12192000"/>
              <a:gd name="connsiteY41" fmla="*/ 2057501 h 2270839"/>
              <a:gd name="connsiteX42" fmla="*/ 1932621 w 12192000"/>
              <a:gd name="connsiteY42" fmla="*/ 2019318 h 2270839"/>
              <a:gd name="connsiteX43" fmla="*/ 1609634 w 12192000"/>
              <a:gd name="connsiteY43" fmla="*/ 1981835 h 2270839"/>
              <a:gd name="connsiteX44" fmla="*/ 1312435 w 12192000"/>
              <a:gd name="connsiteY44" fmla="*/ 1944352 h 2270839"/>
              <a:gd name="connsiteX45" fmla="*/ 1039799 w 12192000"/>
              <a:gd name="connsiteY45" fmla="*/ 1908971 h 2270839"/>
              <a:gd name="connsiteX46" fmla="*/ 797865 w 12192000"/>
              <a:gd name="connsiteY46" fmla="*/ 1875341 h 2270839"/>
              <a:gd name="connsiteX47" fmla="*/ 579265 w 12192000"/>
              <a:gd name="connsiteY47" fmla="*/ 1843463 h 2270839"/>
              <a:gd name="connsiteX48" fmla="*/ 395052 w 12192000"/>
              <a:gd name="connsiteY48" fmla="*/ 1816840 h 2270839"/>
              <a:gd name="connsiteX49" fmla="*/ 240312 w 12192000"/>
              <a:gd name="connsiteY49" fmla="*/ 1791617 h 2270839"/>
              <a:gd name="connsiteX50" fmla="*/ 27853 w 12192000"/>
              <a:gd name="connsiteY50" fmla="*/ 1755536 h 2270839"/>
              <a:gd name="connsiteX51" fmla="*/ 0 w 12192000"/>
              <a:gd name="connsiteY51" fmla="*/ 1750823 h 2270839"/>
              <a:gd name="connsiteX52" fmla="*/ 0 w 12192000"/>
              <a:gd name="connsiteY52" fmla="*/ 744793 h 2270839"/>
              <a:gd name="connsiteX53" fmla="*/ 0 w 12192000"/>
              <a:gd name="connsiteY53" fmla="*/ 519830 h 2270839"/>
              <a:gd name="connsiteX54" fmla="*/ 0 w 12192000"/>
              <a:gd name="connsiteY54" fmla="*/ 471948 h 2270839"/>
              <a:gd name="connsiteX55" fmla="*/ 0 w 12192000"/>
              <a:gd name="connsiteY55" fmla="*/ 213719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2192000" h="2270839">
                <a:moveTo>
                  <a:pt x="0" y="0"/>
                </a:moveTo>
                <a:lnTo>
                  <a:pt x="12192000" y="0"/>
                </a:lnTo>
                <a:lnTo>
                  <a:pt x="12192000" y="213719"/>
                </a:lnTo>
                <a:lnTo>
                  <a:pt x="12192000" y="471948"/>
                </a:lnTo>
                <a:lnTo>
                  <a:pt x="12192000" y="519830"/>
                </a:lnTo>
                <a:lnTo>
                  <a:pt x="12192000" y="744793"/>
                </a:lnTo>
                <a:lnTo>
                  <a:pt x="12192000" y="1754021"/>
                </a:lnTo>
                <a:lnTo>
                  <a:pt x="11957522" y="1797923"/>
                </a:lnTo>
                <a:lnTo>
                  <a:pt x="11679973" y="1847667"/>
                </a:lnTo>
                <a:lnTo>
                  <a:pt x="11401197" y="1896360"/>
                </a:lnTo>
                <a:lnTo>
                  <a:pt x="11121192" y="1938046"/>
                </a:lnTo>
                <a:lnTo>
                  <a:pt x="10842416" y="1980083"/>
                </a:lnTo>
                <a:lnTo>
                  <a:pt x="10562411" y="2019318"/>
                </a:lnTo>
                <a:lnTo>
                  <a:pt x="10286091" y="2052947"/>
                </a:lnTo>
                <a:lnTo>
                  <a:pt x="10006086" y="2084825"/>
                </a:lnTo>
                <a:lnTo>
                  <a:pt x="9727310" y="2113901"/>
                </a:lnTo>
                <a:lnTo>
                  <a:pt x="9453445" y="2139123"/>
                </a:lnTo>
                <a:lnTo>
                  <a:pt x="9175897" y="2164345"/>
                </a:lnTo>
                <a:lnTo>
                  <a:pt x="8902033" y="2185364"/>
                </a:lnTo>
                <a:lnTo>
                  <a:pt x="8628169" y="2201828"/>
                </a:lnTo>
                <a:lnTo>
                  <a:pt x="8355533" y="2218994"/>
                </a:lnTo>
                <a:lnTo>
                  <a:pt x="8085353" y="2233356"/>
                </a:lnTo>
                <a:lnTo>
                  <a:pt x="7817629" y="2243515"/>
                </a:lnTo>
                <a:lnTo>
                  <a:pt x="7549905" y="2252273"/>
                </a:lnTo>
                <a:lnTo>
                  <a:pt x="7284638" y="2260680"/>
                </a:lnTo>
                <a:lnTo>
                  <a:pt x="7023055" y="2264534"/>
                </a:lnTo>
                <a:lnTo>
                  <a:pt x="6761472" y="2268737"/>
                </a:lnTo>
                <a:lnTo>
                  <a:pt x="6503573" y="2270839"/>
                </a:lnTo>
                <a:lnTo>
                  <a:pt x="6248130" y="2268737"/>
                </a:lnTo>
                <a:lnTo>
                  <a:pt x="5995144" y="2268737"/>
                </a:lnTo>
                <a:lnTo>
                  <a:pt x="5744613" y="2264534"/>
                </a:lnTo>
                <a:lnTo>
                  <a:pt x="5498995" y="2258228"/>
                </a:lnTo>
                <a:lnTo>
                  <a:pt x="5255834" y="2252273"/>
                </a:lnTo>
                <a:lnTo>
                  <a:pt x="5017584" y="2245617"/>
                </a:lnTo>
                <a:lnTo>
                  <a:pt x="4780562" y="2235458"/>
                </a:lnTo>
                <a:lnTo>
                  <a:pt x="4547227" y="2224598"/>
                </a:lnTo>
                <a:lnTo>
                  <a:pt x="4318800" y="2214790"/>
                </a:lnTo>
                <a:lnTo>
                  <a:pt x="3873004" y="2187115"/>
                </a:lnTo>
                <a:lnTo>
                  <a:pt x="3445628" y="2157690"/>
                </a:lnTo>
                <a:lnTo>
                  <a:pt x="3035446" y="2126862"/>
                </a:lnTo>
                <a:lnTo>
                  <a:pt x="2647370" y="2092883"/>
                </a:lnTo>
                <a:lnTo>
                  <a:pt x="2276487" y="2057501"/>
                </a:lnTo>
                <a:lnTo>
                  <a:pt x="1932621" y="2019318"/>
                </a:lnTo>
                <a:lnTo>
                  <a:pt x="1609634" y="1981835"/>
                </a:lnTo>
                <a:lnTo>
                  <a:pt x="1312435" y="1944352"/>
                </a:lnTo>
                <a:lnTo>
                  <a:pt x="1039799" y="1908971"/>
                </a:lnTo>
                <a:lnTo>
                  <a:pt x="797865" y="1875341"/>
                </a:lnTo>
                <a:lnTo>
                  <a:pt x="579265" y="1843463"/>
                </a:lnTo>
                <a:lnTo>
                  <a:pt x="395052" y="1816840"/>
                </a:lnTo>
                <a:lnTo>
                  <a:pt x="240312" y="1791617"/>
                </a:lnTo>
                <a:lnTo>
                  <a:pt x="27853" y="1755536"/>
                </a:lnTo>
                <a:lnTo>
                  <a:pt x="0" y="1750823"/>
                </a:lnTo>
                <a:lnTo>
                  <a:pt x="0" y="744793"/>
                </a:lnTo>
                <a:lnTo>
                  <a:pt x="0" y="519830"/>
                </a:lnTo>
                <a:lnTo>
                  <a:pt x="0" y="471948"/>
                </a:lnTo>
                <a:lnTo>
                  <a:pt x="0" y="213719"/>
                </a:lnTo>
                <a:close/>
              </a:path>
            </a:pathLst>
          </a:custGeom>
          <a:solidFill>
            <a:schemeClr val="tx2"/>
          </a:solidFill>
          <a:ln w="44450">
            <a:noFill/>
          </a:ln>
          <a:effectLst/>
        </p:spPr>
        <p:style>
          <a:lnRef idx="2">
            <a:schemeClr val="accent1">
              <a:shade val="50000"/>
            </a:schemeClr>
          </a:lnRef>
          <a:fillRef idx="1003">
            <a:schemeClr val="dk2"/>
          </a:fillRef>
          <a:effectRef idx="0">
            <a:schemeClr val="accent1"/>
          </a:effectRef>
          <a:fontRef idx="minor">
            <a:schemeClr val="lt1"/>
          </a:fontRef>
        </p:style>
        <p:txBody>
          <a:bodyPr wrap="square" rtlCol="0" anchor="ctr">
            <a:noAutofit/>
          </a:bodyPr>
          <a:lstStyle/>
          <a:p>
            <a:pPr algn="ctr"/>
            <a:endParaRPr lang="en-US"/>
          </a:p>
        </p:txBody>
      </p:sp>
      <p:pic>
        <p:nvPicPr>
          <p:cNvPr id="12" name="Picture 11">
            <a:extLst>
              <a:ext uri="{FF2B5EF4-FFF2-40B4-BE49-F238E27FC236}">
                <a16:creationId xmlns:a16="http://schemas.microsoft.com/office/drawing/2014/main" id="{40A39FDC-39F4-4CB7-873B-8D786EC02516}"/>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l="25900" b="63148"/>
          <a:stretch/>
        </p:blipFill>
        <p:spPr>
          <a:xfrm>
            <a:off x="4071257" y="1"/>
            <a:ext cx="8117568" cy="2270839"/>
          </a:xfrm>
          <a:custGeom>
            <a:avLst/>
            <a:gdLst>
              <a:gd name="connsiteX0" fmla="*/ 0 w 8117568"/>
              <a:gd name="connsiteY0" fmla="*/ 0 h 2270839"/>
              <a:gd name="connsiteX1" fmla="*/ 8117568 w 8117568"/>
              <a:gd name="connsiteY1" fmla="*/ 0 h 2270839"/>
              <a:gd name="connsiteX2" fmla="*/ 8117568 w 8117568"/>
              <a:gd name="connsiteY2" fmla="*/ 1754616 h 2270839"/>
              <a:gd name="connsiteX3" fmla="*/ 7886265 w 8117568"/>
              <a:gd name="connsiteY3" fmla="*/ 1797923 h 2270839"/>
              <a:gd name="connsiteX4" fmla="*/ 7608716 w 8117568"/>
              <a:gd name="connsiteY4" fmla="*/ 1847667 h 2270839"/>
              <a:gd name="connsiteX5" fmla="*/ 7329940 w 8117568"/>
              <a:gd name="connsiteY5" fmla="*/ 1896360 h 2270839"/>
              <a:gd name="connsiteX6" fmla="*/ 7049935 w 8117568"/>
              <a:gd name="connsiteY6" fmla="*/ 1938046 h 2270839"/>
              <a:gd name="connsiteX7" fmla="*/ 6771159 w 8117568"/>
              <a:gd name="connsiteY7" fmla="*/ 1980083 h 2270839"/>
              <a:gd name="connsiteX8" fmla="*/ 6491154 w 8117568"/>
              <a:gd name="connsiteY8" fmla="*/ 2019318 h 2270839"/>
              <a:gd name="connsiteX9" fmla="*/ 6214834 w 8117568"/>
              <a:gd name="connsiteY9" fmla="*/ 2052947 h 2270839"/>
              <a:gd name="connsiteX10" fmla="*/ 5934829 w 8117568"/>
              <a:gd name="connsiteY10" fmla="*/ 2084825 h 2270839"/>
              <a:gd name="connsiteX11" fmla="*/ 5656053 w 8117568"/>
              <a:gd name="connsiteY11" fmla="*/ 2113901 h 2270839"/>
              <a:gd name="connsiteX12" fmla="*/ 5382188 w 8117568"/>
              <a:gd name="connsiteY12" fmla="*/ 2139123 h 2270839"/>
              <a:gd name="connsiteX13" fmla="*/ 5104640 w 8117568"/>
              <a:gd name="connsiteY13" fmla="*/ 2164345 h 2270839"/>
              <a:gd name="connsiteX14" fmla="*/ 4830776 w 8117568"/>
              <a:gd name="connsiteY14" fmla="*/ 2185364 h 2270839"/>
              <a:gd name="connsiteX15" fmla="*/ 4556912 w 8117568"/>
              <a:gd name="connsiteY15" fmla="*/ 2201828 h 2270839"/>
              <a:gd name="connsiteX16" fmla="*/ 4284276 w 8117568"/>
              <a:gd name="connsiteY16" fmla="*/ 2218994 h 2270839"/>
              <a:gd name="connsiteX17" fmla="*/ 4014096 w 8117568"/>
              <a:gd name="connsiteY17" fmla="*/ 2233356 h 2270839"/>
              <a:gd name="connsiteX18" fmla="*/ 3746372 w 8117568"/>
              <a:gd name="connsiteY18" fmla="*/ 2243515 h 2270839"/>
              <a:gd name="connsiteX19" fmla="*/ 3478648 w 8117568"/>
              <a:gd name="connsiteY19" fmla="*/ 2252273 h 2270839"/>
              <a:gd name="connsiteX20" fmla="*/ 3213381 w 8117568"/>
              <a:gd name="connsiteY20" fmla="*/ 2260680 h 2270839"/>
              <a:gd name="connsiteX21" fmla="*/ 2951798 w 8117568"/>
              <a:gd name="connsiteY21" fmla="*/ 2264534 h 2270839"/>
              <a:gd name="connsiteX22" fmla="*/ 2690215 w 8117568"/>
              <a:gd name="connsiteY22" fmla="*/ 2268737 h 2270839"/>
              <a:gd name="connsiteX23" fmla="*/ 2432316 w 8117568"/>
              <a:gd name="connsiteY23" fmla="*/ 2270839 h 2270839"/>
              <a:gd name="connsiteX24" fmla="*/ 2176873 w 8117568"/>
              <a:gd name="connsiteY24" fmla="*/ 2268737 h 2270839"/>
              <a:gd name="connsiteX25" fmla="*/ 1923887 w 8117568"/>
              <a:gd name="connsiteY25" fmla="*/ 2268737 h 2270839"/>
              <a:gd name="connsiteX26" fmla="*/ 1673356 w 8117568"/>
              <a:gd name="connsiteY26" fmla="*/ 2264534 h 2270839"/>
              <a:gd name="connsiteX27" fmla="*/ 1427738 w 8117568"/>
              <a:gd name="connsiteY27" fmla="*/ 2258228 h 2270839"/>
              <a:gd name="connsiteX28" fmla="*/ 1184577 w 8117568"/>
              <a:gd name="connsiteY28" fmla="*/ 2252273 h 2270839"/>
              <a:gd name="connsiteX29" fmla="*/ 946327 w 8117568"/>
              <a:gd name="connsiteY29" fmla="*/ 2245617 h 2270839"/>
              <a:gd name="connsiteX30" fmla="*/ 709305 w 8117568"/>
              <a:gd name="connsiteY30" fmla="*/ 2235458 h 2270839"/>
              <a:gd name="connsiteX31" fmla="*/ 475970 w 8117568"/>
              <a:gd name="connsiteY31" fmla="*/ 2224598 h 2270839"/>
              <a:gd name="connsiteX32" fmla="*/ 247543 w 8117568"/>
              <a:gd name="connsiteY32" fmla="*/ 2214790 h 2270839"/>
              <a:gd name="connsiteX33" fmla="*/ 0 w 8117568"/>
              <a:gd name="connsiteY33" fmla="*/ 2199423 h 22708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8117568" h="2270839">
                <a:moveTo>
                  <a:pt x="0" y="0"/>
                </a:moveTo>
                <a:lnTo>
                  <a:pt x="8117568" y="0"/>
                </a:lnTo>
                <a:lnTo>
                  <a:pt x="8117568" y="1754616"/>
                </a:lnTo>
                <a:lnTo>
                  <a:pt x="7886265" y="1797923"/>
                </a:lnTo>
                <a:lnTo>
                  <a:pt x="7608716" y="1847667"/>
                </a:lnTo>
                <a:lnTo>
                  <a:pt x="7329940" y="1896360"/>
                </a:lnTo>
                <a:lnTo>
                  <a:pt x="7049935" y="1938046"/>
                </a:lnTo>
                <a:lnTo>
                  <a:pt x="6771159" y="1980083"/>
                </a:lnTo>
                <a:lnTo>
                  <a:pt x="6491154" y="2019318"/>
                </a:lnTo>
                <a:lnTo>
                  <a:pt x="6214834" y="2052947"/>
                </a:lnTo>
                <a:lnTo>
                  <a:pt x="5934829" y="2084825"/>
                </a:lnTo>
                <a:lnTo>
                  <a:pt x="5656053" y="2113901"/>
                </a:lnTo>
                <a:lnTo>
                  <a:pt x="5382188" y="2139123"/>
                </a:lnTo>
                <a:lnTo>
                  <a:pt x="5104640" y="2164345"/>
                </a:lnTo>
                <a:lnTo>
                  <a:pt x="4830776" y="2185364"/>
                </a:lnTo>
                <a:lnTo>
                  <a:pt x="4556912" y="2201828"/>
                </a:lnTo>
                <a:lnTo>
                  <a:pt x="4284276" y="2218994"/>
                </a:lnTo>
                <a:lnTo>
                  <a:pt x="4014096" y="2233356"/>
                </a:lnTo>
                <a:lnTo>
                  <a:pt x="3746372" y="2243515"/>
                </a:lnTo>
                <a:lnTo>
                  <a:pt x="3478648" y="2252273"/>
                </a:lnTo>
                <a:lnTo>
                  <a:pt x="3213381" y="2260680"/>
                </a:lnTo>
                <a:lnTo>
                  <a:pt x="2951798" y="2264534"/>
                </a:lnTo>
                <a:lnTo>
                  <a:pt x="2690215" y="2268737"/>
                </a:lnTo>
                <a:lnTo>
                  <a:pt x="2432316" y="2270839"/>
                </a:lnTo>
                <a:lnTo>
                  <a:pt x="2176873" y="2268737"/>
                </a:lnTo>
                <a:lnTo>
                  <a:pt x="1923887" y="2268737"/>
                </a:lnTo>
                <a:lnTo>
                  <a:pt x="1673356" y="2264534"/>
                </a:lnTo>
                <a:lnTo>
                  <a:pt x="1427738" y="2258228"/>
                </a:lnTo>
                <a:lnTo>
                  <a:pt x="1184577" y="2252273"/>
                </a:lnTo>
                <a:lnTo>
                  <a:pt x="946327" y="2245617"/>
                </a:lnTo>
                <a:lnTo>
                  <a:pt x="709305" y="2235458"/>
                </a:lnTo>
                <a:lnTo>
                  <a:pt x="475970" y="2224598"/>
                </a:lnTo>
                <a:lnTo>
                  <a:pt x="247543" y="2214790"/>
                </a:lnTo>
                <a:lnTo>
                  <a:pt x="0" y="2199423"/>
                </a:lnTo>
                <a:close/>
              </a:path>
            </a:pathLst>
          </a:custGeom>
        </p:spPr>
      </p:pic>
      <p:sp>
        <p:nvSpPr>
          <p:cNvPr id="2" name="Title 1">
            <a:extLst>
              <a:ext uri="{FF2B5EF4-FFF2-40B4-BE49-F238E27FC236}">
                <a16:creationId xmlns:a16="http://schemas.microsoft.com/office/drawing/2014/main" id="{03484D1E-96B4-0A97-0341-B2D881325167}"/>
              </a:ext>
            </a:extLst>
          </p:cNvPr>
          <p:cNvSpPr>
            <a:spLocks noGrp="1"/>
          </p:cNvSpPr>
          <p:nvPr>
            <p:ph type="title"/>
          </p:nvPr>
        </p:nvSpPr>
        <p:spPr>
          <a:xfrm>
            <a:off x="1030288" y="609600"/>
            <a:ext cx="10131425" cy="1110343"/>
          </a:xfrm>
        </p:spPr>
        <p:txBody>
          <a:bodyPr>
            <a:normAutofit/>
          </a:bodyPr>
          <a:lstStyle/>
          <a:p>
            <a:pPr algn="ctr">
              <a:lnSpc>
                <a:spcPct val="90000"/>
              </a:lnSpc>
            </a:pPr>
            <a:r>
              <a:rPr lang="en-US">
                <a:solidFill>
                  <a:schemeClr val="bg1"/>
                </a:solidFill>
                <a:effectLst/>
                <a:latin typeface="Helvetica Neue" panose="02000503000000020004" pitchFamily="2" charset="0"/>
              </a:rPr>
              <a:t> Conclusion</a:t>
            </a:r>
            <a:br>
              <a:rPr lang="en-US">
                <a:solidFill>
                  <a:schemeClr val="bg1"/>
                </a:solidFill>
                <a:effectLst/>
                <a:latin typeface="Helvetica Neue" panose="02000503000000020004" pitchFamily="2" charset="0"/>
              </a:rPr>
            </a:br>
            <a:endParaRPr lang="en-US">
              <a:solidFill>
                <a:schemeClr val="bg1"/>
              </a:solidFill>
            </a:endParaRPr>
          </a:p>
        </p:txBody>
      </p:sp>
      <p:sp>
        <p:nvSpPr>
          <p:cNvPr id="3" name="Content Placeholder 2">
            <a:extLst>
              <a:ext uri="{FF2B5EF4-FFF2-40B4-BE49-F238E27FC236}">
                <a16:creationId xmlns:a16="http://schemas.microsoft.com/office/drawing/2014/main" id="{A63B8CF2-58B8-FB87-2D41-718E34A52BAB}"/>
              </a:ext>
            </a:extLst>
          </p:cNvPr>
          <p:cNvSpPr>
            <a:spLocks noGrp="1"/>
          </p:cNvSpPr>
          <p:nvPr>
            <p:ph idx="1"/>
          </p:nvPr>
        </p:nvSpPr>
        <p:spPr>
          <a:xfrm>
            <a:off x="685801" y="2592572"/>
            <a:ext cx="10820400" cy="3198627"/>
          </a:xfrm>
        </p:spPr>
        <p:txBody>
          <a:bodyPr>
            <a:normAutofit/>
          </a:bodyPr>
          <a:lstStyle/>
          <a:p>
            <a:r>
              <a:rPr lang="en-US" dirty="0"/>
              <a:t>In conclusion, GRE scores do play a role in the graduate school admissions process, but they are not the only factor considered. While a higher GRE score may increase one's chances of admission, it is important to have a well-rounded application that showcases academic achievement, work experience, and other relevant factors. Thank you for listening to my presentation </a:t>
            </a:r>
          </a:p>
          <a:p>
            <a:r>
              <a:rPr lang="en-US" dirty="0"/>
              <a:t>Overall, statistical methods like the F-test are essential tools for data analysts and machine learning practitioners, as they help us to extract valuable insights from data and make informed decisions based on empirical evidence.</a:t>
            </a:r>
          </a:p>
          <a:p>
            <a:pPr marL="0" indent="0">
              <a:buNone/>
            </a:pPr>
            <a:endParaRPr lang="en-US" dirty="0"/>
          </a:p>
        </p:txBody>
      </p:sp>
    </p:spTree>
    <p:extLst>
      <p:ext uri="{BB962C8B-B14F-4D97-AF65-F5344CB8AC3E}">
        <p14:creationId xmlns:p14="http://schemas.microsoft.com/office/powerpoint/2010/main" val="81872300"/>
      </p:ext>
    </p:extLst>
  </p:cSld>
  <p:clrMapOvr>
    <a:overrideClrMapping bg1="lt1" tx1="dk1" bg2="lt2" tx2="dk2" accent1="accent1" accent2="accent2" accent3="accent3" accent4="accent4" accent5="accent5" accent6="accent6" hlink="hlink" folHlink="folHlink"/>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AF6706C-CF07-43A1-BCC4-CBA5D33820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1" name="Rectangle 10">
            <a:extLst>
              <a:ext uri="{FF2B5EF4-FFF2-40B4-BE49-F238E27FC236}">
                <a16:creationId xmlns:a16="http://schemas.microsoft.com/office/drawing/2014/main" id="{09C946AC-2072-4946-A2B8-39F09D0944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A748C8C8-F348-4D00-852A-26DD9EBCC24C}"/>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50555"/>
          <a:stretch/>
        </p:blipFill>
        <p:spPr>
          <a:xfrm>
            <a:off x="0" y="0"/>
            <a:ext cx="6026763" cy="6856214"/>
          </a:xfrm>
          <a:prstGeom prst="rect">
            <a:avLst/>
          </a:prstGeom>
        </p:spPr>
      </p:pic>
      <p:sp>
        <p:nvSpPr>
          <p:cNvPr id="2" name="Title 1">
            <a:extLst>
              <a:ext uri="{FF2B5EF4-FFF2-40B4-BE49-F238E27FC236}">
                <a16:creationId xmlns:a16="http://schemas.microsoft.com/office/drawing/2014/main" id="{9B9749E2-0A57-0225-0B78-CEA186D604DA}"/>
              </a:ext>
            </a:extLst>
          </p:cNvPr>
          <p:cNvSpPr>
            <a:spLocks noGrp="1"/>
          </p:cNvSpPr>
          <p:nvPr>
            <p:ph type="title"/>
          </p:nvPr>
        </p:nvSpPr>
        <p:spPr>
          <a:xfrm>
            <a:off x="486876" y="2032000"/>
            <a:ext cx="4513792" cy="2819398"/>
          </a:xfrm>
        </p:spPr>
        <p:txBody>
          <a:bodyPr vert="horz" lIns="91440" tIns="45720" rIns="91440" bIns="45720" rtlCol="0" anchor="b">
            <a:normAutofit/>
          </a:bodyPr>
          <a:lstStyle/>
          <a:p>
            <a:pPr algn="r"/>
            <a:r>
              <a:rPr lang="en-US" sz="4800">
                <a:solidFill>
                  <a:srgbClr val="FFFFFF"/>
                </a:solidFill>
              </a:rPr>
              <a:t>Thank you!</a:t>
            </a:r>
          </a:p>
        </p:txBody>
      </p:sp>
      <p:sp useBgFill="1">
        <p:nvSpPr>
          <p:cNvPr id="15" name="Freeform 5">
            <a:extLst>
              <a:ext uri="{FF2B5EF4-FFF2-40B4-BE49-F238E27FC236}">
                <a16:creationId xmlns:a16="http://schemas.microsoft.com/office/drawing/2014/main" id="{559FD8B5-8CC4-4CFE-BD2A-1216B1F2C3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5827529" y="660400"/>
            <a:ext cx="6381405" cy="6214533"/>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17" name="Freeform 14">
            <a:extLst>
              <a:ext uri="{FF2B5EF4-FFF2-40B4-BE49-F238E27FC236}">
                <a16:creationId xmlns:a16="http://schemas.microsoft.com/office/drawing/2014/main" id="{9ECF13F4-3D2A-4F2E-9BBD-3038670D21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19660E16-DCC0-4B6C-8E84-4C292580059F}"/>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0" name="Straight Connector 19">
              <a:extLst>
                <a:ext uri="{FF2B5EF4-FFF2-40B4-BE49-F238E27FC236}">
                  <a16:creationId xmlns:a16="http://schemas.microsoft.com/office/drawing/2014/main" id="{29130F79-611E-4458-B53E-36A2572171A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EA78691-46E9-469A-921B-9D16933EE1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CA4AA196-3090-4283-ADF0-893F8108586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1FD33794-9D71-4B08-AE11-8B589EFBA25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38AFBF0E-867E-4181-93DF-9A13F334B01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C7EA8258-0459-4037-BABC-B1A0A5D7055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E8BB355F-363A-4046-90AF-3DDB7AA1845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A9334308-B9EC-41CF-8B6C-23FB134BA5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30781133-0656-4918-BE6A-703C148ED9D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6B4F93AD-8044-447B-8CAC-8A069716034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EAA78689-5B7A-4420-A3DC-0EA0815835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F09CC934-4D78-4334-8B7F-4D0C13D6C91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068DA411-6F43-42CF-8A08-B2871E38225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3417563A-04A5-4952-AA6D-E503558C543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4A41B232-E630-4AC7-9A97-763529D705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7EABA1A2-F7BA-4FB5-AD0A-A4DBBCF6F7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7EA99E51-908F-4D65-AC2B-A8E75A1FE4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5F2D126B-7D1C-4D2C-97D5-2D8C686B782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74B20164-1C4E-4FA3-A2E5-389E7407730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54E7AD9-228F-47CD-A598-CB579B489A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D7D2B81A-6082-4668-8AA7-F2757C8EC20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1469BD5F-3BFE-4BA0-A24F-7F80A73B823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224D532A-F49F-4BB9-AAA6-8B2B89CB6F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EB2224AE-40A4-483D-991E-9490A01B761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DD3DE117-F3FA-4657-B4A7-40DE41238FA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D85EA1EB-1126-463C-AD87-4FB126C6FF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90336723-7646-4B25-9EE9-519CC83342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652B6D8B-5579-4262-9376-B702382B0E2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B07893BD-D1AE-48C1-91A9-D4787937628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0C6FEEA5-8E66-4C31-92AD-01305FF4887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D3E18335-591C-4354-9390-DD371BB3F92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151098D0-C2B4-4D61-92D5-C81DDBDA22D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3EACD9C3-3E01-47CF-BC68-BDAE22E30B4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80A5C950-6480-44E0-9D50-F193147D556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C68F1BDE-24EB-4308-AB69-F353C8598B4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D83E12EF-845B-41E6-BA82-F6CD46C0FE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E646EE72-4D70-46B4-B655-74722AAC2AD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72BB073B-89FD-4B47-814B-A8EE7A1EE18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EE25488-63A9-43E5-A03F-2E628C3B21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2BE7FDEE-BD70-4D8F-B5CE-4D03F1D00E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3039673A-8522-4BFC-B8B2-7F2FEAED418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47AB08C4-AF01-4D1D-90EA-A4113CFF994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FC8E7B06-FF45-4365-9DF4-E8E315A5B34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8F00765-F5EC-427C-A7A1-CDFA0406F2A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2FE1EF8A-C81D-4879-9142-3697CA0BCBD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D80C0B62-6F07-4DD2-B308-F3C29F29443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E9C7C8CB-2D13-4138-B3C1-B78EC19B59D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8EB1BC7E-04BC-423C-843D-7C149C25A1A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A8BA62C3-B17C-4AD0-B585-1C42ED7456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1B6F8BD1-22F9-4EE2-93C7-F859F3B9908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B173F2AA-33AE-4A43-AFA9-50C60D6F689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16339DB1-5BB0-42C5-B12D-7555AD403DA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1413BF1A-CE02-41EB-8977-EBE39AE0DAB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7899680C-3DC7-4B71-8D34-7EE8306FEC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13B57EA5-419A-4EE0-BB93-356B12F6D03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37A79B15-73B1-417F-A985-25FBC893F73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566DE9DC-92E2-44D8-B7D0-D1295DD8F03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A9A1F3CD-685D-4541-8715-91E39B1E230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C63E90F9-BD80-4805-A68E-CA56D52496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014402D-979B-4D18-9E85-4D8F6C986F4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2A04AE49-4B0B-4908-B1DB-480F568D284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3293E6AC-4EF0-4B88-AC7E-BCB112010B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6344B49D-AFCD-4426-AC08-F3128282C34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83B776AB-0884-47E4-AC8D-69A19A6103D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01EC5397-87DB-4803-855B-44DFE9BBB81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18EF0075-59DA-4C16-BF01-C65EE2DDD8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9ABF3642-CC62-4EA5-8A59-1AFF97A5608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F7715913-AE6D-4FFC-A6EC-E7EE027D27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46B78CB6-17D0-445E-A523-FD18D3BE29D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783E7655-41DA-4DFA-9DEC-FD37064F0AB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5E953697-F897-4DE0-B735-80C721129E6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7C7CED19-0566-4D81-A59A-5A3561F1B70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CE247A59-B18F-4331-BC8D-07C3DA5E8E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F21C3132-6A07-4EB5-A00C-2176067CB1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4067D677-3FA9-4187-B1CA-F6298A917C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82E9FC80-B3E8-47CE-862C-9F6E9E598A4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2D383F3C-A57C-472A-9E05-CCD8A4F8E50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E534D376-6ABA-4DF9-BBEA-EB5A881804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pic>
        <p:nvPicPr>
          <p:cNvPr id="6" name="Graphic 5" descr="Handshake">
            <a:extLst>
              <a:ext uri="{FF2B5EF4-FFF2-40B4-BE49-F238E27FC236}">
                <a16:creationId xmlns:a16="http://schemas.microsoft.com/office/drawing/2014/main" id="{22520147-F9D3-C517-00C8-73A98C5902CC}"/>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355001" y="2191639"/>
            <a:ext cx="3686910" cy="3686910"/>
          </a:xfrm>
          <a:prstGeom prst="rect">
            <a:avLst/>
          </a:prstGeom>
        </p:spPr>
      </p:pic>
    </p:spTree>
    <p:extLst>
      <p:ext uri="{BB962C8B-B14F-4D97-AF65-F5344CB8AC3E}">
        <p14:creationId xmlns:p14="http://schemas.microsoft.com/office/powerpoint/2010/main" val="1008769035"/>
      </p:ext>
    </p:extLst>
  </p:cSld>
  <p:clrMapOvr>
    <a:overrideClrMapping bg1="lt1" tx1="dk1" bg2="lt2" tx2="dk2" accent1="accent1" accent2="accent2" accent3="accent3" accent4="accent4" accent5="accent5" accent6="accent6" hlink="hlink" folHlink="folHlink"/>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6AF6706C-CF07-43A1-BCC4-CBA5D33820DA}"/>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1" name="Rectangle 10">
            <a:extLst>
              <a:ext uri="{FF2B5EF4-FFF2-40B4-BE49-F238E27FC236}">
                <a16:creationId xmlns:a16="http://schemas.microsoft.com/office/drawing/2014/main" id="{1F94DC1C-47D1-41D7-8B1B-9A036D61402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p>
        </p:txBody>
      </p:sp>
      <p:pic>
        <p:nvPicPr>
          <p:cNvPr id="13" name="Picture 12">
            <a:extLst>
              <a:ext uri="{FF2B5EF4-FFF2-40B4-BE49-F238E27FC236}">
                <a16:creationId xmlns:a16="http://schemas.microsoft.com/office/drawing/2014/main" id="{811383CE-CE86-4E1C-B289-798EB9E6E0E5}"/>
              </a:ext>
              <a:ext uri="{C183D7F6-B498-43B3-948B-1728B52AA6E4}">
                <adec:decorative xmlns:adec="http://schemas.microsoft.com/office/drawing/2017/decorative" val="1"/>
              </a:ext>
            </a:extLst>
          </p:cNvPr>
          <p:cNvPicPr>
            <a:picLocks noGrp="1" noRot="1" noChangeAspect="1" noMove="1" noResize="1" noEditPoints="1" noAdjustHandles="1" noChangeArrowheads="1" noChangeShapeType="1" noCrop="1"/>
          </p:cNvPicPr>
          <p:nvPr>
            <p:extLst>
              <p:ext uri="{386F3935-93C4-4BCD-93E2-E3B085C9AB24}">
                <p16:designElem xmlns:p16="http://schemas.microsoft.com/office/powerpoint/2015/main" val="1"/>
              </p:ext>
            </p:extLst>
          </p:nvPr>
        </p:nvPicPr>
        <p:blipFill rotWithShape="1">
          <a:blip r:embed="rId2">
            <a:extLst>
              <a:ext uri="{28A0092B-C50C-407E-A947-70E740481C1C}">
                <a14:useLocalDpi xmlns:a14="http://schemas.microsoft.com/office/drawing/2010/main" val="0"/>
              </a:ext>
            </a:extLst>
          </a:blip>
          <a:srcRect r="51622"/>
          <a:stretch/>
        </p:blipFill>
        <p:spPr>
          <a:xfrm>
            <a:off x="1" y="0"/>
            <a:ext cx="5896768" cy="6856214"/>
          </a:xfrm>
          <a:prstGeom prst="rect">
            <a:avLst/>
          </a:prstGeom>
        </p:spPr>
      </p:pic>
      <p:sp>
        <p:nvSpPr>
          <p:cNvPr id="2" name="Title 1">
            <a:extLst>
              <a:ext uri="{FF2B5EF4-FFF2-40B4-BE49-F238E27FC236}">
                <a16:creationId xmlns:a16="http://schemas.microsoft.com/office/drawing/2014/main" id="{1237CD8F-800A-A978-F917-ABD9B4797BEF}"/>
              </a:ext>
            </a:extLst>
          </p:cNvPr>
          <p:cNvSpPr>
            <a:spLocks noGrp="1"/>
          </p:cNvSpPr>
          <p:nvPr>
            <p:ph type="title"/>
          </p:nvPr>
        </p:nvSpPr>
        <p:spPr>
          <a:xfrm>
            <a:off x="486876" y="2032000"/>
            <a:ext cx="4513792" cy="2819398"/>
          </a:xfrm>
        </p:spPr>
        <p:txBody>
          <a:bodyPr vert="horz" lIns="91440" tIns="45720" rIns="91440" bIns="45720" rtlCol="0" anchor="b">
            <a:normAutofit/>
          </a:bodyPr>
          <a:lstStyle/>
          <a:p>
            <a:pPr algn="r"/>
            <a:r>
              <a:rPr lang="en-US" sz="4800">
                <a:solidFill>
                  <a:srgbClr val="FFFFFF"/>
                </a:solidFill>
              </a:rPr>
              <a:t>Questions?</a:t>
            </a:r>
          </a:p>
        </p:txBody>
      </p:sp>
      <p:sp useBgFill="1">
        <p:nvSpPr>
          <p:cNvPr id="15" name="Freeform 5">
            <a:extLst>
              <a:ext uri="{FF2B5EF4-FFF2-40B4-BE49-F238E27FC236}">
                <a16:creationId xmlns:a16="http://schemas.microsoft.com/office/drawing/2014/main" id="{AC12A592-C02D-46EF-8E1F-9335DB8D71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grayWhite">
          <a:xfrm>
            <a:off x="5827529" y="660400"/>
            <a:ext cx="6381405" cy="6214533"/>
          </a:xfrm>
          <a:custGeom>
            <a:avLst/>
            <a:gdLst>
              <a:gd name="T0" fmla="*/ 1333 w 1333"/>
              <a:gd name="T1" fmla="*/ 1031 h 1298"/>
              <a:gd name="T2" fmla="*/ 1333 w 1333"/>
              <a:gd name="T3" fmla="*/ 380 h 1298"/>
              <a:gd name="T4" fmla="*/ 706 w 1333"/>
              <a:gd name="T5" fmla="*/ 0 h 1298"/>
              <a:gd name="T6" fmla="*/ 0 w 1333"/>
              <a:gd name="T7" fmla="*/ 706 h 1298"/>
              <a:gd name="T8" fmla="*/ 323 w 1333"/>
              <a:gd name="T9" fmla="*/ 1298 h 1298"/>
              <a:gd name="T10" fmla="*/ 1090 w 1333"/>
              <a:gd name="T11" fmla="*/ 1298 h 1298"/>
              <a:gd name="T12" fmla="*/ 1333 w 1333"/>
              <a:gd name="T13" fmla="*/ 1031 h 1298"/>
            </a:gdLst>
            <a:ahLst/>
            <a:cxnLst>
              <a:cxn ang="0">
                <a:pos x="T0" y="T1"/>
              </a:cxn>
              <a:cxn ang="0">
                <a:pos x="T2" y="T3"/>
              </a:cxn>
              <a:cxn ang="0">
                <a:pos x="T4" y="T5"/>
              </a:cxn>
              <a:cxn ang="0">
                <a:pos x="T6" y="T7"/>
              </a:cxn>
              <a:cxn ang="0">
                <a:pos x="T8" y="T9"/>
              </a:cxn>
              <a:cxn ang="0">
                <a:pos x="T10" y="T11"/>
              </a:cxn>
              <a:cxn ang="0">
                <a:pos x="T12" y="T13"/>
              </a:cxn>
            </a:cxnLst>
            <a:rect l="0" t="0" r="r" b="b"/>
            <a:pathLst>
              <a:path w="1333" h="1298">
                <a:moveTo>
                  <a:pt x="1333" y="1031"/>
                </a:moveTo>
                <a:cubicBezTo>
                  <a:pt x="1333" y="380"/>
                  <a:pt x="1333" y="380"/>
                  <a:pt x="1333" y="380"/>
                </a:cubicBezTo>
                <a:cubicBezTo>
                  <a:pt x="1215" y="154"/>
                  <a:pt x="979" y="0"/>
                  <a:pt x="706" y="0"/>
                </a:cubicBezTo>
                <a:cubicBezTo>
                  <a:pt x="317" y="0"/>
                  <a:pt x="0" y="316"/>
                  <a:pt x="0" y="706"/>
                </a:cubicBezTo>
                <a:cubicBezTo>
                  <a:pt x="0" y="954"/>
                  <a:pt x="129" y="1172"/>
                  <a:pt x="323" y="1298"/>
                </a:cubicBezTo>
                <a:cubicBezTo>
                  <a:pt x="1090" y="1298"/>
                  <a:pt x="1090" y="1298"/>
                  <a:pt x="1090" y="1298"/>
                </a:cubicBezTo>
                <a:cubicBezTo>
                  <a:pt x="1193" y="1232"/>
                  <a:pt x="1276" y="1140"/>
                  <a:pt x="1333" y="1031"/>
                </a:cubicBezTo>
                <a:close/>
              </a:path>
            </a:pathLst>
          </a:cu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vert="horz" lIns="91440" tIns="45720" rIns="91440" bIns="45720" rtlCol="0" anchor="t">
            <a:normAutofit/>
          </a:bodyPr>
          <a:lstStyle/>
          <a:p>
            <a:pPr algn="ctr">
              <a:spcAft>
                <a:spcPts val="1000"/>
              </a:spcAft>
              <a:buClr>
                <a:schemeClr val="tx1"/>
              </a:buClr>
              <a:buSzPct val="100000"/>
              <a:buFont typeface="Arial"/>
              <a:buNone/>
            </a:pPr>
            <a:endParaRPr lang="en-US" sz="1600" cap="all"/>
          </a:p>
        </p:txBody>
      </p:sp>
      <p:sp>
        <p:nvSpPr>
          <p:cNvPr id="17" name="Freeform 14">
            <a:extLst>
              <a:ext uri="{FF2B5EF4-FFF2-40B4-BE49-F238E27FC236}">
                <a16:creationId xmlns:a16="http://schemas.microsoft.com/office/drawing/2014/main" id="{24005816-5BCA-4665-8A58-5580F8E9C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281603" y="104899"/>
            <a:ext cx="6896713" cy="6005491"/>
          </a:xfrm>
          <a:custGeom>
            <a:avLst/>
            <a:gdLst>
              <a:gd name="connsiteX0" fmla="*/ 3912717 w 6896713"/>
              <a:gd name="connsiteY0" fmla="*/ 0 h 6005491"/>
              <a:gd name="connsiteX1" fmla="*/ 6679426 w 6896713"/>
              <a:gd name="connsiteY1" fmla="*/ 1146008 h 6005491"/>
              <a:gd name="connsiteX2" fmla="*/ 6896713 w 6896713"/>
              <a:gd name="connsiteY2" fmla="*/ 1385085 h 6005491"/>
              <a:gd name="connsiteX3" fmla="*/ 6896713 w 6896713"/>
              <a:gd name="connsiteY3" fmla="*/ 1431256 h 6005491"/>
              <a:gd name="connsiteX4" fmla="*/ 6657442 w 6896713"/>
              <a:gd name="connsiteY4" fmla="*/ 1167992 h 6005491"/>
              <a:gd name="connsiteX5" fmla="*/ 3912717 w 6896713"/>
              <a:gd name="connsiteY5" fmla="*/ 31089 h 6005491"/>
              <a:gd name="connsiteX6" fmla="*/ 31089 w 6896713"/>
              <a:gd name="connsiteY6" fmla="*/ 3912717 h 6005491"/>
              <a:gd name="connsiteX7" fmla="*/ 593046 w 6896713"/>
              <a:gd name="connsiteY7" fmla="*/ 5925483 h 6005491"/>
              <a:gd name="connsiteX8" fmla="*/ 633874 w 6896713"/>
              <a:gd name="connsiteY8" fmla="*/ 5989169 h 6005491"/>
              <a:gd name="connsiteX9" fmla="*/ 607415 w 6896713"/>
              <a:gd name="connsiteY9" fmla="*/ 6005491 h 6005491"/>
              <a:gd name="connsiteX10" fmla="*/ 566458 w 6896713"/>
              <a:gd name="connsiteY10" fmla="*/ 5941603 h 6005491"/>
              <a:gd name="connsiteX11" fmla="*/ 0 w 6896713"/>
              <a:gd name="connsiteY11" fmla="*/ 3912717 h 6005491"/>
              <a:gd name="connsiteX12" fmla="*/ 3912717 w 6896713"/>
              <a:gd name="connsiteY12" fmla="*/ 0 h 60054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96713" h="6005491">
                <a:moveTo>
                  <a:pt x="3912717" y="0"/>
                </a:moveTo>
                <a:cubicBezTo>
                  <a:pt x="4993184" y="0"/>
                  <a:pt x="5971363" y="437946"/>
                  <a:pt x="6679426" y="1146008"/>
                </a:cubicBezTo>
                <a:lnTo>
                  <a:pt x="6896713" y="1385085"/>
                </a:lnTo>
                <a:lnTo>
                  <a:pt x="6896713" y="1431256"/>
                </a:lnTo>
                <a:lnTo>
                  <a:pt x="6657442" y="1167992"/>
                </a:lnTo>
                <a:cubicBezTo>
                  <a:pt x="5955006" y="465555"/>
                  <a:pt x="4984599" y="31089"/>
                  <a:pt x="3912717" y="31089"/>
                </a:cubicBezTo>
                <a:cubicBezTo>
                  <a:pt x="1768953" y="31089"/>
                  <a:pt x="31089" y="1768953"/>
                  <a:pt x="31089" y="3912717"/>
                </a:cubicBezTo>
                <a:cubicBezTo>
                  <a:pt x="31089" y="4649636"/>
                  <a:pt x="236442" y="5338592"/>
                  <a:pt x="593046" y="5925483"/>
                </a:cubicBezTo>
                <a:lnTo>
                  <a:pt x="633874" y="5989169"/>
                </a:lnTo>
                <a:lnTo>
                  <a:pt x="607415" y="6005491"/>
                </a:lnTo>
                <a:lnTo>
                  <a:pt x="566458" y="5941603"/>
                </a:lnTo>
                <a:cubicBezTo>
                  <a:pt x="206998" y="5350013"/>
                  <a:pt x="0" y="4655538"/>
                  <a:pt x="0" y="3912717"/>
                </a:cubicBezTo>
                <a:cubicBezTo>
                  <a:pt x="0" y="1751783"/>
                  <a:pt x="1751783" y="0"/>
                  <a:pt x="3912717" y="0"/>
                </a:cubicBezTo>
                <a:close/>
              </a:path>
            </a:pathLst>
          </a:custGeom>
          <a:solidFill>
            <a:srgbClr val="FFFFFF">
              <a:alpha val="41961"/>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BF07F359-8CA3-4854-91E7-EE600402051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516018" y="331504"/>
            <a:ext cx="6675982" cy="5235326"/>
            <a:chOff x="5516018" y="331504"/>
            <a:chExt cx="6675982" cy="5235326"/>
          </a:xfrm>
        </p:grpSpPr>
        <p:cxnSp>
          <p:nvCxnSpPr>
            <p:cNvPr id="20" name="Straight Connector 19">
              <a:extLst>
                <a:ext uri="{FF2B5EF4-FFF2-40B4-BE49-F238E27FC236}">
                  <a16:creationId xmlns:a16="http://schemas.microsoft.com/office/drawing/2014/main" id="{8A7FCE86-4904-4337-8D0A-3ABA73F609E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9266830" y="3315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BA32C234-504D-411A-A62B-C1CFD8CE74D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 flipH="1">
              <a:off x="9408861" y="3383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81593A9-FD94-454C-9225-478E907061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 flipH="1">
              <a:off x="9551700" y="34763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FA3524A1-6DED-4D15-ADE5-F797DBCEC7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0000" flipH="1">
              <a:off x="9688748" y="36808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AA8491CF-856E-4A54-84A5-45C558D41A7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9824866" y="38922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AD63A388-BF18-4ABD-96E0-5946B1ABB1D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0000" flipH="1">
              <a:off x="9966867" y="41754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9CF6D779-BD20-4058-AC29-AF4E2510C2C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80000" flipH="1">
              <a:off x="10104425" y="4458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4189C0F2-FCB0-4636-9B05-F9FCBB2020A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00000" flipH="1">
              <a:off x="10240513" y="47948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E74CB59A-0AC3-4235-A93D-73EE124669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10373882" y="52435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2B6E97A3-E95A-4D79-A8F8-1945EA2634F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00000" flipH="1">
              <a:off x="10505632" y="570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9F4ABF86-0905-4DE8-8F0B-D10D3D6F9C4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20000" flipH="1">
              <a:off x="10637382" y="62134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4FAAFEF7-DFA1-48C7-9E4E-FF7B1453C71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440000" flipH="1">
              <a:off x="10760965" y="69043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ED828735-DFD9-4894-8461-77A2FB0C927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10888991" y="755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7A6C2585-E93E-489D-8819-FCEE3CFF11C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740000" flipH="1">
              <a:off x="11010193" y="81974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E57C1F25-FC5C-4082-B4F6-888F8E467EE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60000" flipH="1">
              <a:off x="11129014" y="89566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F5DF4BDB-CA1D-4DA1-8D26-6BAEE0A21AE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80000" flipH="1">
              <a:off x="11249872" y="9680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3315D2A0-DDA4-4A25-9CC7-7F90CCF0C40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11366875" y="10480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75312B72-7E7D-4B0B-960E-7D7C9540EBD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280000" flipH="1">
              <a:off x="11474058" y="11315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48B42BB-3C0E-4546-957B-AB593E308C9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00000" flipH="1">
              <a:off x="11583303" y="122179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437809D5-5F69-4BC6-A661-44B2A8A6822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20000" flipH="1">
              <a:off x="11685344" y="132177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B269CB4C-8BB5-4F63-8961-7EB8FE56D44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11787704" y="14176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D5E7B60C-3F52-49EA-99F5-BE42AF88DD3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20000" flipH="1">
              <a:off x="11880859" y="15179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1C5E885C-0F0D-4E11-8B78-4CE951E269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940000" flipH="1">
              <a:off x="11969252" y="162743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4BFA6E20-F564-4CA4-9150-FDD50B02CD2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60000" flipH="1">
              <a:off x="12062016" y="173601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C3C02C6B-B913-486F-ACAE-432DE1F7704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074680" y="1910249"/>
              <a:ext cx="117320" cy="82912"/>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B6B5EE64-D401-45A4-82D4-85D4BF5C8EC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flipH="1">
              <a:off x="12149943" y="2083594"/>
              <a:ext cx="39676" cy="21436"/>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5F622D05-678C-405E-A74F-8D92A9C6443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 flipH="1">
              <a:off x="9127990" y="33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7" name="Straight Connector 46">
              <a:extLst>
                <a:ext uri="{FF2B5EF4-FFF2-40B4-BE49-F238E27FC236}">
                  <a16:creationId xmlns:a16="http://schemas.microsoft.com/office/drawing/2014/main" id="{D8E01EF1-6517-49CC-9891-1BD6D0F49D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 flipH="1">
              <a:off x="8987576" y="33663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8" name="Straight Connector 47">
              <a:extLst>
                <a:ext uri="{FF2B5EF4-FFF2-40B4-BE49-F238E27FC236}">
                  <a16:creationId xmlns:a16="http://schemas.microsoft.com/office/drawing/2014/main" id="{EC93E79A-63A6-4782-9D2C-BC50CD3B944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 flipH="1">
              <a:off x="8844859" y="35117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49" name="Straight Connector 48">
              <a:extLst>
                <a:ext uri="{FF2B5EF4-FFF2-40B4-BE49-F238E27FC236}">
                  <a16:creationId xmlns:a16="http://schemas.microsoft.com/office/drawing/2014/main" id="{46C4B4DB-9B57-4C69-96EB-3E1910CEF40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 flipH="1">
              <a:off x="8706904" y="3657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0" name="Straight Connector 49">
              <a:extLst>
                <a:ext uri="{FF2B5EF4-FFF2-40B4-BE49-F238E27FC236}">
                  <a16:creationId xmlns:a16="http://schemas.microsoft.com/office/drawing/2014/main" id="{9BBDCDA7-4ECB-42B1-8524-3D30023D6B6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20000" flipH="1">
              <a:off x="8568008" y="38789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C7483057-DCDA-4BC6-8E99-7EAD94E8786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840000" flipH="1">
              <a:off x="8429112" y="4100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E5C35A56-0BFD-443F-8C2B-CA73A3BFE9E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960000" flipH="1">
              <a:off x="8294968" y="4462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3" name="Straight Connector 52">
              <a:extLst>
                <a:ext uri="{FF2B5EF4-FFF2-40B4-BE49-F238E27FC236}">
                  <a16:creationId xmlns:a16="http://schemas.microsoft.com/office/drawing/2014/main" id="{214A0AE5-3A88-4D5D-845C-5E906888C81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080000" flipH="1">
              <a:off x="8160824" y="48237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4" name="Straight Connector 53">
              <a:extLst>
                <a:ext uri="{FF2B5EF4-FFF2-40B4-BE49-F238E27FC236}">
                  <a16:creationId xmlns:a16="http://schemas.microsoft.com/office/drawing/2014/main" id="{44D7BF13-EDB8-4740-A3C5-87E2E7C6766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260000" flipH="1">
              <a:off x="8027689" y="53184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16DAB64F-4B49-434F-BFB6-0BEB41AFB61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380000" flipH="1">
              <a:off x="7894554" y="58132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6" name="Straight Connector 55">
              <a:extLst>
                <a:ext uri="{FF2B5EF4-FFF2-40B4-BE49-F238E27FC236}">
                  <a16:creationId xmlns:a16="http://schemas.microsoft.com/office/drawing/2014/main" id="{93B5AD9A-BDA6-42CE-A1C0-C0721030722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500000" flipH="1">
              <a:off x="7761419" y="63079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5FD67DCC-475F-4BED-A634-FCDD63176BB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620000" flipH="1">
              <a:off x="7636645" y="68980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a:extLst>
                <a:ext uri="{FF2B5EF4-FFF2-40B4-BE49-F238E27FC236}">
                  <a16:creationId xmlns:a16="http://schemas.microsoft.com/office/drawing/2014/main" id="{ED276E23-C86D-408D-821A-1E9A44CAEAF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800000" flipH="1">
              <a:off x="7511871" y="75119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a:extLst>
                <a:ext uri="{FF2B5EF4-FFF2-40B4-BE49-F238E27FC236}">
                  <a16:creationId xmlns:a16="http://schemas.microsoft.com/office/drawing/2014/main" id="{A879A029-D911-41C4-B218-E41871762F3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1920000" flipH="1">
              <a:off x="7387899" y="81977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0" name="Straight Connector 59">
              <a:extLst>
                <a:ext uri="{FF2B5EF4-FFF2-40B4-BE49-F238E27FC236}">
                  <a16:creationId xmlns:a16="http://schemas.microsoft.com/office/drawing/2014/main" id="{E9C7C9F5-65FB-4EF9-9AAD-F7E1FC14B84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040000" flipH="1">
              <a:off x="7268530" y="89316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1" name="Straight Connector 60">
              <a:extLst>
                <a:ext uri="{FF2B5EF4-FFF2-40B4-BE49-F238E27FC236}">
                  <a16:creationId xmlns:a16="http://schemas.microsoft.com/office/drawing/2014/main" id="{6115B885-5742-431C-BA48-96FC1F6D228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160000" flipH="1">
              <a:off x="7152030" y="97658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2" name="Straight Connector 61">
              <a:extLst>
                <a:ext uri="{FF2B5EF4-FFF2-40B4-BE49-F238E27FC236}">
                  <a16:creationId xmlns:a16="http://schemas.microsoft.com/office/drawing/2014/main" id="{6ACE37A6-0062-4B86-B4E6-18088040CDC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340000" flipH="1">
              <a:off x="7041695" y="106002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3" name="Straight Connector 62">
              <a:extLst>
                <a:ext uri="{FF2B5EF4-FFF2-40B4-BE49-F238E27FC236}">
                  <a16:creationId xmlns:a16="http://schemas.microsoft.com/office/drawing/2014/main" id="{0A8679B4-56BA-43AB-A0A2-E2DA3E20530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460000" flipH="1">
              <a:off x="6931360" y="114346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a:extLst>
                <a:ext uri="{FF2B5EF4-FFF2-40B4-BE49-F238E27FC236}">
                  <a16:creationId xmlns:a16="http://schemas.microsoft.com/office/drawing/2014/main" id="{80DE24D2-627B-4C47-A858-A572BCDBACF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580000" flipH="1">
              <a:off x="6819070" y="123586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5" name="Straight Connector 64">
              <a:extLst>
                <a:ext uri="{FF2B5EF4-FFF2-40B4-BE49-F238E27FC236}">
                  <a16:creationId xmlns:a16="http://schemas.microsoft.com/office/drawing/2014/main" id="{B612A33E-5DE0-4E4D-9469-0BD0B3E0E72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700000" flipH="1">
              <a:off x="6721359" y="133274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6" name="Straight Connector 65">
              <a:extLst>
                <a:ext uri="{FF2B5EF4-FFF2-40B4-BE49-F238E27FC236}">
                  <a16:creationId xmlns:a16="http://schemas.microsoft.com/office/drawing/2014/main" id="{91673515-5E42-490F-85A0-45658D81C6C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2880000" flipH="1">
              <a:off x="6617467" y="1429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7" name="Straight Connector 66">
              <a:extLst>
                <a:ext uri="{FF2B5EF4-FFF2-40B4-BE49-F238E27FC236}">
                  <a16:creationId xmlns:a16="http://schemas.microsoft.com/office/drawing/2014/main" id="{6B048C17-3768-4DAF-A7AE-B2E717497021}"/>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000000" flipH="1">
              <a:off x="6520032" y="15272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a:extLst>
                <a:ext uri="{FF2B5EF4-FFF2-40B4-BE49-F238E27FC236}">
                  <a16:creationId xmlns:a16="http://schemas.microsoft.com/office/drawing/2014/main" id="{BAA4E6AA-9D65-4EED-91CB-87A5762ED0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120000" flipH="1">
              <a:off x="6429579" y="16416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69" name="Straight Connector 68">
              <a:extLst>
                <a:ext uri="{FF2B5EF4-FFF2-40B4-BE49-F238E27FC236}">
                  <a16:creationId xmlns:a16="http://schemas.microsoft.com/office/drawing/2014/main" id="{DB48B9EB-BBF2-48D7-A1D7-720D94506BF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240000" flipH="1">
              <a:off x="6340532" y="17504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a:extLst>
                <a:ext uri="{FF2B5EF4-FFF2-40B4-BE49-F238E27FC236}">
                  <a16:creationId xmlns:a16="http://schemas.microsoft.com/office/drawing/2014/main" id="{21492B79-7338-4309-8667-BB29A7BC7B0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420000" flipH="1">
              <a:off x="6261757" y="18601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a:extLst>
                <a:ext uri="{FF2B5EF4-FFF2-40B4-BE49-F238E27FC236}">
                  <a16:creationId xmlns:a16="http://schemas.microsoft.com/office/drawing/2014/main" id="{0352FD87-EC9C-4EB5-9ACC-A152F78FC81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540000" flipH="1">
              <a:off x="6184144" y="197961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a:extLst>
                <a:ext uri="{FF2B5EF4-FFF2-40B4-BE49-F238E27FC236}">
                  <a16:creationId xmlns:a16="http://schemas.microsoft.com/office/drawing/2014/main" id="{FF2CEA1F-EFA8-4353-B5F8-CCE27955A123}"/>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660000" flipH="1">
              <a:off x="6106531" y="20990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a:extLst>
                <a:ext uri="{FF2B5EF4-FFF2-40B4-BE49-F238E27FC236}">
                  <a16:creationId xmlns:a16="http://schemas.microsoft.com/office/drawing/2014/main" id="{63E2723F-2530-4636-9A19-8F11B156628C}"/>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780000" flipH="1">
              <a:off x="6043206" y="222255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4" name="Straight Connector 73">
              <a:extLst>
                <a:ext uri="{FF2B5EF4-FFF2-40B4-BE49-F238E27FC236}">
                  <a16:creationId xmlns:a16="http://schemas.microsoft.com/office/drawing/2014/main" id="{4A9EE901-51C9-4292-BB45-5EDB8568A000}"/>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3960000" flipH="1">
              <a:off x="5978913" y="234430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a:extLst>
                <a:ext uri="{FF2B5EF4-FFF2-40B4-BE49-F238E27FC236}">
                  <a16:creationId xmlns:a16="http://schemas.microsoft.com/office/drawing/2014/main" id="{555407C2-7321-48CD-811F-92C71F701C2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080000" flipH="1">
              <a:off x="5912438" y="24706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a:extLst>
                <a:ext uri="{FF2B5EF4-FFF2-40B4-BE49-F238E27FC236}">
                  <a16:creationId xmlns:a16="http://schemas.microsoft.com/office/drawing/2014/main" id="{E5298A8A-2787-4153-BDA2-E939BFD5141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200000" flipH="1">
              <a:off x="5858875" y="2600922"/>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7" name="Straight Connector 76">
              <a:extLst>
                <a:ext uri="{FF2B5EF4-FFF2-40B4-BE49-F238E27FC236}">
                  <a16:creationId xmlns:a16="http://schemas.microsoft.com/office/drawing/2014/main" id="{C45057B3-3FAB-42ED-AF52-F00BB07FA52B}"/>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320000" flipH="1">
              <a:off x="5808182" y="273404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a:extLst>
                <a:ext uri="{FF2B5EF4-FFF2-40B4-BE49-F238E27FC236}">
                  <a16:creationId xmlns:a16="http://schemas.microsoft.com/office/drawing/2014/main" id="{DA3F09E9-F476-4352-90E3-6A15C74268B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500000" flipH="1">
              <a:off x="5773263" y="286686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a:extLst>
                <a:ext uri="{FF2B5EF4-FFF2-40B4-BE49-F238E27FC236}">
                  <a16:creationId xmlns:a16="http://schemas.microsoft.com/office/drawing/2014/main" id="{128F7C5C-CECC-45A8-8A1F-D679534D4CB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620000" flipH="1">
              <a:off x="5735963" y="300206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0" name="Straight Connector 79">
              <a:extLst>
                <a:ext uri="{FF2B5EF4-FFF2-40B4-BE49-F238E27FC236}">
                  <a16:creationId xmlns:a16="http://schemas.microsoft.com/office/drawing/2014/main" id="{FFFDFE9C-2017-4831-9F1B-6A03B58B10DE}"/>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740000" flipH="1">
              <a:off x="5700105" y="313891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a:extLst>
                <a:ext uri="{FF2B5EF4-FFF2-40B4-BE49-F238E27FC236}">
                  <a16:creationId xmlns:a16="http://schemas.microsoft.com/office/drawing/2014/main" id="{01BC942F-09CF-4A51-85A5-E23E2D71C8C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4860000" flipH="1">
              <a:off x="5665939" y="3275489"/>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2" name="Straight Connector 81">
              <a:extLst>
                <a:ext uri="{FF2B5EF4-FFF2-40B4-BE49-F238E27FC236}">
                  <a16:creationId xmlns:a16="http://schemas.microsoft.com/office/drawing/2014/main" id="{1456B520-137F-484D-A1B1-7DA5C3F823E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040000" flipH="1">
              <a:off x="5644476" y="341425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a:extLst>
                <a:ext uri="{FF2B5EF4-FFF2-40B4-BE49-F238E27FC236}">
                  <a16:creationId xmlns:a16="http://schemas.microsoft.com/office/drawing/2014/main" id="{9ECA29F0-381E-4770-97BF-54C4E52201C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160000" flipH="1">
              <a:off x="5626530" y="355462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4" name="Straight Connector 83">
              <a:extLst>
                <a:ext uri="{FF2B5EF4-FFF2-40B4-BE49-F238E27FC236}">
                  <a16:creationId xmlns:a16="http://schemas.microsoft.com/office/drawing/2014/main" id="{D43CCF9F-8F11-4676-82F3-DEE8A48C856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280000" flipH="1">
              <a:off x="5616429" y="3691831"/>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a:extLst>
                <a:ext uri="{FF2B5EF4-FFF2-40B4-BE49-F238E27FC236}">
                  <a16:creationId xmlns:a16="http://schemas.microsoft.com/office/drawing/2014/main" id="{6FA620FD-6A45-4754-BF42-A9FA44966DD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400000" flipH="1">
              <a:off x="5611319" y="38353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6" name="Straight Connector 85">
              <a:extLst>
                <a:ext uri="{FF2B5EF4-FFF2-40B4-BE49-F238E27FC236}">
                  <a16:creationId xmlns:a16="http://schemas.microsoft.com/office/drawing/2014/main" id="{DC4D38F3-F3A2-42F4-8B57-DE978EC4AD5A}"/>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580000" flipH="1">
              <a:off x="5608540" y="3975726"/>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a:extLst>
                <a:ext uri="{FF2B5EF4-FFF2-40B4-BE49-F238E27FC236}">
                  <a16:creationId xmlns:a16="http://schemas.microsoft.com/office/drawing/2014/main" id="{3C26D30E-A91E-4A5B-A419-0B9D79D57CED}"/>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700000" flipH="1">
              <a:off x="5605761" y="411607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8" name="Straight Connector 87">
              <a:extLst>
                <a:ext uri="{FF2B5EF4-FFF2-40B4-BE49-F238E27FC236}">
                  <a16:creationId xmlns:a16="http://schemas.microsoft.com/office/drawing/2014/main" id="{ADAB3EBC-722A-462E-AAAE-506E50038ED8}"/>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820000" flipH="1">
              <a:off x="5624195" y="425421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CBAABC17-832F-48CF-B0D7-0F7DE54607F5}"/>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5940000" flipH="1">
              <a:off x="5642629" y="43923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0" name="Straight Connector 89">
              <a:extLst>
                <a:ext uri="{FF2B5EF4-FFF2-40B4-BE49-F238E27FC236}">
                  <a16:creationId xmlns:a16="http://schemas.microsoft.com/office/drawing/2014/main" id="{E1FCA513-75D7-414B-BE8F-D780746A1A66}"/>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120000" flipH="1">
              <a:off x="5654818" y="4536385"/>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a:extLst>
                <a:ext uri="{FF2B5EF4-FFF2-40B4-BE49-F238E27FC236}">
                  <a16:creationId xmlns:a16="http://schemas.microsoft.com/office/drawing/2014/main" id="{F2EDEC73-B6F5-473F-934A-CEF57604A8A4}"/>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240000" flipH="1">
              <a:off x="5684446" y="467136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2" name="Straight Connector 91">
              <a:extLst>
                <a:ext uri="{FF2B5EF4-FFF2-40B4-BE49-F238E27FC236}">
                  <a16:creationId xmlns:a16="http://schemas.microsoft.com/office/drawing/2014/main" id="{5B987884-C452-4492-A9F8-2770D3373BF9}"/>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360000" flipH="1">
              <a:off x="5714074" y="4808730"/>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a:extLst>
                <a:ext uri="{FF2B5EF4-FFF2-40B4-BE49-F238E27FC236}">
                  <a16:creationId xmlns:a16="http://schemas.microsoft.com/office/drawing/2014/main" id="{9D978AF2-B7BB-4E05-81F1-1A5DBD1CB4E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480000" flipH="1">
              <a:off x="5748464" y="4948474"/>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4" name="Straight Connector 93">
              <a:extLst>
                <a:ext uri="{FF2B5EF4-FFF2-40B4-BE49-F238E27FC236}">
                  <a16:creationId xmlns:a16="http://schemas.microsoft.com/office/drawing/2014/main" id="{D7AD4D45-C3AB-458E-B826-0FACBD0DF3A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660000" flipH="1">
              <a:off x="5792091" y="5077607"/>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a:extLst>
                <a:ext uri="{FF2B5EF4-FFF2-40B4-BE49-F238E27FC236}">
                  <a16:creationId xmlns:a16="http://schemas.microsoft.com/office/drawing/2014/main" id="{A6E15555-6738-463C-B7DF-86429F2F9677}"/>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780000" flipH="1">
              <a:off x="5847441" y="521122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6" name="Straight Connector 95">
              <a:extLst>
                <a:ext uri="{FF2B5EF4-FFF2-40B4-BE49-F238E27FC236}">
                  <a16:creationId xmlns:a16="http://schemas.microsoft.com/office/drawing/2014/main" id="{AE487172-B4C3-4D13-A562-EF0BA3DD961F}"/>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6900000" flipH="1">
              <a:off x="5900410" y="5342458"/>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a:extLst>
                <a:ext uri="{FF2B5EF4-FFF2-40B4-BE49-F238E27FC236}">
                  <a16:creationId xmlns:a16="http://schemas.microsoft.com/office/drawing/2014/main" id="{08E66297-1295-432A-AA84-7BB2341C1932}"/>
                </a:ext>
                <a:ext uri="{C183D7F6-B498-43B3-948B-1728B52AA6E4}">
                  <adec:decorative xmlns:adec="http://schemas.microsoft.com/office/drawing/2017/decorative" val="1"/>
                </a:ext>
              </a:extLst>
            </p:cNvPr>
            <p:cNvCxnSpPr/>
            <p:nvPr>
              <p:extLst>
                <p:ext uri="{386F3935-93C4-4BCD-93E2-E3B085C9AB24}">
                  <p16:designElem xmlns:p16="http://schemas.microsoft.com/office/powerpoint/2015/main" val="1"/>
                </p:ext>
              </p:extLst>
            </p:nvPr>
          </p:nvCxnSpPr>
          <p:spPr>
            <a:xfrm rot="-7020000" flipH="1">
              <a:off x="5955760" y="5473693"/>
              <a:ext cx="3394" cy="182880"/>
            </a:xfrm>
            <a:prstGeom prst="line">
              <a:avLst/>
            </a:prstGeom>
            <a:ln>
              <a:solidFill>
                <a:srgbClr val="FFFFFF">
                  <a:alpha val="30196"/>
                </a:srgbClr>
              </a:solidFill>
            </a:ln>
          </p:spPr>
          <p:style>
            <a:lnRef idx="1">
              <a:schemeClr val="accent1"/>
            </a:lnRef>
            <a:fillRef idx="0">
              <a:schemeClr val="accent1"/>
            </a:fillRef>
            <a:effectRef idx="0">
              <a:schemeClr val="accent1"/>
            </a:effectRef>
            <a:fontRef idx="minor">
              <a:schemeClr val="tx1"/>
            </a:fontRef>
          </p:style>
        </p:cxnSp>
      </p:grpSp>
      <p:pic>
        <p:nvPicPr>
          <p:cNvPr id="6" name="Graphic 5" descr="Question mark">
            <a:extLst>
              <a:ext uri="{FF2B5EF4-FFF2-40B4-BE49-F238E27FC236}">
                <a16:creationId xmlns:a16="http://schemas.microsoft.com/office/drawing/2014/main" id="{60ADC561-8675-516E-6A2F-CE4DC93A1295}"/>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7621263" y="2433919"/>
            <a:ext cx="3211160" cy="3211160"/>
          </a:xfrm>
          <a:prstGeom prst="rect">
            <a:avLst/>
          </a:prstGeom>
        </p:spPr>
      </p:pic>
    </p:spTree>
    <p:extLst>
      <p:ext uri="{BB962C8B-B14F-4D97-AF65-F5344CB8AC3E}">
        <p14:creationId xmlns:p14="http://schemas.microsoft.com/office/powerpoint/2010/main" val="2539878042"/>
      </p:ext>
    </p:extLst>
  </p:cSld>
  <p:clrMapOvr>
    <a:overrideClrMapping bg1="lt1" tx1="dk1" bg2="lt2" tx2="dk2" accent1="accent1" accent2="accent2" accent3="accent3" accent4="accent4" accent5="accent5" accent6="accent6" hlink="hlink" folHlink="folHlink"/>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Celestial</Template>
  <TotalTime>80</TotalTime>
  <Words>863</Words>
  <Application>Microsoft Macintosh PowerPoint</Application>
  <PresentationFormat>Widescreen</PresentationFormat>
  <Paragraphs>95</Paragraphs>
  <Slides>15</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15</vt:i4>
      </vt:variant>
    </vt:vector>
  </HeadingPairs>
  <TitlesOfParts>
    <vt:vector size="21" baseType="lpstr">
      <vt:lpstr>Arial</vt:lpstr>
      <vt:lpstr>Calibri</vt:lpstr>
      <vt:lpstr>Calibri Light</vt:lpstr>
      <vt:lpstr>Helvetica Neue</vt:lpstr>
      <vt:lpstr>Söhne</vt:lpstr>
      <vt:lpstr>Celestial</vt:lpstr>
      <vt:lpstr>MET CS 555 MACHINE LEARNING</vt:lpstr>
      <vt:lpstr> Introduction </vt:lpstr>
      <vt:lpstr>Simple Linear Regression </vt:lpstr>
      <vt:lpstr>F-Test Method </vt:lpstr>
      <vt:lpstr>PowerPoint Presentation</vt:lpstr>
      <vt:lpstr>ANOVA Table </vt:lpstr>
      <vt:lpstr>RESIDUALS </vt:lpstr>
      <vt:lpstr>COEFFICIENTS </vt:lpstr>
      <vt:lpstr>Hypotheses </vt:lpstr>
      <vt:lpstr>F-Statistic </vt:lpstr>
      <vt:lpstr>P-Value </vt:lpstr>
      <vt:lpstr>Interpretation </vt:lpstr>
      <vt:lpstr> Conclusion </vt:lpstr>
      <vt:lpstr>Thank you!</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MET CS 555 MACHINE LEARNING</dc:title>
  <dc:creator>Shivesh Raj Sahu</dc:creator>
  <cp:lastModifiedBy>Shivesh Raj Sahu</cp:lastModifiedBy>
  <cp:revision>3</cp:revision>
  <cp:lastPrinted>2023-04-26T05:54:54Z</cp:lastPrinted>
  <dcterms:created xsi:type="dcterms:W3CDTF">2023-04-26T04:37:31Z</dcterms:created>
  <dcterms:modified xsi:type="dcterms:W3CDTF">2023-04-26T05:57:49Z</dcterms:modified>
</cp:coreProperties>
</file>